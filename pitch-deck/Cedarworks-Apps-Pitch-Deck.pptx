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43D28"/>
              </a:solidFill>
              <a:effectLst/>
            </c:spPr>
          </c:dPt>
          <c:dPt>
            <c:idx val="1"/>
            <c:bubble3D val="0"/>
            <c:spPr>
              <a:solidFill>
                <a:srgbClr val="D98B3C"/>
              </a:solidFill>
              <a:effectLst/>
            </c:spPr>
          </c:dPt>
          <c:dPt>
            <c:idx val="2"/>
            <c:bubble3D val="0"/>
            <c:spPr>
              <a:solidFill>
                <a:srgbClr val="4F7F63"/>
              </a:solidFill>
              <a:effectLst/>
            </c:spPr>
          </c:dPt>
          <c:dPt>
            <c:idx val="3"/>
            <c:bubble3D val="0"/>
            <c:spPr>
              <a:solidFill>
                <a:srgbClr val="8FA98E"/>
              </a:solidFill>
              <a:effectLst/>
            </c:spPr>
          </c:dPt>
          <c:dPt>
            <c:idx val="4"/>
            <c:bubble3D val="0"/>
            <c:spPr>
              <a:solidFill>
                <a:srgbClr val="B9A67A"/>
              </a:solidFill>
              <a:effectLst/>
            </c:spPr>
          </c:dPt>
          <c:dPt>
            <c:idx val="5"/>
            <c:bubble3D val="0"/>
            <c:spPr>
              <a:solidFill>
                <a:srgbClr val="D9CBA6"/>
              </a:solidFill>
              <a:effectLst/>
            </c:spPr>
          </c:dPt>
          <c:dLbls>
            <c:dLbl>
              <c:idx val="0"/>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dLbl>
              <c:idx val="4"/>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dLbl>
              <c:idx val="5"/>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Marketing and outreach for all apps</c:v>
                </c:pt>
                <c:pt idx="1">
                  <c:v>Founder salary: 18 months full-time</c:v>
                </c:pt>
                <c:pt idx="2">
                  <c:v>Building 8 new apps with AppForge</c:v>
                </c:pt>
                <c:pt idx="3">
                  <c:v>AI, hosting and infrastructure</c:v>
                </c:pt>
                <c:pt idx="4">
                  <c:v>Legal, accounting and operations</c:v>
                </c:pt>
                <c:pt idx="5">
                  <c:v>Reserve</c:v>
                </c:pt>
              </c:strCache>
            </c:strRef>
          </c:cat>
          <c:val>
            <c:numRef>
              <c:f>Sheet1!$B$2:$B$7</c:f>
              <c:numCache>
                <c:ptCount val="6"/>
                <c:pt idx="0">
                  <c:v>160</c:v>
                </c:pt>
                <c:pt idx="1">
                  <c:v>120</c:v>
                </c:pt>
                <c:pt idx="2">
                  <c:v>90</c:v>
                </c:pt>
                <c:pt idx="3">
                  <c:v>30</c:v>
                </c:pt>
                <c:pt idx="4">
                  <c:v>25</c:v>
                </c:pt>
                <c:pt idx="5">
                  <c:v>25</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3D28"/>
                </a:solidFill>
                <a:latin typeface="Calibri"/>
              </a:defRPr>
            </a:pPr>
            <a:r>
              <a:rPr sz="1200" b="0" i="0" u="none" strike="noStrike">
                <a:solidFill>
                  <a:srgbClr val="143D28"/>
                </a:solidFill>
                <a:latin typeface="Calibri"/>
              </a:rPr>
              <a:t>Paying subscribers (goal)</a:t>
            </a:r>
          </a:p>
        </c:rich>
      </c:tx>
      <c:layout/>
      <c:overlay val="0"/>
    </c:title>
    <c:autoTitleDeleted val="0"/>
    <c:plotArea>
      <c:layout/>
      <c:barChart>
        <c:barDir val="col"/>
        <c:grouping val="clustered"/>
        <c:varyColors val="0"/>
        <c:ser>
          <c:idx val="0"/>
          <c:order val="0"/>
          <c:tx>
            <c:strRef>
              <c:f>Sheet1!$B$1</c:f>
              <c:strCache>
                <c:ptCount val="1"/>
                <c:pt idx="0">
                  <c:v>Paying subscribers (goal)</c:v>
                </c:pt>
              </c:strCache>
            </c:strRef>
          </c:tx>
          <c:spPr>
            <a:solidFill>
              <a:srgbClr val="143D28"/>
            </a:solidFill>
            <a:effectLst/>
          </c:spPr>
          <c:invertIfNegative val="0"/>
          <c:dLbls>
            <c:numFmt formatCode="#,##0" sourceLinked="0"/>
            <c:txPr>
              <a:bodyPr/>
              <a:lstStyle/>
              <a:p>
                <a:pPr>
                  <a:defRPr b="0" i="0" strike="noStrike" sz="1100" u="none">
                    <a:solidFill>
                      <a:srgbClr val="1B2A21"/>
                    </a:solidFill>
                    <a:latin typeface="Arial"/>
                  </a:defRPr>
                </a:pPr>
              </a:p>
            </c:txPr>
            <c:showLegendKey val="0"/>
            <c:showVal val="1"/>
            <c:showCatName val="0"/>
            <c:showSerName val="0"/>
            <c:showPercent val="0"/>
            <c:showBubbleSize val="0"/>
            <c:showLeaderLines val="0"/>
          </c:dLbls>
          <c:cat>
            <c:multiLvlStrRef>
              <c:f>Sheet1!$A$2:$A$6</c:f>
              <c:multiLvlStrCache>
                <c:ptCount val="5"/>
                <c:lvl>
                  <c:pt idx="0">
                    <c:v>Month 3</c:v>
                  </c:pt>
                  <c:pt idx="1">
                    <c:v>6</c:v>
                  </c:pt>
                  <c:pt idx="2">
                    <c:v>9</c:v>
                  </c:pt>
                  <c:pt idx="3">
                    <c:v>12</c:v>
                  </c:pt>
                  <c:pt idx="4">
                    <c:v>18</c:v>
                  </c:pt>
                </c:lvl>
              </c:multiLvlStrCache>
            </c:multiLvlStrRef>
          </c:cat>
          <c:val>
            <c:numRef>
              <c:f>Sheet1!$B$2:$B$6</c:f>
              <c:numCache>
                <c:formatCode>General</c:formatCode>
                <c:ptCount val="5"/>
                <c:pt idx="0">
                  <c:v>75</c:v>
                </c:pt>
                <c:pt idx="1">
                  <c:v>200</c:v>
                </c:pt>
                <c:pt idx="2">
                  <c:v>400</c:v>
                </c:pt>
                <c:pt idx="3">
                  <c:v>650</c:v>
                </c:pt>
                <c:pt idx="4">
                  <c:v>1000</c:v>
                </c:pt>
              </c:numCache>
            </c:numRef>
          </c:val>
        </c:ser>
        <c:dLbls>
          <c:numFmt formatCode="#,##0" sourceLinked="0"/>
          <c:txPr>
            <a:bodyPr/>
            <a:lstStyle/>
            <a:p>
              <a:pPr>
                <a:defRPr b="0" i="0" strike="noStrike" sz="1100" u="none">
                  <a:solidFill>
                    <a:srgbClr val="1B2A21"/>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E5D5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Cedarworks Apps is a Springfield, Missouri AI app studio. We build focused, subscription AI apps for specific professions. Two are live in the Apple App Store and Google Play today. We also built AppForge, our in-house app factory, which finds proven app ideas, writes the code and builds the marketing. We're raising a $450K pre-seed round so I can build full-time, market our two apps and launch eight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story in one slide. We build focused AI apps for specific professions. Two are live. AppForge, our in-house app factory, lets a small team launch many more. We're raising $450,000 to fund the founder full-time, grow the two apps and launch eight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skilled professionals spend hours every week on repeatable work that AI could speed up, but generic AI makes them do the translating. Pastors carry a week of writing and teaching prep, often alone, and burnout is high: Barna found 42% of U.S. pastors considered quitting full-time ministry in the past year. Sales reps have nowhere affordable to practice before a real call. I've seen both first-hand: my bishop's workload, and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is a studio, not a single app. Each app does one job for one profession. All of them share our code, AI stack and operating system, so each new app is cheaper to launch and run. Two are live. AppForge, our in-house app factory, will produce the next 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PastorAI puts the tools that fill a pastor's week in one place: sermons, series planning, Bible studies, social media, devotionals, children's lessons, translation into 10 languages and sermon rehearsal. It's live on iOS, Android and the web at $47 a month after a 14-day free trial, with about 15 trial users. One of them, Pastor Dennis, told us: 'This will save me so much time. It's a great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PastorAI home screen. Every tool is one click away. A pastor picks a tool, answers a few questions, and gets a finished draft in their own voice. The free trial and upgrade are built in, so trials turn into subscriptions inside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Ready Room lets sales reps rehearse on an AI prospect that talks back out loud. Reps choose a drill, a difficulty and a prospect from 18+ industries, then get graded by an AI coach. They can also upload their real calls for the same scorecard. It's $29 a month or $249 a year, live on iOS, Android and the web, with about 15 trial users. It's built on what I learned in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Ready Room's practice screen. A rep picks a drill and a difficulty, then picks a prospect, like a homeowner considering a new roof. The AI prospect talks back, and an AI coach scores the call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AppForge is the engine behind the plan to go from 2 apps to 10. It works in four steps. Know: it learns about the business and the owner. Find: it finds app ideas with proven demand. Build: it plans the app and writes the code. Market: it builds the marketing funnel. The next four slides walk through each step. AppForge is internal only: it's our competitive advantage, not something we 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is Know. The Brain stores what the AI should know about the owner and the business, in seven areas: business, offers and products, audience, brand voice, story, goals and competitors. Everything else in AppForge starts from it, so app ideas fit the owner's strengths and marketing sounds like them. The Chief of Staff is an AI business partner grounded in the Brain: you ask it questions, it researches the answers and helps decide what to do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is Find. Instead of guessing, AppForge starts from apps people already pay for. The Top 100 Apps Explorer ranks top-grossing apps by category and business model. One click on 'Build a better version' starts a new project aimed at a niche the big apps don't serve well, the way PastorAI focuses on pastors. App Types and Opportunities suggest scored ideas, and Market Analysis and the Viability Scorer check demand, competition and fit before we build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is Build. Each app gets a project workspace. AppForge picks the tech stack, reusing the AI, voice and billing setup we already proved in PastorAI and Ready Room, then generates the working app code and writes the app store listing. Every new app also plugs into Business HQ, our shared operating system of dashboards, goals, key metrics and procedures, which is how one small team can run ten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is Market. AppForge builds a funnel for each app: ads and social posts attract people, cold emails and presentations engage them, the free trial converts them, and they subscribe. Attractive Character builds the brand persona and story, Framework Extractor turns know-how into frameworks the content is built on, and the One-to-Many tools write the emails, social posts, ads and presentations. All of it comes from the Brain, so it sounds like the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AppForge turns building apps into a repeatable process. New apps start from proven demand, take less time because AppForge writes the code, cost less because everything is shared, and launch with marketing ready. To be clear, PastorAI and Ready Room were built before AppForge; everything we learned building them went into it. Apps 3 through 10 will be the first built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at the very start. Both apps are complete and live on three platforms, with subscriptions and free trials working, and about 30 people on free trials. We don't have paying customers yet. In the next 90 days we're aiming for 75 paying subscribers, about $2,850 a month in revenue, at least 20% of trials converting to paid, and fewer than 6% of subscribers cancelling each month. We'll report these to investors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Bottom-up sizing at our current prices. The total market counts everyone who could buy: roughly 300,000+ U.S. congregations at $564 a year, plus about 1.5 million U.S. B2B sales reps at $348 a year, around $690 million. About 30% of that, roughly $207 million, is reachable with online self-serve sales. Our three-year target is 1% of that, about $2 million a year from roughly 4,500 subscribers. Every new AppForge app adds a market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AI costs have dropped enough to support affordable subscription apps; professionals have tried generic AI and want tools built for their work; and app stores plus AppForge let a small studio launch quickly. Our customers start with pastors, church staff and individual sales reps, expand to group plans, then to new niches AppForge finds.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make money from subscriptions: monthly or annual plans after a free trial. Group plans let one buyer, like a sales manager or a church, pay for several users. Custom app work for local businesses is a smaller extra revenue line. Because every app shares the same foundation, each new app adds revenue without adding much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economics in plain terms. After the app-store fee and AI costs, we keep roughly 77% of PastorAI revenue and 68% of Ready Room revenue. If the average subscriber stays about 20 months, a PastorAI subscriber is worth about $720 in profit and a Ready Room subscriber about $390. We'll spend no more than a third of that to win each customer, so we earn the cost back in about seven months. These are assumptions until we have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use of funds is winning customers. We'll run small, measured tests on each channel, then put more money into whichever channels win paying subscribers most cheaply. AppForge writes the emails, posts, ads and presentations, so marketing each app takes far less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General chatbots make people do the prompting and give generic results. Ministry software like Logos focuses on study and research, and Pulpit AI on repurposing sermon content. Sales-practice platforms like Second Nature and Hyperbound are sold to company sales teams. We sit in between: purpose-built, affordable and self-serve, and AppForge lets us keep adding niches.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$160,000 (about a third) goes to marketing and outreach, our fastest path to revenue. $120,000 is my salary for 18 months, about $80,000 a year, so I can work on Cedarworks full-time and build the next apps. $90,000 funds building eight new apps with AppForge, including contract development, design and testing. The rest covers AI and hosting, legal and operations, and a reserve. That's about 18 months of runway.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18-month goal is ten live apps and about 1,000 paying subscribers. At an average of about $38 a month, that's around $38,000 a month in revenue, which sets us up to raise a seed round on real traction. That next round pays to market apps 3 through 10 at scale. These are goals, not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Five-year projections, built up from subscriber numbers. Paying subscribers grow from 650 to 13,000 as AppForge adds apps. Revenue uses an average price of about $38 a month. About 27% of revenue goes to app-store fees, AI and hosting. Operating costs cover marketing, the founder's salary, contractors and later hires. We expect losses in years 1 and 2, funded by this round and a seed round, and to become profitable in year 3. These are projections, not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a degree in computer science and more than 40 years in sales across different industries, so I can build the products and sell them. Ready Room comes straight from my sales career. PastorAI started when I saw how much my bishop carries every week. I built both apps and AppForge myself. This round lets me work on Cedarworks full-time and adds a contract developer and a part-time marketer, without a heavy payroll.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raising $450,000 pre-seed to fund me full-time, market our two live apps and launch eight more with AppForge, reaching about 1,000 paying subscribers in 18 months. Thank you. I'd love to show you a live demo of PastorAI, Ready Room and AppForge.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reference for the business terms used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618134" y="663854"/>
            <a:ext cx="409651" cy="409651"/>
          </a:xfrm>
          <a:prstGeom prst="rect">
            <a:avLst/>
          </a:prstGeom>
        </p:spPr>
      </p:pic>
      <p:sp>
        <p:nvSpPr>
          <p:cNvPr id="4" name="Text 1"/>
          <p:cNvSpPr txBox="1"/>
          <p:nvPr/>
        </p:nvSpPr>
        <p:spPr>
          <a:xfrm>
            <a:off x="1371600" y="658368"/>
            <a:ext cx="4572000" cy="411480"/>
          </a:xfrm>
          <a:prstGeom prst="rect">
            <a:avLst/>
          </a:prstGeom>
          <a:noFill/>
          <a:ln/>
        </p:spPr>
        <p:txBody>
          <a:bodyPr wrap="square" lIns="0" tIns="0" rIns="0" bIns="0" rtlCol="0" anchor="ctr"/>
          <a:lstStyle/>
          <a:p>
            <a:pPr indent="0" marL="0">
              <a:buNone/>
            </a:pPr>
            <a:r>
              <a:rPr lang="en-US" sz="1600" b="1" dirty="0">
                <a:solidFill>
                  <a:srgbClr val="F4EBD5"/>
                </a:solidFill>
                <a:latin typeface="Calibri" pitchFamily="34" charset="0"/>
                <a:ea typeface="Calibri" pitchFamily="34" charset="-122"/>
                <a:cs typeface="Calibri" pitchFamily="34" charset="-120"/>
              </a:rPr>
              <a:t>CEDARWORKS APPS</a:t>
            </a:r>
            <a:endParaRPr lang="en-US" sz="1600" dirty="0"/>
          </a:p>
        </p:txBody>
      </p:sp>
      <p:sp>
        <p:nvSpPr>
          <p:cNvPr id="5" name="Text 2"/>
          <p:cNvSpPr txBox="1"/>
          <p:nvPr/>
        </p:nvSpPr>
        <p:spPr>
          <a:xfrm>
            <a:off x="457200" y="1463040"/>
            <a:ext cx="6035040" cy="1554480"/>
          </a:xfrm>
          <a:prstGeom prst="rect">
            <a:avLst/>
          </a:prstGeom>
          <a:noFill/>
          <a:ln/>
        </p:spPr>
        <p:txBody>
          <a:bodyPr wrap="square" lIns="0" tIns="0" rIns="0" bIns="0" rtlCol="0" anchor="t"/>
          <a:lstStyle/>
          <a:p>
            <a:pPr indent="0" marL="0">
              <a:buNone/>
            </a:pPr>
            <a:r>
              <a:rPr lang="en-US" sz="4000" b="1" dirty="0">
                <a:solidFill>
                  <a:srgbClr val="F4EBD5"/>
                </a:solidFill>
                <a:latin typeface="Cambria" pitchFamily="34" charset="0"/>
                <a:ea typeface="Cambria" pitchFamily="34" charset="-122"/>
                <a:cs typeface="Cambria" pitchFamily="34" charset="-120"/>
              </a:rPr>
              <a:t>Practical AI apps,</a:t>
            </a:r>
            <a:endParaRPr lang="en-US" sz="4000" dirty="0"/>
          </a:p>
          <a:p>
            <a:pPr indent="0" marL="0">
              <a:buNone/>
            </a:pPr>
            <a:r>
              <a:rPr lang="en-US" sz="4000" b="1" dirty="0">
                <a:solidFill>
                  <a:srgbClr val="F4EBD5"/>
                </a:solidFill>
                <a:latin typeface="Cambria" pitchFamily="34" charset="0"/>
                <a:ea typeface="Cambria" pitchFamily="34" charset="-122"/>
                <a:cs typeface="Cambria" pitchFamily="34" charset="-120"/>
              </a:rPr>
              <a:t>built to do real work.</a:t>
            </a:r>
            <a:endParaRPr lang="en-US" sz="4000" dirty="0"/>
          </a:p>
        </p:txBody>
      </p:sp>
      <p:sp>
        <p:nvSpPr>
          <p:cNvPr id="6" name="Text 3"/>
          <p:cNvSpPr txBox="1"/>
          <p:nvPr/>
        </p:nvSpPr>
        <p:spPr>
          <a:xfrm>
            <a:off x="457200" y="3108960"/>
            <a:ext cx="5760720" cy="822960"/>
          </a:xfrm>
          <a:prstGeom prst="rect">
            <a:avLst/>
          </a:prstGeom>
          <a:noFill/>
          <a:ln/>
        </p:spPr>
        <p:txBody>
          <a:bodyPr wrap="square" lIns="0" tIns="0" rIns="0" bIns="0" rtlCol="0" anchor="t"/>
          <a:lstStyle/>
          <a:p>
            <a:pPr indent="0" marL="0">
              <a:buNone/>
            </a:pPr>
            <a:r>
              <a:rPr lang="en-US" sz="1600" i="1" dirty="0">
                <a:solidFill>
                  <a:srgbClr val="B7CDB6"/>
                </a:solidFill>
                <a:latin typeface="Cambria" pitchFamily="34" charset="0"/>
                <a:ea typeface="Cambria" pitchFamily="34" charset="-122"/>
                <a:cs typeface="Cambria" pitchFamily="34" charset="-120"/>
              </a:rPr>
              <a:t>An AI app studio with two apps live in the app stores today, and AppForge, our in-house app factory, to build the next eight.</a:t>
            </a:r>
            <a:endParaRPr lang="en-US" sz="1600" dirty="0"/>
          </a:p>
        </p:txBody>
      </p:sp>
      <p:sp>
        <p:nvSpPr>
          <p:cNvPr id="7" name="Shape 4"/>
          <p:cNvSpPr/>
          <p:nvPr/>
        </p:nvSpPr>
        <p:spPr>
          <a:xfrm>
            <a:off x="6583680" y="1554480"/>
            <a:ext cx="2103120" cy="1463040"/>
          </a:xfrm>
          <a:prstGeom prst="roundRect">
            <a:avLst>
              <a:gd name="adj" fmla="val 6250"/>
            </a:avLst>
          </a:prstGeom>
          <a:solidFill>
            <a:srgbClr val="1E5238"/>
          </a:solidFill>
          <a:ln w="15875">
            <a:solidFill>
              <a:srgbClr val="D98B3C"/>
            </a:solidFill>
            <a:prstDash val="solid"/>
          </a:ln>
        </p:spPr>
      </p:sp>
      <p:sp>
        <p:nvSpPr>
          <p:cNvPr id="8" name="Text 5"/>
          <p:cNvSpPr txBox="1"/>
          <p:nvPr/>
        </p:nvSpPr>
        <p:spPr>
          <a:xfrm>
            <a:off x="6583680" y="1627632"/>
            <a:ext cx="2103120" cy="1325880"/>
          </a:xfrm>
          <a:prstGeom prst="rect">
            <a:avLst/>
          </a:prstGeom>
          <a:noFill/>
          <a:ln/>
        </p:spPr>
        <p:txBody>
          <a:bodyPr wrap="square" lIns="0" tIns="0" rIns="0" bIns="0" rtlCol="0" anchor="ctr"/>
          <a:lstStyle/>
          <a:p>
            <a:pPr algn="ctr" indent="0" marL="0">
              <a:buNone/>
            </a:pPr>
            <a:r>
              <a:rPr lang="en-US" sz="1200" b="1" dirty="0">
                <a:solidFill>
                  <a:srgbClr val="D98B3C"/>
                </a:solidFill>
                <a:latin typeface="Calibri" pitchFamily="34" charset="0"/>
                <a:ea typeface="Calibri" pitchFamily="34" charset="-122"/>
                <a:cs typeface="Calibri" pitchFamily="34" charset="-120"/>
              </a:rPr>
              <a:t>Pre-seed round</a:t>
            </a:r>
            <a:endParaRPr lang="en-US" sz="1200" dirty="0"/>
          </a:p>
          <a:p>
            <a:pPr algn="ctr" indent="0" marL="0">
              <a:buNone/>
            </a:pPr>
            <a:r>
              <a:rPr lang="en-US" sz="3800" b="1" dirty="0">
                <a:solidFill>
                  <a:srgbClr val="F4EBD5"/>
                </a:solidFill>
                <a:latin typeface="Cambria" pitchFamily="34" charset="0"/>
                <a:ea typeface="Cambria" pitchFamily="34" charset="-122"/>
                <a:cs typeface="Cambria" pitchFamily="34" charset="-120"/>
              </a:rPr>
              <a:t>$450K</a:t>
            </a:r>
            <a:endParaRPr lang="en-US" sz="1200" dirty="0"/>
          </a:p>
          <a:p>
            <a:pPr algn="ctr" indent="0" marL="0">
              <a:buNone/>
            </a:pPr>
            <a:r>
              <a:rPr lang="en-US" sz="1200" dirty="0">
                <a:solidFill>
                  <a:srgbClr val="B7CDB6"/>
                </a:solidFill>
                <a:latin typeface="Calibri" pitchFamily="34" charset="0"/>
                <a:ea typeface="Calibri" pitchFamily="34" charset="-122"/>
                <a:cs typeface="Calibri" pitchFamily="34" charset="-120"/>
              </a:rPr>
              <a:t>Springfield, MO</a:t>
            </a:r>
            <a:endParaRPr lang="en-US" sz="1200" dirty="0"/>
          </a:p>
        </p:txBody>
      </p:sp>
      <p:sp>
        <p:nvSpPr>
          <p:cNvPr id="9" name="Text 6"/>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200" dirty="0">
                <a:solidFill>
                  <a:srgbClr val="F4EBD5"/>
                </a:solidFill>
                <a:latin typeface="Calibri" pitchFamily="34" charset="0"/>
                <a:ea typeface="Calibri" pitchFamily="34" charset="-122"/>
                <a:cs typeface="Calibri" pitchFamily="34" charset="-120"/>
              </a:rPr>
              <a:t>James Chambers, Founder  ·  james@cedarworksapps.com  ·  417-370-2084  ·  cedarworksapps.com</a:t>
            </a:r>
            <a:endParaRPr lang="en-US" sz="1200" dirty="0"/>
          </a:p>
        </p:txBody>
      </p:sp>
      <p:sp>
        <p:nvSpPr>
          <p:cNvPr id="11" name="Text 7"/>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12" name="Text 8"/>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1 / 27</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Executive Summary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Cedarworks Apps in one minute</a:t>
            </a:r>
            <a:endParaRPr lang="en-US" sz="2600" dirty="0"/>
          </a:p>
        </p:txBody>
      </p:sp>
      <p:sp>
        <p:nvSpPr>
          <p:cNvPr id="4" name="Shape 2"/>
          <p:cNvSpPr/>
          <p:nvPr/>
        </p:nvSpPr>
        <p:spPr>
          <a:xfrm>
            <a:off x="457200" y="14173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58368" y="1645920"/>
            <a:ext cx="548640" cy="54864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1014" y="1788566"/>
            <a:ext cx="263347" cy="263347"/>
          </a:xfrm>
          <a:prstGeom prst="rect">
            <a:avLst/>
          </a:prstGeom>
        </p:spPr>
      </p:pic>
      <p:sp>
        <p:nvSpPr>
          <p:cNvPr id="7" name="Text 4"/>
          <p:cNvSpPr txBox="1"/>
          <p:nvPr/>
        </p:nvSpPr>
        <p:spPr>
          <a:xfrm>
            <a:off x="1371600" y="16184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What we do</a:t>
            </a:r>
            <a:endParaRPr lang="en-US" sz="1600" dirty="0"/>
          </a:p>
        </p:txBody>
      </p:sp>
      <p:sp>
        <p:nvSpPr>
          <p:cNvPr id="8" name="Text 5"/>
          <p:cNvSpPr txBox="1"/>
          <p:nvPr/>
        </p:nvSpPr>
        <p:spPr>
          <a:xfrm>
            <a:off x="1371600" y="19476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We build focused AI apps for specific professions and sell them as monthly subscriptions.</a:t>
            </a:r>
            <a:endParaRPr lang="en-US" sz="1300" dirty="0"/>
          </a:p>
        </p:txBody>
      </p:sp>
      <p:sp>
        <p:nvSpPr>
          <p:cNvPr id="9" name="Shape 6"/>
          <p:cNvSpPr/>
          <p:nvPr/>
        </p:nvSpPr>
        <p:spPr>
          <a:xfrm>
            <a:off x="4663440" y="14173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864608" y="1645920"/>
            <a:ext cx="548640" cy="54864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07254" y="1788566"/>
            <a:ext cx="263347" cy="263347"/>
          </a:xfrm>
          <a:prstGeom prst="rect">
            <a:avLst/>
          </a:prstGeom>
        </p:spPr>
      </p:pic>
      <p:sp>
        <p:nvSpPr>
          <p:cNvPr id="12" name="Text 8"/>
          <p:cNvSpPr txBox="1"/>
          <p:nvPr/>
        </p:nvSpPr>
        <p:spPr>
          <a:xfrm>
            <a:off x="5577840" y="16184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Live today</a:t>
            </a:r>
            <a:endParaRPr lang="en-US" sz="1600" dirty="0"/>
          </a:p>
        </p:txBody>
      </p:sp>
      <p:sp>
        <p:nvSpPr>
          <p:cNvPr id="13" name="Text 9"/>
          <p:cNvSpPr txBox="1"/>
          <p:nvPr/>
        </p:nvSpPr>
        <p:spPr>
          <a:xfrm>
            <a:off x="5577840" y="19476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PastorAI ($47/mo) for pastors and Ready Room ($29/mo) for sales reps, on iOS, Android and web.</a:t>
            </a:r>
            <a:endParaRPr lang="en-US" sz="1300" dirty="0"/>
          </a:p>
        </p:txBody>
      </p:sp>
      <p:sp>
        <p:nvSpPr>
          <p:cNvPr id="14" name="Shape 10"/>
          <p:cNvSpPr/>
          <p:nvPr/>
        </p:nvSpPr>
        <p:spPr>
          <a:xfrm>
            <a:off x="457200" y="30175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58368" y="3246120"/>
            <a:ext cx="548640" cy="54864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801014" y="3388766"/>
            <a:ext cx="263347" cy="263347"/>
          </a:xfrm>
          <a:prstGeom prst="rect">
            <a:avLst/>
          </a:prstGeom>
        </p:spPr>
      </p:pic>
      <p:sp>
        <p:nvSpPr>
          <p:cNvPr id="17" name="Text 12"/>
          <p:cNvSpPr txBox="1"/>
          <p:nvPr/>
        </p:nvSpPr>
        <p:spPr>
          <a:xfrm>
            <a:off x="1371600" y="32186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Our engine: AppForge</a:t>
            </a:r>
            <a:endParaRPr lang="en-US" sz="1600" dirty="0"/>
          </a:p>
        </p:txBody>
      </p:sp>
      <p:sp>
        <p:nvSpPr>
          <p:cNvPr id="18" name="Text 13"/>
          <p:cNvSpPr txBox="1"/>
          <p:nvPr/>
        </p:nvSpPr>
        <p:spPr>
          <a:xfrm>
            <a:off x="1371600" y="35478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Our in-house app factory finds proven app ideas, writes the code and builds the marketing for each app.</a:t>
            </a:r>
            <a:endParaRPr lang="en-US" sz="1300" dirty="0"/>
          </a:p>
        </p:txBody>
      </p:sp>
      <p:sp>
        <p:nvSpPr>
          <p:cNvPr id="19" name="Shape 14"/>
          <p:cNvSpPr/>
          <p:nvPr/>
        </p:nvSpPr>
        <p:spPr>
          <a:xfrm>
            <a:off x="4663440" y="30175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Shape 15"/>
          <p:cNvSpPr/>
          <p:nvPr/>
        </p:nvSpPr>
        <p:spPr>
          <a:xfrm>
            <a:off x="4864608" y="3246120"/>
            <a:ext cx="548640" cy="548640"/>
          </a:xfrm>
          <a:prstGeom prst="ellipse">
            <a:avLst/>
          </a:prstGeom>
          <a:solidFill>
            <a:srgbClr val="FFFFFF"/>
          </a:solidFill>
          <a:ln w="19050">
            <a:solidFill>
              <a:srgbClr val="D98B3C"/>
            </a:solidFill>
            <a:prstDash val="solid"/>
          </a:ln>
        </p:spPr>
      </p:sp>
      <p:pic>
        <p:nvPicPr>
          <p:cNvPr id="21" name="Image 3" descr="preencoded.png">    </p:cNvPr>
          <p:cNvPicPr>
            <a:picLocks noChangeAspect="1"/>
          </p:cNvPicPr>
          <p:nvPr/>
        </p:nvPicPr>
        <p:blipFill>
          <a:blip r:embed="rId4"/>
          <a:stretch>
            <a:fillRect/>
          </a:stretch>
        </p:blipFill>
        <p:spPr>
          <a:xfrm>
            <a:off x="5007254" y="3388766"/>
            <a:ext cx="263347" cy="263347"/>
          </a:xfrm>
          <a:prstGeom prst="rect">
            <a:avLst/>
          </a:prstGeom>
        </p:spPr>
      </p:pic>
      <p:sp>
        <p:nvSpPr>
          <p:cNvPr id="22" name="Text 16"/>
          <p:cNvSpPr txBox="1"/>
          <p:nvPr/>
        </p:nvSpPr>
        <p:spPr>
          <a:xfrm>
            <a:off x="5577840" y="32186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The ask</a:t>
            </a:r>
            <a:endParaRPr lang="en-US" sz="1600" dirty="0"/>
          </a:p>
        </p:txBody>
      </p:sp>
      <p:sp>
        <p:nvSpPr>
          <p:cNvPr id="23" name="Text 17"/>
          <p:cNvSpPr txBox="1"/>
          <p:nvPr/>
        </p:nvSpPr>
        <p:spPr>
          <a:xfrm>
            <a:off x="5577840" y="35478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$450,000 pre-seed to fund full-time building, market our two apps and launch eight more in 18 months.</a:t>
            </a:r>
            <a:endParaRPr lang="en-US" sz="1300" dirty="0"/>
          </a:p>
        </p:txBody>
      </p:sp>
      <p:sp>
        <p:nvSpPr>
          <p:cNvPr id="25" name="Text 18"/>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6" name="Text 19"/>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 / 27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Problem Statement  ·  Customer pain points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Generic AI doesn't fit how pastors and reps work</a:t>
            </a:r>
            <a:endParaRPr lang="en-US" sz="2600" dirty="0"/>
          </a:p>
        </p:txBody>
      </p:sp>
      <p:sp>
        <p:nvSpPr>
          <p:cNvPr id="4" name="Shape 2"/>
          <p:cNvSpPr/>
          <p:nvPr/>
        </p:nvSpPr>
        <p:spPr>
          <a:xfrm>
            <a:off x="457200" y="1417320"/>
            <a:ext cx="530352" cy="530352"/>
          </a:xfrm>
          <a:prstGeom prst="ellipse">
            <a:avLst/>
          </a:prstGeom>
          <a:solidFill>
            <a:srgbClr val="FFFFFF"/>
          </a:solidFill>
          <a:ln w="19050">
            <a:solidFill>
              <a:srgbClr val="D98B3C"/>
            </a:solidFill>
            <a:prstDash val="solid"/>
          </a:ln>
        </p:spPr>
      </p:sp>
      <p:pic>
        <p:nvPicPr>
          <p:cNvPr id="5" name="Image 0" descr="preencoded.png">    </p:cNvPr>
          <p:cNvPicPr>
            <a:picLocks noChangeAspect="1"/>
          </p:cNvPicPr>
          <p:nvPr/>
        </p:nvPicPr>
        <p:blipFill>
          <a:blip r:embed="rId1"/>
          <a:stretch>
            <a:fillRect/>
          </a:stretch>
        </p:blipFill>
        <p:spPr>
          <a:xfrm>
            <a:off x="595092" y="1555212"/>
            <a:ext cx="254569" cy="254569"/>
          </a:xfrm>
          <a:prstGeom prst="rect">
            <a:avLst/>
          </a:prstGeom>
        </p:spPr>
      </p:pic>
      <p:sp>
        <p:nvSpPr>
          <p:cNvPr id="6" name="Text 3"/>
          <p:cNvSpPr txBox="1"/>
          <p:nvPr/>
        </p:nvSpPr>
        <p:spPr>
          <a:xfrm>
            <a:off x="1188720" y="1399032"/>
            <a:ext cx="7498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Pastors are overloaded</a:t>
            </a:r>
            <a:endParaRPr lang="en-US" sz="1600" dirty="0"/>
          </a:p>
        </p:txBody>
      </p:sp>
      <p:sp>
        <p:nvSpPr>
          <p:cNvPr id="7" name="Text 4"/>
          <p:cNvSpPr txBox="1"/>
          <p:nvPr/>
        </p:nvSpPr>
        <p:spPr>
          <a:xfrm>
            <a:off x="1188720" y="1709928"/>
            <a:ext cx="7498080" cy="640080"/>
          </a:xfrm>
          <a:prstGeom prst="rect">
            <a:avLst/>
          </a:prstGeom>
          <a:noFill/>
          <a:ln/>
        </p:spPr>
        <p:txBody>
          <a:bodyPr wrap="square" lIns="0" tIns="0" rIns="0" bIns="0" rtlCol="0" anchor="t"/>
          <a:lstStyle/>
          <a:p>
            <a:pPr indent="0" marL="0">
              <a:buNone/>
            </a:pPr>
            <a:r>
              <a:rPr lang="en-US" sz="1300" dirty="0">
                <a:solidFill>
                  <a:srgbClr val="4E5D53"/>
                </a:solidFill>
                <a:latin typeface="Calibri" pitchFamily="34" charset="0"/>
                <a:ea typeface="Calibri" pitchFamily="34" charset="-122"/>
                <a:cs typeface="Calibri" pitchFamily="34" charset="-120"/>
              </a:rPr>
              <a:t>Sermons, Bible studies, devotionals, kids' lessons and social posts fill every week, often with little or no staff. 42% of U.S. pastors considered quitting full-time ministry in the past year (Barna Group, 2022).</a:t>
            </a:r>
            <a:endParaRPr lang="en-US" sz="1300" dirty="0"/>
          </a:p>
        </p:txBody>
      </p:sp>
      <p:sp>
        <p:nvSpPr>
          <p:cNvPr id="8" name="Shape 5"/>
          <p:cNvSpPr/>
          <p:nvPr/>
        </p:nvSpPr>
        <p:spPr>
          <a:xfrm>
            <a:off x="457200" y="2404872"/>
            <a:ext cx="530352" cy="530352"/>
          </a:xfrm>
          <a:prstGeom prst="ellipse">
            <a:avLst/>
          </a:prstGeom>
          <a:solidFill>
            <a:srgbClr val="FFFFFF"/>
          </a:solidFill>
          <a:ln w="19050">
            <a:solidFill>
              <a:srgbClr val="D98B3C"/>
            </a:solidFill>
            <a:prstDash val="solid"/>
          </a:ln>
        </p:spPr>
      </p:sp>
      <p:pic>
        <p:nvPicPr>
          <p:cNvPr id="9" name="Image 1" descr="preencoded.png">    </p:cNvPr>
          <p:cNvPicPr>
            <a:picLocks noChangeAspect="1"/>
          </p:cNvPicPr>
          <p:nvPr/>
        </p:nvPicPr>
        <p:blipFill>
          <a:blip r:embed="rId2"/>
          <a:stretch>
            <a:fillRect/>
          </a:stretch>
        </p:blipFill>
        <p:spPr>
          <a:xfrm>
            <a:off x="595092" y="2542764"/>
            <a:ext cx="254569" cy="254569"/>
          </a:xfrm>
          <a:prstGeom prst="rect">
            <a:avLst/>
          </a:prstGeom>
        </p:spPr>
      </p:pic>
      <p:sp>
        <p:nvSpPr>
          <p:cNvPr id="10" name="Text 6"/>
          <p:cNvSpPr txBox="1"/>
          <p:nvPr/>
        </p:nvSpPr>
        <p:spPr>
          <a:xfrm>
            <a:off x="1188720" y="2386584"/>
            <a:ext cx="7498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Sales reps practice on real prospects</a:t>
            </a:r>
            <a:endParaRPr lang="en-US" sz="1600" dirty="0"/>
          </a:p>
        </p:txBody>
      </p:sp>
      <p:sp>
        <p:nvSpPr>
          <p:cNvPr id="11" name="Text 7"/>
          <p:cNvSpPr txBox="1"/>
          <p:nvPr/>
        </p:nvSpPr>
        <p:spPr>
          <a:xfrm>
            <a:off x="1188720" y="2697480"/>
            <a:ext cx="7498080" cy="640080"/>
          </a:xfrm>
          <a:prstGeom prst="rect">
            <a:avLst/>
          </a:prstGeom>
          <a:noFill/>
          <a:ln/>
        </p:spPr>
        <p:txBody>
          <a:bodyPr wrap="square" lIns="0" tIns="0" rIns="0" bIns="0" rtlCol="0" anchor="t"/>
          <a:lstStyle/>
          <a:p>
            <a:pPr indent="0" marL="0">
              <a:buNone/>
            </a:pPr>
            <a:r>
              <a:rPr lang="en-US" sz="1300" dirty="0">
                <a:solidFill>
                  <a:srgbClr val="4E5D53"/>
                </a:solidFill>
                <a:latin typeface="Calibri" pitchFamily="34" charset="0"/>
                <a:ea typeface="Calibri" pitchFamily="34" charset="-122"/>
                <a:cs typeface="Calibri" pitchFamily="34" charset="-120"/>
              </a:rPr>
              <a:t>Reps learn to handle objections on live calls. One fumbled objection can cost a deal worth thousands in commission, and practice tools are mostly built for big companies.</a:t>
            </a:r>
            <a:endParaRPr lang="en-US" sz="1300" dirty="0"/>
          </a:p>
        </p:txBody>
      </p:sp>
      <p:sp>
        <p:nvSpPr>
          <p:cNvPr id="12" name="Shape 8"/>
          <p:cNvSpPr/>
          <p:nvPr/>
        </p:nvSpPr>
        <p:spPr>
          <a:xfrm>
            <a:off x="457200" y="3392424"/>
            <a:ext cx="530352" cy="530352"/>
          </a:xfrm>
          <a:prstGeom prst="ellipse">
            <a:avLst/>
          </a:prstGeom>
          <a:solidFill>
            <a:srgbClr val="FFFFFF"/>
          </a:solidFill>
          <a:ln w="19050">
            <a:solidFill>
              <a:srgbClr val="D98B3C"/>
            </a:solidFill>
            <a:prstDash val="solid"/>
          </a:ln>
        </p:spPr>
      </p:sp>
      <p:pic>
        <p:nvPicPr>
          <p:cNvPr id="13" name="Image 2" descr="preencoded.png">    </p:cNvPr>
          <p:cNvPicPr>
            <a:picLocks noChangeAspect="1"/>
          </p:cNvPicPr>
          <p:nvPr/>
        </p:nvPicPr>
        <p:blipFill>
          <a:blip r:embed="rId3"/>
          <a:stretch>
            <a:fillRect/>
          </a:stretch>
        </p:blipFill>
        <p:spPr>
          <a:xfrm>
            <a:off x="595092" y="3530316"/>
            <a:ext cx="254569" cy="254569"/>
          </a:xfrm>
          <a:prstGeom prst="rect">
            <a:avLst/>
          </a:prstGeom>
        </p:spPr>
      </p:pic>
      <p:sp>
        <p:nvSpPr>
          <p:cNvPr id="14" name="Text 9"/>
          <p:cNvSpPr txBox="1"/>
          <p:nvPr/>
        </p:nvSpPr>
        <p:spPr>
          <a:xfrm>
            <a:off x="1188720" y="3374136"/>
            <a:ext cx="7498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General chatbots don't close the gap</a:t>
            </a:r>
            <a:endParaRPr lang="en-US" sz="1600" dirty="0"/>
          </a:p>
        </p:txBody>
      </p:sp>
      <p:sp>
        <p:nvSpPr>
          <p:cNvPr id="15" name="Text 10"/>
          <p:cNvSpPr txBox="1"/>
          <p:nvPr/>
        </p:nvSpPr>
        <p:spPr>
          <a:xfrm>
            <a:off x="1188720" y="3685032"/>
            <a:ext cx="7498080" cy="640080"/>
          </a:xfrm>
          <a:prstGeom prst="rect">
            <a:avLst/>
          </a:prstGeom>
          <a:noFill/>
          <a:ln/>
        </p:spPr>
        <p:txBody>
          <a:bodyPr wrap="square" lIns="0" tIns="0" rIns="0" bIns="0" rtlCol="0" anchor="t"/>
          <a:lstStyle/>
          <a:p>
            <a:pPr indent="0" marL="0">
              <a:buNone/>
            </a:pPr>
            <a:r>
              <a:rPr lang="en-US" sz="1300" dirty="0">
                <a:solidFill>
                  <a:srgbClr val="4E5D53"/>
                </a:solidFill>
                <a:latin typeface="Calibri" pitchFamily="34" charset="0"/>
                <a:ea typeface="Calibri" pitchFamily="34" charset="-122"/>
                <a:cs typeface="Calibri" pitchFamily="34" charset="-120"/>
              </a:rPr>
              <a:t>Tools like ChatGPT don't know these jobs. People spend more time writing prompts than getting their work done.</a:t>
            </a:r>
            <a:endParaRPr lang="en-US" sz="1300" dirty="0"/>
          </a:p>
        </p:txBody>
      </p:sp>
      <p:sp>
        <p:nvSpPr>
          <p:cNvPr id="16" name="Text 11"/>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250" b="1" dirty="0">
                <a:solidFill>
                  <a:srgbClr val="143D28"/>
                </a:solidFill>
                <a:latin typeface="Calibri" pitchFamily="34" charset="0"/>
                <a:ea typeface="Calibri" pitchFamily="34" charset="-122"/>
                <a:cs typeface="Calibri" pitchFamily="34" charset="-120"/>
              </a:rPr>
              <a:t>Why we know: </a:t>
            </a:r>
            <a:pPr indent="0" marL="0">
              <a:buNone/>
            </a:pPr>
            <a:r>
              <a:rPr lang="en-US" sz="1250" dirty="0">
                <a:solidFill>
                  <a:srgbClr val="143D28"/>
                </a:solidFill>
                <a:latin typeface="Calibri" pitchFamily="34" charset="0"/>
                <a:ea typeface="Calibri" pitchFamily="34" charset="-122"/>
                <a:cs typeface="Calibri" pitchFamily="34" charset="-120"/>
              </a:rPr>
              <a:t>founder James Chambers watched his bishop's weekly workload, and spent 40+ years in sales.</a:t>
            </a:r>
            <a:endParaRPr lang="en-US" sz="1250" dirty="0"/>
          </a:p>
        </p:txBody>
      </p:sp>
      <p:sp>
        <p:nvSpPr>
          <p:cNvPr id="18" name="Text 12"/>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9" name="Text 13"/>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3 / 27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What Cedarworks offers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One studio, many focused AI apps</a:t>
            </a:r>
            <a:endParaRPr lang="en-US" sz="2600" dirty="0"/>
          </a:p>
        </p:txBody>
      </p:sp>
      <p:sp>
        <p:nvSpPr>
          <p:cNvPr id="4" name="Text 2"/>
          <p:cNvSpPr txBox="1"/>
          <p:nvPr/>
        </p:nvSpPr>
        <p:spPr>
          <a:xfrm>
            <a:off x="457200" y="1280160"/>
            <a:ext cx="8229600" cy="640080"/>
          </a:xfrm>
          <a:prstGeom prst="rect">
            <a:avLst/>
          </a:prstGeom>
          <a:noFill/>
          <a:ln/>
        </p:spPr>
        <p:txBody>
          <a:bodyPr wrap="square" lIns="0" tIns="0" rIns="0" bIns="0" rtlCol="0" anchor="t"/>
          <a:lstStyle/>
          <a:p>
            <a:pPr indent="0" marL="0">
              <a:buNone/>
            </a:pPr>
            <a:r>
              <a:rPr lang="en-US" sz="1400" dirty="0">
                <a:solidFill>
                  <a:srgbClr val="F4EBD5"/>
                </a:solidFill>
                <a:latin typeface="Calibri" pitchFamily="34" charset="0"/>
                <a:ea typeface="Calibri" pitchFamily="34" charset="-122"/>
                <a:cs typeface="Calibri" pitchFamily="34" charset="-120"/>
              </a:rPr>
              <a:t>Each app does one job for one profession, with no prompting needed. Every app shares one codebase, one AI stack and one operating system, so each new app costs less to launch and run.</a:t>
            </a:r>
            <a:endParaRPr lang="en-US" sz="1400" dirty="0"/>
          </a:p>
        </p:txBody>
      </p:sp>
      <p:sp>
        <p:nvSpPr>
          <p:cNvPr id="5" name="Shape 3"/>
          <p:cNvSpPr/>
          <p:nvPr/>
        </p:nvSpPr>
        <p:spPr>
          <a:xfrm>
            <a:off x="457200" y="2148840"/>
            <a:ext cx="2148840" cy="2148840"/>
          </a:xfrm>
          <a:prstGeom prst="roundRect">
            <a:avLst>
              <a:gd name="adj" fmla="val 4255"/>
            </a:avLst>
          </a:prstGeom>
          <a:solidFill>
            <a:srgbClr val="1E5238"/>
          </a:solidFill>
          <a:ln w="19050">
            <a:solidFill>
              <a:srgbClr val="D98B3C"/>
            </a:solidFill>
            <a:prstDash val="solid"/>
          </a:ln>
        </p:spPr>
      </p:sp>
      <p:sp>
        <p:nvSpPr>
          <p:cNvPr id="6" name="Shape 4"/>
          <p:cNvSpPr/>
          <p:nvPr/>
        </p:nvSpPr>
        <p:spPr>
          <a:xfrm>
            <a:off x="1234440" y="2331720"/>
            <a:ext cx="594360" cy="594360"/>
          </a:xfrm>
          <a:prstGeom prst="ellipse">
            <a:avLst/>
          </a:prstGeom>
          <a:solidFill>
            <a:srgbClr val="1E5238"/>
          </a:solidFill>
          <a:ln w="19050">
            <a:solidFill>
              <a:srgbClr val="D98B3C"/>
            </a:solidFill>
            <a:prstDash val="solid"/>
          </a:ln>
        </p:spPr>
      </p:sp>
      <p:pic>
        <p:nvPicPr>
          <p:cNvPr id="7" name="Image 0" descr="preencoded.png">    </p:cNvPr>
          <p:cNvPicPr>
            <a:picLocks noChangeAspect="1"/>
          </p:cNvPicPr>
          <p:nvPr/>
        </p:nvPicPr>
        <p:blipFill>
          <a:blip r:embed="rId1"/>
          <a:stretch>
            <a:fillRect/>
          </a:stretch>
        </p:blipFill>
        <p:spPr>
          <a:xfrm>
            <a:off x="1388974" y="2486254"/>
            <a:ext cx="285293" cy="285293"/>
          </a:xfrm>
          <a:prstGeom prst="rect">
            <a:avLst/>
          </a:prstGeom>
        </p:spPr>
      </p:pic>
      <p:sp>
        <p:nvSpPr>
          <p:cNvPr id="8" name="Text 5"/>
          <p:cNvSpPr txBox="1"/>
          <p:nvPr/>
        </p:nvSpPr>
        <p:spPr>
          <a:xfrm>
            <a:off x="548640" y="3017520"/>
            <a:ext cx="1965960" cy="320040"/>
          </a:xfrm>
          <a:prstGeom prst="rect">
            <a:avLst/>
          </a:prstGeom>
          <a:noFill/>
          <a:ln/>
        </p:spPr>
        <p:txBody>
          <a:bodyPr wrap="square" lIns="0" tIns="0" rIns="0" bIns="0" rtlCol="0" anchor="t"/>
          <a:lstStyle/>
          <a:p>
            <a:pPr algn="ctr" indent="0" marL="0">
              <a:buNone/>
            </a:pPr>
            <a:r>
              <a:rPr lang="en-US" sz="1800" b="1" dirty="0">
                <a:solidFill>
                  <a:srgbClr val="F4EBD5"/>
                </a:solidFill>
                <a:latin typeface="Cambria" pitchFamily="34" charset="0"/>
                <a:ea typeface="Cambria" pitchFamily="34" charset="-122"/>
                <a:cs typeface="Cambria" pitchFamily="34" charset="-120"/>
              </a:rPr>
              <a:t>AppForge</a:t>
            </a:r>
            <a:endParaRPr lang="en-US" sz="1800" dirty="0"/>
          </a:p>
        </p:txBody>
      </p:sp>
      <p:sp>
        <p:nvSpPr>
          <p:cNvPr id="9" name="Text 6"/>
          <p:cNvSpPr txBox="1"/>
          <p:nvPr/>
        </p:nvSpPr>
        <p:spPr>
          <a:xfrm>
            <a:off x="548640" y="3364992"/>
            <a:ext cx="1965960" cy="548640"/>
          </a:xfrm>
          <a:prstGeom prst="rect">
            <a:avLst/>
          </a:prstGeom>
          <a:noFill/>
          <a:ln/>
        </p:spPr>
        <p:txBody>
          <a:bodyPr wrap="square" lIns="0" tIns="0" rIns="0" bIns="0" rtlCol="0" anchor="t"/>
          <a:lstStyle/>
          <a:p>
            <a:pPr algn="ctr" indent="0" marL="0">
              <a:buNone/>
            </a:pPr>
            <a:r>
              <a:rPr lang="en-US" sz="1250" dirty="0">
                <a:solidFill>
                  <a:srgbClr val="B7CDB6"/>
                </a:solidFill>
                <a:latin typeface="Calibri" pitchFamily="34" charset="0"/>
                <a:ea typeface="Calibri" pitchFamily="34" charset="-122"/>
                <a:cs typeface="Calibri" pitchFamily="34" charset="-120"/>
              </a:rPr>
              <a:t>our in-house app factory</a:t>
            </a:r>
            <a:endParaRPr lang="en-US" sz="1250" dirty="0"/>
          </a:p>
        </p:txBody>
      </p:sp>
      <p:sp>
        <p:nvSpPr>
          <p:cNvPr id="10" name="Text 7"/>
          <p:cNvSpPr txBox="1"/>
          <p:nvPr/>
        </p:nvSpPr>
        <p:spPr>
          <a:xfrm>
            <a:off x="2651760" y="2926080"/>
            <a:ext cx="411480" cy="457200"/>
          </a:xfrm>
          <a:prstGeom prst="rect">
            <a:avLst/>
          </a:prstGeom>
          <a:noFill/>
          <a:ln/>
        </p:spPr>
        <p:txBody>
          <a:bodyPr wrap="square" lIns="0" tIns="0" rIns="0" bIns="0" rtlCol="0" anchor="ctr"/>
          <a:lstStyle/>
          <a:p>
            <a:pPr algn="ctr" indent="0" marL="0">
              <a:buNone/>
            </a:pPr>
            <a:r>
              <a:rPr lang="en-US" sz="2800" dirty="0">
                <a:solidFill>
                  <a:srgbClr val="D98B3C"/>
                </a:solidFill>
                <a:latin typeface="Calibri" pitchFamily="34" charset="0"/>
                <a:ea typeface="Calibri" pitchFamily="34" charset="-122"/>
                <a:cs typeface="Calibri" pitchFamily="34" charset="-120"/>
              </a:rPr>
              <a:t>→</a:t>
            </a:r>
            <a:endParaRPr lang="en-US" sz="2800" dirty="0"/>
          </a:p>
        </p:txBody>
      </p:sp>
      <p:sp>
        <p:nvSpPr>
          <p:cNvPr id="11" name="Shape 8"/>
          <p:cNvSpPr/>
          <p:nvPr/>
        </p:nvSpPr>
        <p:spPr>
          <a:xfrm>
            <a:off x="3154680" y="2148840"/>
            <a:ext cx="1005840" cy="1005840"/>
          </a:xfrm>
          <a:prstGeom prst="roundRect">
            <a:avLst>
              <a:gd name="adj" fmla="val 7273"/>
            </a:avLst>
          </a:prstGeom>
          <a:solidFill>
            <a:srgbClr val="D98B3C"/>
          </a:solidFill>
          <a:ln w="12700">
            <a:solidFill>
              <a:srgbClr val="D98B3C"/>
            </a:solidFill>
            <a:prstDash val="solid"/>
          </a:ln>
        </p:spPr>
      </p:sp>
      <p:sp>
        <p:nvSpPr>
          <p:cNvPr id="12" name="Text 9"/>
          <p:cNvSpPr txBox="1"/>
          <p:nvPr/>
        </p:nvSpPr>
        <p:spPr>
          <a:xfrm>
            <a:off x="3200400" y="2350008"/>
            <a:ext cx="9144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PastorAI</a:t>
            </a:r>
            <a:endParaRPr lang="en-US" sz="1300" dirty="0"/>
          </a:p>
        </p:txBody>
      </p:sp>
      <p:sp>
        <p:nvSpPr>
          <p:cNvPr id="13" name="Text 10"/>
          <p:cNvSpPr txBox="1"/>
          <p:nvPr/>
        </p:nvSpPr>
        <p:spPr>
          <a:xfrm>
            <a:off x="3200400" y="2715768"/>
            <a:ext cx="914400" cy="27432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live now</a:t>
            </a:r>
            <a:endParaRPr lang="en-US" sz="1100" dirty="0"/>
          </a:p>
        </p:txBody>
      </p:sp>
      <p:sp>
        <p:nvSpPr>
          <p:cNvPr id="14" name="Shape 11"/>
          <p:cNvSpPr/>
          <p:nvPr/>
        </p:nvSpPr>
        <p:spPr>
          <a:xfrm>
            <a:off x="4270248" y="2148840"/>
            <a:ext cx="1005840" cy="1005840"/>
          </a:xfrm>
          <a:prstGeom prst="roundRect">
            <a:avLst>
              <a:gd name="adj" fmla="val 7273"/>
            </a:avLst>
          </a:prstGeom>
          <a:solidFill>
            <a:srgbClr val="D98B3C"/>
          </a:solidFill>
          <a:ln w="12700">
            <a:solidFill>
              <a:srgbClr val="D98B3C"/>
            </a:solidFill>
            <a:prstDash val="solid"/>
          </a:ln>
        </p:spPr>
      </p:sp>
      <p:sp>
        <p:nvSpPr>
          <p:cNvPr id="15" name="Text 12"/>
          <p:cNvSpPr txBox="1"/>
          <p:nvPr/>
        </p:nvSpPr>
        <p:spPr>
          <a:xfrm>
            <a:off x="4315968" y="2350008"/>
            <a:ext cx="9144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Ready Room</a:t>
            </a:r>
            <a:endParaRPr lang="en-US" sz="1300" dirty="0"/>
          </a:p>
        </p:txBody>
      </p:sp>
      <p:sp>
        <p:nvSpPr>
          <p:cNvPr id="16" name="Text 13"/>
          <p:cNvSpPr txBox="1"/>
          <p:nvPr/>
        </p:nvSpPr>
        <p:spPr>
          <a:xfrm>
            <a:off x="4315968" y="2715768"/>
            <a:ext cx="914400" cy="27432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live now</a:t>
            </a:r>
            <a:endParaRPr lang="en-US" sz="1100" dirty="0"/>
          </a:p>
        </p:txBody>
      </p:sp>
      <p:sp>
        <p:nvSpPr>
          <p:cNvPr id="17" name="Shape 14"/>
          <p:cNvSpPr/>
          <p:nvPr/>
        </p:nvSpPr>
        <p:spPr>
          <a:xfrm>
            <a:off x="5385816" y="2148840"/>
            <a:ext cx="1005840" cy="1005840"/>
          </a:xfrm>
          <a:prstGeom prst="roundRect">
            <a:avLst>
              <a:gd name="adj" fmla="val 7273"/>
            </a:avLst>
          </a:prstGeom>
          <a:solidFill>
            <a:srgbClr val="143D28"/>
          </a:solidFill>
          <a:ln w="12700">
            <a:solidFill>
              <a:srgbClr val="B7CDB6"/>
            </a:solidFill>
            <a:prstDash val="dash"/>
          </a:ln>
        </p:spPr>
      </p:sp>
      <p:sp>
        <p:nvSpPr>
          <p:cNvPr id="18" name="Text 15"/>
          <p:cNvSpPr txBox="1"/>
          <p:nvPr/>
        </p:nvSpPr>
        <p:spPr>
          <a:xfrm>
            <a:off x="5431536" y="2350008"/>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3</a:t>
            </a:r>
            <a:endParaRPr lang="en-US" sz="1300" dirty="0"/>
          </a:p>
        </p:txBody>
      </p:sp>
      <p:sp>
        <p:nvSpPr>
          <p:cNvPr id="19" name="Text 16"/>
          <p:cNvSpPr txBox="1"/>
          <p:nvPr/>
        </p:nvSpPr>
        <p:spPr>
          <a:xfrm>
            <a:off x="5431536" y="2715768"/>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20" name="Shape 17"/>
          <p:cNvSpPr/>
          <p:nvPr/>
        </p:nvSpPr>
        <p:spPr>
          <a:xfrm>
            <a:off x="6501384" y="2148840"/>
            <a:ext cx="1005840" cy="1005840"/>
          </a:xfrm>
          <a:prstGeom prst="roundRect">
            <a:avLst>
              <a:gd name="adj" fmla="val 7273"/>
            </a:avLst>
          </a:prstGeom>
          <a:solidFill>
            <a:srgbClr val="143D28"/>
          </a:solidFill>
          <a:ln w="12700">
            <a:solidFill>
              <a:srgbClr val="B7CDB6"/>
            </a:solidFill>
            <a:prstDash val="dash"/>
          </a:ln>
        </p:spPr>
      </p:sp>
      <p:sp>
        <p:nvSpPr>
          <p:cNvPr id="21" name="Text 18"/>
          <p:cNvSpPr txBox="1"/>
          <p:nvPr/>
        </p:nvSpPr>
        <p:spPr>
          <a:xfrm>
            <a:off x="6547104" y="2350008"/>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4</a:t>
            </a:r>
            <a:endParaRPr lang="en-US" sz="1300" dirty="0"/>
          </a:p>
        </p:txBody>
      </p:sp>
      <p:sp>
        <p:nvSpPr>
          <p:cNvPr id="22" name="Text 19"/>
          <p:cNvSpPr txBox="1"/>
          <p:nvPr/>
        </p:nvSpPr>
        <p:spPr>
          <a:xfrm>
            <a:off x="6547104" y="2715768"/>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23" name="Shape 20"/>
          <p:cNvSpPr/>
          <p:nvPr/>
        </p:nvSpPr>
        <p:spPr>
          <a:xfrm>
            <a:off x="7616952" y="2148840"/>
            <a:ext cx="1005840" cy="1005840"/>
          </a:xfrm>
          <a:prstGeom prst="roundRect">
            <a:avLst>
              <a:gd name="adj" fmla="val 7273"/>
            </a:avLst>
          </a:prstGeom>
          <a:solidFill>
            <a:srgbClr val="143D28"/>
          </a:solidFill>
          <a:ln w="12700">
            <a:solidFill>
              <a:srgbClr val="B7CDB6"/>
            </a:solidFill>
            <a:prstDash val="dash"/>
          </a:ln>
        </p:spPr>
      </p:sp>
      <p:sp>
        <p:nvSpPr>
          <p:cNvPr id="24" name="Text 21"/>
          <p:cNvSpPr txBox="1"/>
          <p:nvPr/>
        </p:nvSpPr>
        <p:spPr>
          <a:xfrm>
            <a:off x="7662672" y="2350008"/>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5</a:t>
            </a:r>
            <a:endParaRPr lang="en-US" sz="1300" dirty="0"/>
          </a:p>
        </p:txBody>
      </p:sp>
      <p:sp>
        <p:nvSpPr>
          <p:cNvPr id="25" name="Text 22"/>
          <p:cNvSpPr txBox="1"/>
          <p:nvPr/>
        </p:nvSpPr>
        <p:spPr>
          <a:xfrm>
            <a:off x="7662672" y="2715768"/>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26" name="Shape 23"/>
          <p:cNvSpPr/>
          <p:nvPr/>
        </p:nvSpPr>
        <p:spPr>
          <a:xfrm>
            <a:off x="3154680" y="3264408"/>
            <a:ext cx="1005840" cy="1005840"/>
          </a:xfrm>
          <a:prstGeom prst="roundRect">
            <a:avLst>
              <a:gd name="adj" fmla="val 7273"/>
            </a:avLst>
          </a:prstGeom>
          <a:solidFill>
            <a:srgbClr val="143D28"/>
          </a:solidFill>
          <a:ln w="12700">
            <a:solidFill>
              <a:srgbClr val="B7CDB6"/>
            </a:solidFill>
            <a:prstDash val="dash"/>
          </a:ln>
        </p:spPr>
      </p:sp>
      <p:sp>
        <p:nvSpPr>
          <p:cNvPr id="27" name="Text 24"/>
          <p:cNvSpPr txBox="1"/>
          <p:nvPr/>
        </p:nvSpPr>
        <p:spPr>
          <a:xfrm>
            <a:off x="3200400"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6</a:t>
            </a:r>
            <a:endParaRPr lang="en-US" sz="1300" dirty="0"/>
          </a:p>
        </p:txBody>
      </p:sp>
      <p:sp>
        <p:nvSpPr>
          <p:cNvPr id="28" name="Text 25"/>
          <p:cNvSpPr txBox="1"/>
          <p:nvPr/>
        </p:nvSpPr>
        <p:spPr>
          <a:xfrm>
            <a:off x="3200400" y="3831336"/>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29" name="Shape 26"/>
          <p:cNvSpPr/>
          <p:nvPr/>
        </p:nvSpPr>
        <p:spPr>
          <a:xfrm>
            <a:off x="4270248" y="3264408"/>
            <a:ext cx="1005840" cy="1005840"/>
          </a:xfrm>
          <a:prstGeom prst="roundRect">
            <a:avLst>
              <a:gd name="adj" fmla="val 7273"/>
            </a:avLst>
          </a:prstGeom>
          <a:solidFill>
            <a:srgbClr val="143D28"/>
          </a:solidFill>
          <a:ln w="12700">
            <a:solidFill>
              <a:srgbClr val="B7CDB6"/>
            </a:solidFill>
            <a:prstDash val="dash"/>
          </a:ln>
        </p:spPr>
      </p:sp>
      <p:sp>
        <p:nvSpPr>
          <p:cNvPr id="30" name="Text 27"/>
          <p:cNvSpPr txBox="1"/>
          <p:nvPr/>
        </p:nvSpPr>
        <p:spPr>
          <a:xfrm>
            <a:off x="4315968"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7</a:t>
            </a:r>
            <a:endParaRPr lang="en-US" sz="1300" dirty="0"/>
          </a:p>
        </p:txBody>
      </p:sp>
      <p:sp>
        <p:nvSpPr>
          <p:cNvPr id="31" name="Text 28"/>
          <p:cNvSpPr txBox="1"/>
          <p:nvPr/>
        </p:nvSpPr>
        <p:spPr>
          <a:xfrm>
            <a:off x="4315968" y="3831336"/>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32" name="Shape 29"/>
          <p:cNvSpPr/>
          <p:nvPr/>
        </p:nvSpPr>
        <p:spPr>
          <a:xfrm>
            <a:off x="5385816" y="3264408"/>
            <a:ext cx="1005840" cy="1005840"/>
          </a:xfrm>
          <a:prstGeom prst="roundRect">
            <a:avLst>
              <a:gd name="adj" fmla="val 7273"/>
            </a:avLst>
          </a:prstGeom>
          <a:solidFill>
            <a:srgbClr val="143D28"/>
          </a:solidFill>
          <a:ln w="12700">
            <a:solidFill>
              <a:srgbClr val="B7CDB6"/>
            </a:solidFill>
            <a:prstDash val="dash"/>
          </a:ln>
        </p:spPr>
      </p:sp>
      <p:sp>
        <p:nvSpPr>
          <p:cNvPr id="33" name="Text 30"/>
          <p:cNvSpPr txBox="1"/>
          <p:nvPr/>
        </p:nvSpPr>
        <p:spPr>
          <a:xfrm>
            <a:off x="5431536"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8</a:t>
            </a:r>
            <a:endParaRPr lang="en-US" sz="1300" dirty="0"/>
          </a:p>
        </p:txBody>
      </p:sp>
      <p:sp>
        <p:nvSpPr>
          <p:cNvPr id="34" name="Text 31"/>
          <p:cNvSpPr txBox="1"/>
          <p:nvPr/>
        </p:nvSpPr>
        <p:spPr>
          <a:xfrm>
            <a:off x="5431536" y="3831336"/>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35" name="Shape 32"/>
          <p:cNvSpPr/>
          <p:nvPr/>
        </p:nvSpPr>
        <p:spPr>
          <a:xfrm>
            <a:off x="6501384" y="3264408"/>
            <a:ext cx="1005840" cy="1005840"/>
          </a:xfrm>
          <a:prstGeom prst="roundRect">
            <a:avLst>
              <a:gd name="adj" fmla="val 7273"/>
            </a:avLst>
          </a:prstGeom>
          <a:solidFill>
            <a:srgbClr val="143D28"/>
          </a:solidFill>
          <a:ln w="12700">
            <a:solidFill>
              <a:srgbClr val="B7CDB6"/>
            </a:solidFill>
            <a:prstDash val="dash"/>
          </a:ln>
        </p:spPr>
      </p:sp>
      <p:sp>
        <p:nvSpPr>
          <p:cNvPr id="36" name="Text 33"/>
          <p:cNvSpPr txBox="1"/>
          <p:nvPr/>
        </p:nvSpPr>
        <p:spPr>
          <a:xfrm>
            <a:off x="6547104"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9</a:t>
            </a:r>
            <a:endParaRPr lang="en-US" sz="1300" dirty="0"/>
          </a:p>
        </p:txBody>
      </p:sp>
      <p:sp>
        <p:nvSpPr>
          <p:cNvPr id="37" name="Text 34"/>
          <p:cNvSpPr txBox="1"/>
          <p:nvPr/>
        </p:nvSpPr>
        <p:spPr>
          <a:xfrm>
            <a:off x="6547104" y="3831336"/>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38" name="Shape 35"/>
          <p:cNvSpPr/>
          <p:nvPr/>
        </p:nvSpPr>
        <p:spPr>
          <a:xfrm>
            <a:off x="7616952" y="3264408"/>
            <a:ext cx="1005840" cy="1005840"/>
          </a:xfrm>
          <a:prstGeom prst="roundRect">
            <a:avLst>
              <a:gd name="adj" fmla="val 7273"/>
            </a:avLst>
          </a:prstGeom>
          <a:solidFill>
            <a:srgbClr val="143D28"/>
          </a:solidFill>
          <a:ln w="12700">
            <a:solidFill>
              <a:srgbClr val="B7CDB6"/>
            </a:solidFill>
            <a:prstDash val="dash"/>
          </a:ln>
        </p:spPr>
      </p:sp>
      <p:sp>
        <p:nvSpPr>
          <p:cNvPr id="39" name="Text 36"/>
          <p:cNvSpPr txBox="1"/>
          <p:nvPr/>
        </p:nvSpPr>
        <p:spPr>
          <a:xfrm>
            <a:off x="7662672"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10</a:t>
            </a:r>
            <a:endParaRPr lang="en-US" sz="1300" dirty="0"/>
          </a:p>
        </p:txBody>
      </p:sp>
      <p:sp>
        <p:nvSpPr>
          <p:cNvPr id="40" name="Text 37"/>
          <p:cNvSpPr txBox="1"/>
          <p:nvPr/>
        </p:nvSpPr>
        <p:spPr>
          <a:xfrm>
            <a:off x="7662672" y="3831336"/>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41" name="Text 38"/>
          <p:cNvSpPr txBox="1"/>
          <p:nvPr/>
        </p:nvSpPr>
        <p:spPr>
          <a:xfrm>
            <a:off x="3154680" y="4434840"/>
            <a:ext cx="5532120" cy="274320"/>
          </a:xfrm>
          <a:prstGeom prst="rect">
            <a:avLst/>
          </a:prstGeom>
          <a:noFill/>
          <a:ln/>
        </p:spPr>
        <p:txBody>
          <a:bodyPr wrap="square" lIns="0" tIns="0" rIns="0" bIns="0" rtlCol="0" anchor="t"/>
          <a:lstStyle/>
          <a:p>
            <a:pPr indent="0" marL="0">
              <a:buNone/>
            </a:pPr>
            <a:r>
              <a:rPr lang="en-US" sz="1250" i="1" dirty="0">
                <a:solidFill>
                  <a:srgbClr val="B7CDB6"/>
                </a:solidFill>
                <a:latin typeface="Calibri" pitchFamily="34" charset="0"/>
                <a:ea typeface="Calibri" pitchFamily="34" charset="-122"/>
                <a:cs typeface="Calibri" pitchFamily="34" charset="-120"/>
              </a:rPr>
              <a:t>Apps 3–10 will be chosen from AppForge's market research, not guesswork.</a:t>
            </a:r>
            <a:endParaRPr lang="en-US" sz="1250" dirty="0"/>
          </a:p>
        </p:txBody>
      </p:sp>
      <p:sp>
        <p:nvSpPr>
          <p:cNvPr id="43" name="Text 39"/>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44" name="Text 40"/>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4 / 27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PastorAI  ·  pastorai.io</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PastorAI: an AI ministry assistant for the whole week</a:t>
            </a:r>
            <a:endParaRPr lang="en-US" sz="2600" dirty="0"/>
          </a:p>
        </p:txBody>
      </p:sp>
      <p:sp>
        <p:nvSpPr>
          <p:cNvPr id="4" name="Shape 2"/>
          <p:cNvSpPr/>
          <p:nvPr/>
        </p:nvSpPr>
        <p:spPr>
          <a:xfrm>
            <a:off x="457200" y="1417320"/>
            <a:ext cx="5120640" cy="3200400"/>
          </a:xfrm>
          <a:prstGeom prst="roundRect">
            <a:avLst>
              <a:gd name="adj" fmla="val 228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731520" y="1572768"/>
            <a:ext cx="466344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What a pastor can create</a:t>
            </a:r>
            <a:endParaRPr lang="en-US" sz="1300" dirty="0"/>
          </a:p>
        </p:txBody>
      </p:sp>
      <p:sp>
        <p:nvSpPr>
          <p:cNvPr id="6" name="Text 4"/>
          <p:cNvSpPr txBox="1"/>
          <p:nvPr/>
        </p:nvSpPr>
        <p:spPr>
          <a:xfrm>
            <a:off x="731520" y="1901952"/>
            <a:ext cx="4709160" cy="2103120"/>
          </a:xfrm>
          <a:prstGeom prst="rect">
            <a:avLst/>
          </a:prstGeom>
          <a:noFill/>
          <a:ln/>
        </p:spPr>
        <p:txBody>
          <a:bodyPr wrap="square" lIns="0" tIns="0" rIns="0" bIns="0" rtlCol="0" anchor="t"/>
          <a:lstStyle/>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Sermon Builder: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full outlines with scripture and application</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Series Planner: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multi-week sermon series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Bible Study: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small-group guides with questions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Social Media: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7 days of posts from one sermon</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Devotionals and children's lessons</a:t>
            </a:r>
            <a:pPr indent="0" marL="0">
              <a:spcAft>
                <a:spcPts val="300"/>
              </a:spcAft>
              <a:buNone/>
            </a:pP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Translation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into 10 languages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Rehearsal: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practice delivering the sermon</a:t>
            </a:r>
            <a:endParaRPr lang="en-US" sz="1300" dirty="0"/>
          </a:p>
        </p:txBody>
      </p:sp>
      <p:sp>
        <p:nvSpPr>
          <p:cNvPr id="7" name="Text 5"/>
          <p:cNvSpPr txBox="1"/>
          <p:nvPr/>
        </p:nvSpPr>
        <p:spPr>
          <a:xfrm>
            <a:off x="731520" y="4069080"/>
            <a:ext cx="4709160" cy="457200"/>
          </a:xfrm>
          <a:prstGeom prst="rect">
            <a:avLst/>
          </a:prstGeom>
          <a:noFill/>
          <a:ln/>
        </p:spPr>
        <p:txBody>
          <a:bodyPr wrap="square" lIns="0" tIns="0" rIns="0" bIns="0" rtlCol="0" anchor="t"/>
          <a:lstStyle/>
          <a:p>
            <a:pPr indent="0" marL="0">
              <a:buNone/>
            </a:pPr>
            <a:r>
              <a:rPr lang="en-US" sz="1250" i="1" dirty="0">
                <a:solidFill>
                  <a:srgbClr val="143D28"/>
                </a:solidFill>
                <a:latin typeface="Cambria" pitchFamily="34" charset="0"/>
                <a:ea typeface="Cambria" pitchFamily="34" charset="-122"/>
                <a:cs typeface="Cambria" pitchFamily="34" charset="-120"/>
              </a:rPr>
              <a:t>“This will save me so much time. It's a great tool.”  — Pastor Dennis, trial user</a:t>
            </a:r>
            <a:endParaRPr lang="en-US" sz="1250" dirty="0"/>
          </a:p>
        </p:txBody>
      </p:sp>
      <p:sp>
        <p:nvSpPr>
          <p:cNvPr id="8" name="Shape 6"/>
          <p:cNvSpPr/>
          <p:nvPr/>
        </p:nvSpPr>
        <p:spPr>
          <a:xfrm>
            <a:off x="5852160" y="1417320"/>
            <a:ext cx="2834640" cy="1005840"/>
          </a:xfrm>
          <a:prstGeom prst="roundRect">
            <a:avLst>
              <a:gd name="adj" fmla="val 7273"/>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6035040" y="1508760"/>
            <a:ext cx="2505456" cy="475488"/>
          </a:xfrm>
          <a:prstGeom prst="rect">
            <a:avLst/>
          </a:prstGeom>
          <a:noFill/>
          <a:ln/>
        </p:spPr>
        <p:txBody>
          <a:bodyPr wrap="square" lIns="0" tIns="0" rIns="0" bIns="0" rtlCol="0" anchor="ctr"/>
          <a:lstStyle/>
          <a:p>
            <a:pPr indent="0" marL="0">
              <a:buNone/>
            </a:pPr>
            <a:r>
              <a:rPr lang="en-US" sz="2600" b="1" dirty="0">
                <a:solidFill>
                  <a:srgbClr val="F4EBD5"/>
                </a:solidFill>
                <a:latin typeface="Cambria" pitchFamily="34" charset="0"/>
                <a:ea typeface="Cambria" pitchFamily="34" charset="-122"/>
                <a:cs typeface="Cambria" pitchFamily="34" charset="-120"/>
              </a:rPr>
              <a:t>$47/mo</a:t>
            </a:r>
            <a:endParaRPr lang="en-US" sz="2600" dirty="0"/>
          </a:p>
        </p:txBody>
      </p:sp>
      <p:sp>
        <p:nvSpPr>
          <p:cNvPr id="10" name="Text 8"/>
          <p:cNvSpPr txBox="1"/>
          <p:nvPr/>
        </p:nvSpPr>
        <p:spPr>
          <a:xfrm>
            <a:off x="6035040" y="2002536"/>
            <a:ext cx="2505456" cy="384048"/>
          </a:xfrm>
          <a:prstGeom prst="rect">
            <a:avLst/>
          </a:prstGeom>
          <a:noFill/>
          <a:ln/>
        </p:spPr>
        <p:txBody>
          <a:bodyPr wrap="square" lIns="0" tIns="0" rIns="0" bIns="0" rtlCol="0" anchor="t"/>
          <a:lstStyle/>
          <a:p>
            <a:pPr indent="0" marL="0">
              <a:buNone/>
            </a:pPr>
            <a:r>
              <a:rPr lang="en-US" sz="1200" dirty="0">
                <a:solidFill>
                  <a:srgbClr val="B7CDB6"/>
                </a:solidFill>
                <a:latin typeface="Calibri" pitchFamily="34" charset="0"/>
                <a:ea typeface="Calibri" pitchFamily="34" charset="-122"/>
                <a:cs typeface="Calibri" pitchFamily="34" charset="-120"/>
              </a:rPr>
              <a:t>after a 14-day free trial</a:t>
            </a:r>
            <a:endParaRPr lang="en-US" sz="1200" dirty="0"/>
          </a:p>
        </p:txBody>
      </p:sp>
      <p:sp>
        <p:nvSpPr>
          <p:cNvPr id="11" name="Shape 9"/>
          <p:cNvSpPr/>
          <p:nvPr/>
        </p:nvSpPr>
        <p:spPr>
          <a:xfrm>
            <a:off x="5852160" y="251460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2" name="Text 10"/>
          <p:cNvSpPr txBox="1"/>
          <p:nvPr/>
        </p:nvSpPr>
        <p:spPr>
          <a:xfrm>
            <a:off x="6035040" y="2606040"/>
            <a:ext cx="2505456" cy="475488"/>
          </a:xfrm>
          <a:prstGeom prst="rect">
            <a:avLst/>
          </a:prstGeom>
          <a:noFill/>
          <a:ln/>
        </p:spPr>
        <p:txBody>
          <a:bodyPr wrap="square" lIns="0" tIns="0" rIns="0" bIns="0" rtlCol="0" anchor="ctr"/>
          <a:lstStyle/>
          <a:p>
            <a:pPr indent="0" marL="0">
              <a:buNone/>
            </a:pPr>
            <a:r>
              <a:rPr lang="en-US" sz="2600" b="1" dirty="0">
                <a:solidFill>
                  <a:srgbClr val="143D28"/>
                </a:solidFill>
                <a:latin typeface="Cambria" pitchFamily="34" charset="0"/>
                <a:ea typeface="Cambria" pitchFamily="34" charset="-122"/>
                <a:cs typeface="Cambria" pitchFamily="34" charset="-120"/>
              </a:rPr>
              <a:t>~15</a:t>
            </a:r>
            <a:endParaRPr lang="en-US" sz="2600" dirty="0"/>
          </a:p>
        </p:txBody>
      </p:sp>
      <p:sp>
        <p:nvSpPr>
          <p:cNvPr id="13" name="Text 11"/>
          <p:cNvSpPr txBox="1"/>
          <p:nvPr/>
        </p:nvSpPr>
        <p:spPr>
          <a:xfrm>
            <a:off x="6035040" y="309981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trial users so far</a:t>
            </a:r>
            <a:endParaRPr lang="en-US" sz="1200" dirty="0"/>
          </a:p>
        </p:txBody>
      </p:sp>
      <p:sp>
        <p:nvSpPr>
          <p:cNvPr id="14" name="Shape 12"/>
          <p:cNvSpPr/>
          <p:nvPr/>
        </p:nvSpPr>
        <p:spPr>
          <a:xfrm>
            <a:off x="5852160" y="361188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Text 13"/>
          <p:cNvSpPr txBox="1"/>
          <p:nvPr/>
        </p:nvSpPr>
        <p:spPr>
          <a:xfrm>
            <a:off x="6035040" y="3703320"/>
            <a:ext cx="2505456" cy="475488"/>
          </a:xfrm>
          <a:prstGeom prst="rect">
            <a:avLst/>
          </a:prstGeom>
          <a:noFill/>
          <a:ln/>
        </p:spPr>
        <p:txBody>
          <a:bodyPr wrap="square" lIns="0" tIns="0" rIns="0" bIns="0" rtlCol="0" anchor="ctr"/>
          <a:lstStyle/>
          <a:p>
            <a:pPr indent="0" marL="0">
              <a:buNone/>
            </a:pPr>
            <a:r>
              <a:rPr lang="en-US" sz="2200" b="1" dirty="0">
                <a:solidFill>
                  <a:srgbClr val="143D28"/>
                </a:solidFill>
                <a:latin typeface="Cambria" pitchFamily="34" charset="0"/>
                <a:ea typeface="Cambria" pitchFamily="34" charset="-122"/>
                <a:cs typeface="Cambria" pitchFamily="34" charset="-120"/>
              </a:rPr>
              <a:t>3 platforms</a:t>
            </a:r>
            <a:endParaRPr lang="en-US" sz="2200" dirty="0"/>
          </a:p>
        </p:txBody>
      </p:sp>
      <p:sp>
        <p:nvSpPr>
          <p:cNvPr id="16" name="Text 14"/>
          <p:cNvSpPr txBox="1"/>
          <p:nvPr/>
        </p:nvSpPr>
        <p:spPr>
          <a:xfrm>
            <a:off x="6035040" y="419709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iOS, Android and web</a:t>
            </a:r>
            <a:endParaRPr lang="en-US" sz="1200" dirty="0"/>
          </a:p>
        </p:txBody>
      </p:sp>
      <p:sp>
        <p:nvSpPr>
          <p:cNvPr id="18" name="Text 1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9" name="Text 1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5 / 27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PastorAI  ·  inside the app</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One dashboard for the whole ministry week</a:t>
            </a:r>
            <a:endParaRPr lang="en-US" sz="2600" dirty="0"/>
          </a:p>
        </p:txBody>
      </p:sp>
      <p:sp>
        <p:nvSpPr>
          <p:cNvPr id="4" name="Shape 2"/>
          <p:cNvSpPr/>
          <p:nvPr/>
        </p:nvSpPr>
        <p:spPr>
          <a:xfrm>
            <a:off x="429768" y="1389888"/>
            <a:ext cx="5541264" cy="3246120"/>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5" name="Image 0" descr="preencoded.png">    </p:cNvPr>
          <p:cNvPicPr>
            <a:picLocks noChangeAspect="1"/>
          </p:cNvPicPr>
          <p:nvPr/>
        </p:nvPicPr>
        <p:blipFill>
          <a:blip r:embed="rId1"/>
          <a:stretch>
            <a:fillRect/>
          </a:stretch>
        </p:blipFill>
        <p:spPr>
          <a:xfrm>
            <a:off x="457200" y="1417320"/>
            <a:ext cx="5486400" cy="3191256"/>
          </a:xfrm>
          <a:prstGeom prst="rect">
            <a:avLst/>
          </a:prstGeom>
        </p:spPr>
      </p:pic>
      <p:sp>
        <p:nvSpPr>
          <p:cNvPr id="6" name="Shape 3"/>
          <p:cNvSpPr/>
          <p:nvPr/>
        </p:nvSpPr>
        <p:spPr>
          <a:xfrm>
            <a:off x="6217920" y="1463040"/>
            <a:ext cx="329184" cy="329184"/>
          </a:xfrm>
          <a:prstGeom prst="ellipse">
            <a:avLst/>
          </a:prstGeom>
          <a:solidFill>
            <a:srgbClr val="D98B3C"/>
          </a:solidFill>
          <a:ln w="12700">
            <a:solidFill>
              <a:srgbClr val="D98B3C"/>
            </a:solidFill>
            <a:prstDash val="solid"/>
          </a:ln>
        </p:spPr>
      </p:sp>
      <p:sp>
        <p:nvSpPr>
          <p:cNvPr id="7" name="Text 4"/>
          <p:cNvSpPr txBox="1"/>
          <p:nvPr/>
        </p:nvSpPr>
        <p:spPr>
          <a:xfrm>
            <a:off x="6217920" y="14630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6675120" y="145389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Pick a tool</a:t>
            </a:r>
            <a:endParaRPr lang="en-US" sz="1400" dirty="0"/>
          </a:p>
        </p:txBody>
      </p:sp>
      <p:sp>
        <p:nvSpPr>
          <p:cNvPr id="9" name="Text 6"/>
          <p:cNvSpPr txBox="1"/>
          <p:nvPr/>
        </p:nvSpPr>
        <p:spPr>
          <a:xfrm>
            <a:off x="6675120" y="1737360"/>
            <a:ext cx="2011680" cy="7315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Eight ministry tools, one click away in the sidebar.</a:t>
            </a:r>
            <a:endParaRPr lang="en-US" sz="1250" dirty="0"/>
          </a:p>
        </p:txBody>
      </p:sp>
      <p:sp>
        <p:nvSpPr>
          <p:cNvPr id="10" name="Shape 7"/>
          <p:cNvSpPr/>
          <p:nvPr/>
        </p:nvSpPr>
        <p:spPr>
          <a:xfrm>
            <a:off x="6217920" y="2514600"/>
            <a:ext cx="329184" cy="329184"/>
          </a:xfrm>
          <a:prstGeom prst="ellipse">
            <a:avLst/>
          </a:prstGeom>
          <a:solidFill>
            <a:srgbClr val="D98B3C"/>
          </a:solidFill>
          <a:ln w="12700">
            <a:solidFill>
              <a:srgbClr val="D98B3C"/>
            </a:solidFill>
            <a:prstDash val="solid"/>
          </a:ln>
        </p:spPr>
      </p:sp>
      <p:sp>
        <p:nvSpPr>
          <p:cNvPr id="11" name="Text 8"/>
          <p:cNvSpPr txBox="1"/>
          <p:nvPr/>
        </p:nvSpPr>
        <p:spPr>
          <a:xfrm>
            <a:off x="6217920" y="25146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6675120" y="250545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Create in minutes</a:t>
            </a:r>
            <a:endParaRPr lang="en-US" sz="1400" dirty="0"/>
          </a:p>
        </p:txBody>
      </p:sp>
      <p:sp>
        <p:nvSpPr>
          <p:cNvPr id="13" name="Text 10"/>
          <p:cNvSpPr txBox="1"/>
          <p:nvPr/>
        </p:nvSpPr>
        <p:spPr>
          <a:xfrm>
            <a:off x="6675120" y="2788920"/>
            <a:ext cx="2011680" cy="7315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For example, a full sermon outline with scripture, illustrations and application.</a:t>
            </a:r>
            <a:endParaRPr lang="en-US" sz="1250" dirty="0"/>
          </a:p>
        </p:txBody>
      </p:sp>
      <p:sp>
        <p:nvSpPr>
          <p:cNvPr id="14" name="Shape 11"/>
          <p:cNvSpPr/>
          <p:nvPr/>
        </p:nvSpPr>
        <p:spPr>
          <a:xfrm>
            <a:off x="6217920" y="3566160"/>
            <a:ext cx="329184" cy="329184"/>
          </a:xfrm>
          <a:prstGeom prst="ellipse">
            <a:avLst/>
          </a:prstGeom>
          <a:solidFill>
            <a:srgbClr val="D98B3C"/>
          </a:solidFill>
          <a:ln w="12700">
            <a:solidFill>
              <a:srgbClr val="D98B3C"/>
            </a:solidFill>
            <a:prstDash val="solid"/>
          </a:ln>
        </p:spPr>
      </p:sp>
      <p:sp>
        <p:nvSpPr>
          <p:cNvPr id="15" name="Text 12"/>
          <p:cNvSpPr txBox="1"/>
          <p:nvPr/>
        </p:nvSpPr>
        <p:spPr>
          <a:xfrm>
            <a:off x="6217920" y="35661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675120" y="355701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Try free, then subscribe</a:t>
            </a:r>
            <a:endParaRPr lang="en-US" sz="1400" dirty="0"/>
          </a:p>
        </p:txBody>
      </p:sp>
      <p:sp>
        <p:nvSpPr>
          <p:cNvPr id="17" name="Text 14"/>
          <p:cNvSpPr txBox="1"/>
          <p:nvPr/>
        </p:nvSpPr>
        <p:spPr>
          <a:xfrm>
            <a:off x="6675120" y="3840480"/>
            <a:ext cx="2011680" cy="7315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A 14-day free trial, with the $47/month upgrade built into the app.</a:t>
            </a:r>
            <a:endParaRPr lang="en-US" sz="1250" dirty="0"/>
          </a:p>
        </p:txBody>
      </p:sp>
      <p:sp>
        <p:nvSpPr>
          <p:cNvPr id="19" name="Text 1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0" name="Text 1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6 / 27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Ready Room  ·  tryreadyroom.com</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Ready Room: a flight simulator for sales calls</a:t>
            </a:r>
            <a:endParaRPr lang="en-US" sz="2600" dirty="0"/>
          </a:p>
        </p:txBody>
      </p:sp>
      <p:sp>
        <p:nvSpPr>
          <p:cNvPr id="4" name="Shape 2"/>
          <p:cNvSpPr/>
          <p:nvPr/>
        </p:nvSpPr>
        <p:spPr>
          <a:xfrm>
            <a:off x="457200" y="1417320"/>
            <a:ext cx="2834640" cy="1005840"/>
          </a:xfrm>
          <a:prstGeom prst="roundRect">
            <a:avLst>
              <a:gd name="adj" fmla="val 7273"/>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508760"/>
            <a:ext cx="2505456" cy="475488"/>
          </a:xfrm>
          <a:prstGeom prst="rect">
            <a:avLst/>
          </a:prstGeom>
          <a:noFill/>
          <a:ln/>
        </p:spPr>
        <p:txBody>
          <a:bodyPr wrap="square" lIns="0" tIns="0" rIns="0" bIns="0" rtlCol="0" anchor="ctr"/>
          <a:lstStyle/>
          <a:p>
            <a:pPr indent="0" marL="0">
              <a:buNone/>
            </a:pPr>
            <a:r>
              <a:rPr lang="en-US" sz="2600" b="1" dirty="0">
                <a:solidFill>
                  <a:srgbClr val="F4EBD5"/>
                </a:solidFill>
                <a:latin typeface="Cambria" pitchFamily="34" charset="0"/>
                <a:ea typeface="Cambria" pitchFamily="34" charset="-122"/>
                <a:cs typeface="Cambria" pitchFamily="34" charset="-120"/>
              </a:rPr>
              <a:t>$29/mo</a:t>
            </a:r>
            <a:endParaRPr lang="en-US" sz="2600" dirty="0"/>
          </a:p>
        </p:txBody>
      </p:sp>
      <p:sp>
        <p:nvSpPr>
          <p:cNvPr id="6" name="Text 4"/>
          <p:cNvSpPr txBox="1"/>
          <p:nvPr/>
        </p:nvSpPr>
        <p:spPr>
          <a:xfrm>
            <a:off x="640080" y="2002536"/>
            <a:ext cx="2505456" cy="384048"/>
          </a:xfrm>
          <a:prstGeom prst="rect">
            <a:avLst/>
          </a:prstGeom>
          <a:noFill/>
          <a:ln/>
        </p:spPr>
        <p:txBody>
          <a:bodyPr wrap="square" lIns="0" tIns="0" rIns="0" bIns="0" rtlCol="0" anchor="t"/>
          <a:lstStyle/>
          <a:p>
            <a:pPr indent="0" marL="0">
              <a:buNone/>
            </a:pPr>
            <a:r>
              <a:rPr lang="en-US" sz="1200" dirty="0">
                <a:solidFill>
                  <a:srgbClr val="B7CDB6"/>
                </a:solidFill>
                <a:latin typeface="Calibri" pitchFamily="34" charset="0"/>
                <a:ea typeface="Calibri" pitchFamily="34" charset="-122"/>
                <a:cs typeface="Calibri" pitchFamily="34" charset="-120"/>
              </a:rPr>
              <a:t>or $249/year</a:t>
            </a:r>
            <a:endParaRPr lang="en-US" sz="1200" dirty="0"/>
          </a:p>
        </p:txBody>
      </p:sp>
      <p:sp>
        <p:nvSpPr>
          <p:cNvPr id="7" name="Shape 5"/>
          <p:cNvSpPr/>
          <p:nvPr/>
        </p:nvSpPr>
        <p:spPr>
          <a:xfrm>
            <a:off x="457200" y="251460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640080" y="2606040"/>
            <a:ext cx="2505456" cy="475488"/>
          </a:xfrm>
          <a:prstGeom prst="rect">
            <a:avLst/>
          </a:prstGeom>
          <a:noFill/>
          <a:ln/>
        </p:spPr>
        <p:txBody>
          <a:bodyPr wrap="square" lIns="0" tIns="0" rIns="0" bIns="0" rtlCol="0" anchor="ctr"/>
          <a:lstStyle/>
          <a:p>
            <a:pPr indent="0" marL="0">
              <a:buNone/>
            </a:pPr>
            <a:r>
              <a:rPr lang="en-US" sz="2600" b="1" dirty="0">
                <a:solidFill>
                  <a:srgbClr val="143D28"/>
                </a:solidFill>
                <a:latin typeface="Cambria" pitchFamily="34" charset="0"/>
                <a:ea typeface="Cambria" pitchFamily="34" charset="-122"/>
                <a:cs typeface="Cambria" pitchFamily="34" charset="-120"/>
              </a:rPr>
              <a:t>~15</a:t>
            </a:r>
            <a:endParaRPr lang="en-US" sz="2600" dirty="0"/>
          </a:p>
        </p:txBody>
      </p:sp>
      <p:sp>
        <p:nvSpPr>
          <p:cNvPr id="9" name="Text 7"/>
          <p:cNvSpPr txBox="1"/>
          <p:nvPr/>
        </p:nvSpPr>
        <p:spPr>
          <a:xfrm>
            <a:off x="640080" y="309981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trial users so far</a:t>
            </a:r>
            <a:endParaRPr lang="en-US" sz="1200" dirty="0"/>
          </a:p>
        </p:txBody>
      </p:sp>
      <p:sp>
        <p:nvSpPr>
          <p:cNvPr id="10" name="Shape 8"/>
          <p:cNvSpPr/>
          <p:nvPr/>
        </p:nvSpPr>
        <p:spPr>
          <a:xfrm>
            <a:off x="457200" y="361188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40080" y="3703320"/>
            <a:ext cx="2505456" cy="475488"/>
          </a:xfrm>
          <a:prstGeom prst="rect">
            <a:avLst/>
          </a:prstGeom>
          <a:noFill/>
          <a:ln/>
        </p:spPr>
        <p:txBody>
          <a:bodyPr wrap="square" lIns="0" tIns="0" rIns="0" bIns="0" rtlCol="0" anchor="ctr"/>
          <a:lstStyle/>
          <a:p>
            <a:pPr indent="0" marL="0">
              <a:buNone/>
            </a:pPr>
            <a:r>
              <a:rPr lang="en-US" sz="2200" b="1" dirty="0">
                <a:solidFill>
                  <a:srgbClr val="143D28"/>
                </a:solidFill>
                <a:latin typeface="Cambria" pitchFamily="34" charset="0"/>
                <a:ea typeface="Cambria" pitchFamily="34" charset="-122"/>
                <a:cs typeface="Cambria" pitchFamily="34" charset="-120"/>
              </a:rPr>
              <a:t>3 platforms</a:t>
            </a:r>
            <a:endParaRPr lang="en-US" sz="2200" dirty="0"/>
          </a:p>
        </p:txBody>
      </p:sp>
      <p:sp>
        <p:nvSpPr>
          <p:cNvPr id="12" name="Text 10"/>
          <p:cNvSpPr txBox="1"/>
          <p:nvPr/>
        </p:nvSpPr>
        <p:spPr>
          <a:xfrm>
            <a:off x="640080" y="419709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iOS, Android and web</a:t>
            </a:r>
            <a:endParaRPr lang="en-US" sz="1200" dirty="0"/>
          </a:p>
        </p:txBody>
      </p:sp>
      <p:sp>
        <p:nvSpPr>
          <p:cNvPr id="13" name="Shape 11"/>
          <p:cNvSpPr/>
          <p:nvPr/>
        </p:nvSpPr>
        <p:spPr>
          <a:xfrm>
            <a:off x="3566160" y="1417320"/>
            <a:ext cx="5120640" cy="3200400"/>
          </a:xfrm>
          <a:prstGeom prst="roundRect">
            <a:avLst>
              <a:gd name="adj" fmla="val 228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3840480" y="1572768"/>
            <a:ext cx="466344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How reps practice</a:t>
            </a:r>
            <a:endParaRPr lang="en-US" sz="1300" dirty="0"/>
          </a:p>
        </p:txBody>
      </p:sp>
      <p:sp>
        <p:nvSpPr>
          <p:cNvPr id="15" name="Text 13"/>
          <p:cNvSpPr txBox="1"/>
          <p:nvPr/>
        </p:nvSpPr>
        <p:spPr>
          <a:xfrm>
            <a:off x="3840480" y="1901952"/>
            <a:ext cx="4709160" cy="2194560"/>
          </a:xfrm>
          <a:prstGeom prst="rect">
            <a:avLst/>
          </a:prstGeom>
          <a:noFill/>
          <a:ln/>
        </p:spPr>
        <p:txBody>
          <a:bodyPr wrap="square" lIns="0" tIns="0" rIns="0" bIns="0" rtlCol="0" anchor="t"/>
          <a:lstStyle/>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Talk out loud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to a voice AI prospect that reacts to how you sell</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Two drills: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discovery questions and handling objections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Three levels: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easy, medium and hard</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18+ prospects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across industries, from roofing to software</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Score real calls: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record live, upload a recording or paste a transcript</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AI coach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grades every session and says what to fix next</a:t>
            </a:r>
            <a:endParaRPr lang="en-US" sz="1300" dirty="0"/>
          </a:p>
        </p:txBody>
      </p:sp>
      <p:sp>
        <p:nvSpPr>
          <p:cNvPr id="16" name="Text 14"/>
          <p:cNvSpPr txBox="1"/>
          <p:nvPr/>
        </p:nvSpPr>
        <p:spPr>
          <a:xfrm>
            <a:off x="3840480" y="4160520"/>
            <a:ext cx="4709160" cy="365760"/>
          </a:xfrm>
          <a:prstGeom prst="rect">
            <a:avLst/>
          </a:prstGeom>
          <a:noFill/>
          <a:ln/>
        </p:spPr>
        <p:txBody>
          <a:bodyPr wrap="square" lIns="0" tIns="0" rIns="0" bIns="0" rtlCol="0" anchor="t"/>
          <a:lstStyle/>
          <a:p>
            <a:pPr indent="0" marL="0">
              <a:buNone/>
            </a:pPr>
            <a:r>
              <a:rPr lang="en-US" sz="1250" i="1" dirty="0">
                <a:solidFill>
                  <a:srgbClr val="143D28"/>
                </a:solidFill>
                <a:latin typeface="Cambria" pitchFamily="34" charset="0"/>
                <a:ea typeface="Cambria" pitchFamily="34" charset="-122"/>
                <a:cs typeface="Cambria" pitchFamily="34" charset="-120"/>
              </a:rPr>
              <a:t>Built on the founder's 40+ years in sales.</a:t>
            </a:r>
            <a:endParaRPr lang="en-US" sz="1250" dirty="0"/>
          </a:p>
        </p:txBody>
      </p:sp>
      <p:sp>
        <p:nvSpPr>
          <p:cNvPr id="18" name="Text 1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9" name="Text 1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7 / 27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Ready Room  ·  inside the app</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Pick a prospect, pick a drill, start selling</a:t>
            </a:r>
            <a:endParaRPr lang="en-US" sz="2600" dirty="0"/>
          </a:p>
        </p:txBody>
      </p:sp>
      <p:sp>
        <p:nvSpPr>
          <p:cNvPr id="4" name="Shape 2"/>
          <p:cNvSpPr/>
          <p:nvPr/>
        </p:nvSpPr>
        <p:spPr>
          <a:xfrm>
            <a:off x="429768" y="1389888"/>
            <a:ext cx="5541264" cy="3246120"/>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5" name="Image 0" descr="preencoded.png">    </p:cNvPr>
          <p:cNvPicPr>
            <a:picLocks noChangeAspect="1"/>
          </p:cNvPicPr>
          <p:nvPr/>
        </p:nvPicPr>
        <p:blipFill>
          <a:blip r:embed="rId1"/>
          <a:stretch>
            <a:fillRect/>
          </a:stretch>
        </p:blipFill>
        <p:spPr>
          <a:xfrm>
            <a:off x="457200" y="1417320"/>
            <a:ext cx="5486400" cy="3191256"/>
          </a:xfrm>
          <a:prstGeom prst="rect">
            <a:avLst/>
          </a:prstGeom>
        </p:spPr>
      </p:pic>
      <p:sp>
        <p:nvSpPr>
          <p:cNvPr id="6" name="Shape 3"/>
          <p:cNvSpPr/>
          <p:nvPr/>
        </p:nvSpPr>
        <p:spPr>
          <a:xfrm>
            <a:off x="6217920" y="1463040"/>
            <a:ext cx="329184" cy="329184"/>
          </a:xfrm>
          <a:prstGeom prst="ellipse">
            <a:avLst/>
          </a:prstGeom>
          <a:solidFill>
            <a:srgbClr val="D98B3C"/>
          </a:solidFill>
          <a:ln w="12700">
            <a:solidFill>
              <a:srgbClr val="D98B3C"/>
            </a:solidFill>
            <a:prstDash val="solid"/>
          </a:ln>
        </p:spPr>
      </p:sp>
      <p:sp>
        <p:nvSpPr>
          <p:cNvPr id="7" name="Text 4"/>
          <p:cNvSpPr txBox="1"/>
          <p:nvPr/>
        </p:nvSpPr>
        <p:spPr>
          <a:xfrm>
            <a:off x="6217920" y="14630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6675120" y="145389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Choose a drill</a:t>
            </a:r>
            <a:endParaRPr lang="en-US" sz="1400" dirty="0"/>
          </a:p>
        </p:txBody>
      </p:sp>
      <p:sp>
        <p:nvSpPr>
          <p:cNvPr id="9" name="Text 6"/>
          <p:cNvSpPr txBox="1"/>
          <p:nvPr/>
        </p:nvSpPr>
        <p:spPr>
          <a:xfrm>
            <a:off x="6675120" y="1737360"/>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Discovery or objections.</a:t>
            </a:r>
            <a:endParaRPr lang="en-US" sz="1250" dirty="0"/>
          </a:p>
        </p:txBody>
      </p:sp>
      <p:sp>
        <p:nvSpPr>
          <p:cNvPr id="10" name="Shape 7"/>
          <p:cNvSpPr/>
          <p:nvPr/>
        </p:nvSpPr>
        <p:spPr>
          <a:xfrm>
            <a:off x="6217920" y="2249424"/>
            <a:ext cx="329184" cy="329184"/>
          </a:xfrm>
          <a:prstGeom prst="ellipse">
            <a:avLst/>
          </a:prstGeom>
          <a:solidFill>
            <a:srgbClr val="D98B3C"/>
          </a:solidFill>
          <a:ln w="12700">
            <a:solidFill>
              <a:srgbClr val="D98B3C"/>
            </a:solidFill>
            <a:prstDash val="solid"/>
          </a:ln>
        </p:spPr>
      </p:sp>
      <p:sp>
        <p:nvSpPr>
          <p:cNvPr id="11" name="Text 8"/>
          <p:cNvSpPr txBox="1"/>
          <p:nvPr/>
        </p:nvSpPr>
        <p:spPr>
          <a:xfrm>
            <a:off x="6217920" y="22494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6675120" y="2240280"/>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Set the difficulty</a:t>
            </a:r>
            <a:endParaRPr lang="en-US" sz="1400" dirty="0"/>
          </a:p>
        </p:txBody>
      </p:sp>
      <p:sp>
        <p:nvSpPr>
          <p:cNvPr id="13" name="Text 10"/>
          <p:cNvSpPr txBox="1"/>
          <p:nvPr/>
        </p:nvSpPr>
        <p:spPr>
          <a:xfrm>
            <a:off x="6675120" y="2523744"/>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Easy, medium or hard.</a:t>
            </a:r>
            <a:endParaRPr lang="en-US" sz="1250" dirty="0"/>
          </a:p>
        </p:txBody>
      </p:sp>
      <p:sp>
        <p:nvSpPr>
          <p:cNvPr id="14" name="Shape 11"/>
          <p:cNvSpPr/>
          <p:nvPr/>
        </p:nvSpPr>
        <p:spPr>
          <a:xfrm>
            <a:off x="6217920" y="3035808"/>
            <a:ext cx="329184" cy="329184"/>
          </a:xfrm>
          <a:prstGeom prst="ellipse">
            <a:avLst/>
          </a:prstGeom>
          <a:solidFill>
            <a:srgbClr val="D98B3C"/>
          </a:solidFill>
          <a:ln w="12700">
            <a:solidFill>
              <a:srgbClr val="D98B3C"/>
            </a:solidFill>
            <a:prstDash val="solid"/>
          </a:ln>
        </p:spPr>
      </p:sp>
      <p:sp>
        <p:nvSpPr>
          <p:cNvPr id="15" name="Text 12"/>
          <p:cNvSpPr txBox="1"/>
          <p:nvPr/>
        </p:nvSpPr>
        <p:spPr>
          <a:xfrm>
            <a:off x="6217920" y="30358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675120" y="3026664"/>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Pick a prospect</a:t>
            </a:r>
            <a:endParaRPr lang="en-US" sz="1400" dirty="0"/>
          </a:p>
        </p:txBody>
      </p:sp>
      <p:sp>
        <p:nvSpPr>
          <p:cNvPr id="17" name="Text 14"/>
          <p:cNvSpPr txBox="1"/>
          <p:nvPr/>
        </p:nvSpPr>
        <p:spPr>
          <a:xfrm>
            <a:off x="6675120" y="3310128"/>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18+ industries, each with a realistic AI buyer.</a:t>
            </a:r>
            <a:endParaRPr lang="en-US" sz="1250" dirty="0"/>
          </a:p>
        </p:txBody>
      </p:sp>
      <p:sp>
        <p:nvSpPr>
          <p:cNvPr id="18" name="Shape 15"/>
          <p:cNvSpPr/>
          <p:nvPr/>
        </p:nvSpPr>
        <p:spPr>
          <a:xfrm>
            <a:off x="6217920" y="3822192"/>
            <a:ext cx="329184" cy="329184"/>
          </a:xfrm>
          <a:prstGeom prst="ellipse">
            <a:avLst/>
          </a:prstGeom>
          <a:solidFill>
            <a:srgbClr val="D98B3C"/>
          </a:solidFill>
          <a:ln w="12700">
            <a:solidFill>
              <a:srgbClr val="D98B3C"/>
            </a:solidFill>
            <a:prstDash val="solid"/>
          </a:ln>
        </p:spPr>
      </p:sp>
      <p:sp>
        <p:nvSpPr>
          <p:cNvPr id="19" name="Text 16"/>
          <p:cNvSpPr txBox="1"/>
          <p:nvPr/>
        </p:nvSpPr>
        <p:spPr>
          <a:xfrm>
            <a:off x="6217920" y="38221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7"/>
          <p:cNvSpPr txBox="1"/>
          <p:nvPr/>
        </p:nvSpPr>
        <p:spPr>
          <a:xfrm>
            <a:off x="6675120" y="3813048"/>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Get scored</a:t>
            </a:r>
            <a:endParaRPr lang="en-US" sz="1400" dirty="0"/>
          </a:p>
        </p:txBody>
      </p:sp>
      <p:sp>
        <p:nvSpPr>
          <p:cNvPr id="21" name="Text 18"/>
          <p:cNvSpPr txBox="1"/>
          <p:nvPr/>
        </p:nvSpPr>
        <p:spPr>
          <a:xfrm>
            <a:off x="6675120" y="4096512"/>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An AI coach grades every call, including real calls you upload.</a:t>
            </a:r>
            <a:endParaRPr lang="en-US" sz="1250" dirty="0"/>
          </a:p>
        </p:txBody>
      </p:sp>
      <p:sp>
        <p:nvSpPr>
          <p:cNvPr id="23" name="Text 19"/>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4" name="Text 20"/>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8 / 27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AppForge</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AppForge: our in-house app factory</a:t>
            </a:r>
            <a:endParaRPr lang="en-US" sz="2600" dirty="0"/>
          </a:p>
        </p:txBody>
      </p:sp>
      <p:sp>
        <p:nvSpPr>
          <p:cNvPr id="4" name="Text 2"/>
          <p:cNvSpPr txBox="1"/>
          <p:nvPr/>
        </p:nvSpPr>
        <p:spPr>
          <a:xfrm>
            <a:off x="457200" y="1188720"/>
            <a:ext cx="8229600" cy="548640"/>
          </a:xfrm>
          <a:prstGeom prst="rect">
            <a:avLst/>
          </a:prstGeom>
          <a:noFill/>
          <a:ln/>
        </p:spPr>
        <p:txBody>
          <a:bodyPr wrap="square" lIns="0" tIns="0" rIns="0" bIns="0" rtlCol="0" anchor="t"/>
          <a:lstStyle/>
          <a:p>
            <a:pPr indent="0" marL="0">
              <a:buNone/>
            </a:pPr>
            <a:r>
              <a:rPr lang="en-US" sz="1400" dirty="0">
                <a:solidFill>
                  <a:srgbClr val="F4EBD5"/>
                </a:solidFill>
                <a:latin typeface="Calibri" pitchFamily="34" charset="0"/>
                <a:ea typeface="Calibri" pitchFamily="34" charset="-122"/>
                <a:cs typeface="Calibri" pitchFamily="34" charset="-120"/>
              </a:rPr>
              <a:t>One system that takes us from market research to a finished, marketed app. It's internal only: our competitive edge, not a product we sell.</a:t>
            </a:r>
            <a:endParaRPr lang="en-US" sz="1400" dirty="0"/>
          </a:p>
        </p:txBody>
      </p:sp>
      <p:sp>
        <p:nvSpPr>
          <p:cNvPr id="5" name="Shape 3"/>
          <p:cNvSpPr/>
          <p:nvPr/>
        </p:nvSpPr>
        <p:spPr>
          <a:xfrm>
            <a:off x="457200" y="1874520"/>
            <a:ext cx="1920240" cy="2743200"/>
          </a:xfrm>
          <a:prstGeom prst="roundRect">
            <a:avLst>
              <a:gd name="adj" fmla="val 3810"/>
            </a:avLst>
          </a:prstGeom>
          <a:solidFill>
            <a:srgbClr val="1E5238"/>
          </a:solidFill>
          <a:ln w="12700">
            <a:solidFill>
              <a:srgbClr val="1E5238"/>
            </a:solidFill>
            <a:prstDash val="solid"/>
          </a:ln>
        </p:spPr>
      </p:sp>
      <p:sp>
        <p:nvSpPr>
          <p:cNvPr id="6" name="Shape 4"/>
          <p:cNvSpPr/>
          <p:nvPr/>
        </p:nvSpPr>
        <p:spPr>
          <a:xfrm>
            <a:off x="640080" y="2029968"/>
            <a:ext cx="548640" cy="548640"/>
          </a:xfrm>
          <a:prstGeom prst="ellipse">
            <a:avLst/>
          </a:prstGeom>
          <a:solidFill>
            <a:srgbClr val="1E5238"/>
          </a:solidFill>
          <a:ln w="19050">
            <a:solidFill>
              <a:srgbClr val="D98B3C"/>
            </a:solidFill>
            <a:prstDash val="solid"/>
          </a:ln>
        </p:spPr>
      </p:sp>
      <p:pic>
        <p:nvPicPr>
          <p:cNvPr id="7" name="Image 0" descr="preencoded.png">    </p:cNvPr>
          <p:cNvPicPr>
            <a:picLocks noChangeAspect="1"/>
          </p:cNvPicPr>
          <p:nvPr/>
        </p:nvPicPr>
        <p:blipFill>
          <a:blip r:embed="rId1"/>
          <a:stretch>
            <a:fillRect/>
          </a:stretch>
        </p:blipFill>
        <p:spPr>
          <a:xfrm>
            <a:off x="782726" y="2172614"/>
            <a:ext cx="263347" cy="263347"/>
          </a:xfrm>
          <a:prstGeom prst="rect">
            <a:avLst/>
          </a:prstGeom>
        </p:spPr>
      </p:pic>
      <p:sp>
        <p:nvSpPr>
          <p:cNvPr id="8" name="Text 5"/>
          <p:cNvSpPr txBox="1"/>
          <p:nvPr/>
        </p:nvSpPr>
        <p:spPr>
          <a:xfrm>
            <a:off x="64008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1  Know</a:t>
            </a:r>
            <a:endParaRPr lang="en-US" sz="1600" dirty="0"/>
          </a:p>
        </p:txBody>
      </p:sp>
      <p:sp>
        <p:nvSpPr>
          <p:cNvPr id="9" name="Text 6"/>
          <p:cNvSpPr txBox="1"/>
          <p:nvPr/>
        </p:nvSpPr>
        <p:spPr>
          <a:xfrm>
            <a:off x="64008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Learns the business, audience and goals</a:t>
            </a:r>
            <a:endParaRPr lang="en-US" sz="1250" dirty="0"/>
          </a:p>
        </p:txBody>
      </p:sp>
      <p:sp>
        <p:nvSpPr>
          <p:cNvPr id="10" name="Text 7"/>
          <p:cNvSpPr txBox="1"/>
          <p:nvPr/>
        </p:nvSpPr>
        <p:spPr>
          <a:xfrm>
            <a:off x="64008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Brain · Chief of Staff</a:t>
            </a:r>
            <a:endParaRPr lang="en-US" sz="1100" dirty="0"/>
          </a:p>
        </p:txBody>
      </p:sp>
      <p:sp>
        <p:nvSpPr>
          <p:cNvPr id="11" name="Text 8"/>
          <p:cNvSpPr txBox="1"/>
          <p:nvPr/>
        </p:nvSpPr>
        <p:spPr>
          <a:xfrm>
            <a:off x="2359152" y="3017520"/>
            <a:ext cx="219456" cy="365760"/>
          </a:xfrm>
          <a:prstGeom prst="rect">
            <a:avLst/>
          </a:prstGeom>
          <a:noFill/>
          <a:ln/>
        </p:spPr>
        <p:txBody>
          <a:bodyPr wrap="square" lIns="0" tIns="0" rIns="0" bIns="0" rtlCol="0" anchor="t"/>
          <a:lstStyle/>
          <a:p>
            <a:pPr algn="ctr" indent="0" marL="0">
              <a:buNone/>
            </a:pPr>
            <a:r>
              <a:rPr lang="en-US" sz="2200" dirty="0">
                <a:solidFill>
                  <a:srgbClr val="D98B3C"/>
                </a:solidFill>
                <a:latin typeface="Calibri" pitchFamily="34" charset="0"/>
                <a:ea typeface="Calibri" pitchFamily="34" charset="-122"/>
                <a:cs typeface="Calibri" pitchFamily="34" charset="-120"/>
              </a:rPr>
              <a:t>›</a:t>
            </a:r>
            <a:endParaRPr lang="en-US" sz="2200" dirty="0"/>
          </a:p>
        </p:txBody>
      </p:sp>
      <p:sp>
        <p:nvSpPr>
          <p:cNvPr id="12" name="Shape 9"/>
          <p:cNvSpPr/>
          <p:nvPr/>
        </p:nvSpPr>
        <p:spPr>
          <a:xfrm>
            <a:off x="2560320" y="1874520"/>
            <a:ext cx="1920240" cy="2743200"/>
          </a:xfrm>
          <a:prstGeom prst="roundRect">
            <a:avLst>
              <a:gd name="adj" fmla="val 3810"/>
            </a:avLst>
          </a:prstGeom>
          <a:solidFill>
            <a:srgbClr val="1E5238"/>
          </a:solidFill>
          <a:ln w="12700">
            <a:solidFill>
              <a:srgbClr val="1E5238"/>
            </a:solidFill>
            <a:prstDash val="solid"/>
          </a:ln>
        </p:spPr>
      </p:sp>
      <p:sp>
        <p:nvSpPr>
          <p:cNvPr id="13" name="Shape 10"/>
          <p:cNvSpPr/>
          <p:nvPr/>
        </p:nvSpPr>
        <p:spPr>
          <a:xfrm>
            <a:off x="2743200" y="2029968"/>
            <a:ext cx="548640" cy="548640"/>
          </a:xfrm>
          <a:prstGeom prst="ellipse">
            <a:avLst/>
          </a:prstGeom>
          <a:solidFill>
            <a:srgbClr val="1E5238"/>
          </a:solidFill>
          <a:ln w="19050">
            <a:solidFill>
              <a:srgbClr val="D98B3C"/>
            </a:solidFill>
            <a:prstDash val="solid"/>
          </a:ln>
        </p:spPr>
      </p:sp>
      <p:pic>
        <p:nvPicPr>
          <p:cNvPr id="14" name="Image 1" descr="preencoded.png">    </p:cNvPr>
          <p:cNvPicPr>
            <a:picLocks noChangeAspect="1"/>
          </p:cNvPicPr>
          <p:nvPr/>
        </p:nvPicPr>
        <p:blipFill>
          <a:blip r:embed="rId2"/>
          <a:stretch>
            <a:fillRect/>
          </a:stretch>
        </p:blipFill>
        <p:spPr>
          <a:xfrm>
            <a:off x="2885846" y="2172614"/>
            <a:ext cx="263347" cy="263347"/>
          </a:xfrm>
          <a:prstGeom prst="rect">
            <a:avLst/>
          </a:prstGeom>
        </p:spPr>
      </p:pic>
      <p:sp>
        <p:nvSpPr>
          <p:cNvPr id="15" name="Text 11"/>
          <p:cNvSpPr txBox="1"/>
          <p:nvPr/>
        </p:nvSpPr>
        <p:spPr>
          <a:xfrm>
            <a:off x="274320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2  Find</a:t>
            </a:r>
            <a:endParaRPr lang="en-US" sz="1600" dirty="0"/>
          </a:p>
        </p:txBody>
      </p:sp>
      <p:sp>
        <p:nvSpPr>
          <p:cNvPr id="16" name="Text 12"/>
          <p:cNvSpPr txBox="1"/>
          <p:nvPr/>
        </p:nvSpPr>
        <p:spPr>
          <a:xfrm>
            <a:off x="274320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Finds proven app ideas with real demand</a:t>
            </a:r>
            <a:endParaRPr lang="en-US" sz="1250" dirty="0"/>
          </a:p>
        </p:txBody>
      </p:sp>
      <p:sp>
        <p:nvSpPr>
          <p:cNvPr id="17" name="Text 13"/>
          <p:cNvSpPr txBox="1"/>
          <p:nvPr/>
        </p:nvSpPr>
        <p:spPr>
          <a:xfrm>
            <a:off x="274320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Top 100 Apps · App Types · Opportunities · Market Analysis · Viability Scorer</a:t>
            </a:r>
            <a:endParaRPr lang="en-US" sz="1100" dirty="0"/>
          </a:p>
        </p:txBody>
      </p:sp>
      <p:sp>
        <p:nvSpPr>
          <p:cNvPr id="18" name="Text 14"/>
          <p:cNvSpPr txBox="1"/>
          <p:nvPr/>
        </p:nvSpPr>
        <p:spPr>
          <a:xfrm>
            <a:off x="4462272" y="3017520"/>
            <a:ext cx="219456" cy="365760"/>
          </a:xfrm>
          <a:prstGeom prst="rect">
            <a:avLst/>
          </a:prstGeom>
          <a:noFill/>
          <a:ln/>
        </p:spPr>
        <p:txBody>
          <a:bodyPr wrap="square" lIns="0" tIns="0" rIns="0" bIns="0" rtlCol="0" anchor="t"/>
          <a:lstStyle/>
          <a:p>
            <a:pPr algn="ctr" indent="0" marL="0">
              <a:buNone/>
            </a:pPr>
            <a:r>
              <a:rPr lang="en-US" sz="2200" dirty="0">
                <a:solidFill>
                  <a:srgbClr val="D98B3C"/>
                </a:solidFill>
                <a:latin typeface="Calibri" pitchFamily="34" charset="0"/>
                <a:ea typeface="Calibri" pitchFamily="34" charset="-122"/>
                <a:cs typeface="Calibri" pitchFamily="34" charset="-120"/>
              </a:rPr>
              <a:t>›</a:t>
            </a:r>
            <a:endParaRPr lang="en-US" sz="2200" dirty="0"/>
          </a:p>
        </p:txBody>
      </p:sp>
      <p:sp>
        <p:nvSpPr>
          <p:cNvPr id="19" name="Shape 15"/>
          <p:cNvSpPr/>
          <p:nvPr/>
        </p:nvSpPr>
        <p:spPr>
          <a:xfrm>
            <a:off x="4663440" y="1874520"/>
            <a:ext cx="1920240" cy="2743200"/>
          </a:xfrm>
          <a:prstGeom prst="roundRect">
            <a:avLst>
              <a:gd name="adj" fmla="val 3810"/>
            </a:avLst>
          </a:prstGeom>
          <a:solidFill>
            <a:srgbClr val="1E5238"/>
          </a:solidFill>
          <a:ln w="12700">
            <a:solidFill>
              <a:srgbClr val="1E5238"/>
            </a:solidFill>
            <a:prstDash val="solid"/>
          </a:ln>
        </p:spPr>
      </p:sp>
      <p:sp>
        <p:nvSpPr>
          <p:cNvPr id="20" name="Shape 16"/>
          <p:cNvSpPr/>
          <p:nvPr/>
        </p:nvSpPr>
        <p:spPr>
          <a:xfrm>
            <a:off x="4846320" y="2029968"/>
            <a:ext cx="548640" cy="548640"/>
          </a:xfrm>
          <a:prstGeom prst="ellipse">
            <a:avLst/>
          </a:prstGeom>
          <a:solidFill>
            <a:srgbClr val="1E5238"/>
          </a:solidFill>
          <a:ln w="19050">
            <a:solidFill>
              <a:srgbClr val="D98B3C"/>
            </a:solidFill>
            <a:prstDash val="solid"/>
          </a:ln>
        </p:spPr>
      </p:sp>
      <p:pic>
        <p:nvPicPr>
          <p:cNvPr id="21" name="Image 2" descr="preencoded.png">    </p:cNvPr>
          <p:cNvPicPr>
            <a:picLocks noChangeAspect="1"/>
          </p:cNvPicPr>
          <p:nvPr/>
        </p:nvPicPr>
        <p:blipFill>
          <a:blip r:embed="rId3"/>
          <a:stretch>
            <a:fillRect/>
          </a:stretch>
        </p:blipFill>
        <p:spPr>
          <a:xfrm>
            <a:off x="4988966" y="2172614"/>
            <a:ext cx="263347" cy="263347"/>
          </a:xfrm>
          <a:prstGeom prst="rect">
            <a:avLst/>
          </a:prstGeom>
        </p:spPr>
      </p:pic>
      <p:sp>
        <p:nvSpPr>
          <p:cNvPr id="22" name="Text 17"/>
          <p:cNvSpPr txBox="1"/>
          <p:nvPr/>
        </p:nvSpPr>
        <p:spPr>
          <a:xfrm>
            <a:off x="484632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3  Build</a:t>
            </a:r>
            <a:endParaRPr lang="en-US" sz="1600" dirty="0"/>
          </a:p>
        </p:txBody>
      </p:sp>
      <p:sp>
        <p:nvSpPr>
          <p:cNvPr id="23" name="Text 18"/>
          <p:cNvSpPr txBox="1"/>
          <p:nvPr/>
        </p:nvSpPr>
        <p:spPr>
          <a:xfrm>
            <a:off x="484632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Plans the app and writes the code</a:t>
            </a:r>
            <a:endParaRPr lang="en-US" sz="1250" dirty="0"/>
          </a:p>
        </p:txBody>
      </p:sp>
      <p:sp>
        <p:nvSpPr>
          <p:cNvPr id="24" name="Text 19"/>
          <p:cNvSpPr txBox="1"/>
          <p:nvPr/>
        </p:nvSpPr>
        <p:spPr>
          <a:xfrm>
            <a:off x="484632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Projects · Tech Stack · Build · Store Listing</a:t>
            </a:r>
            <a:endParaRPr lang="en-US" sz="1100" dirty="0"/>
          </a:p>
        </p:txBody>
      </p:sp>
      <p:sp>
        <p:nvSpPr>
          <p:cNvPr id="25" name="Text 20"/>
          <p:cNvSpPr txBox="1"/>
          <p:nvPr/>
        </p:nvSpPr>
        <p:spPr>
          <a:xfrm>
            <a:off x="6565392" y="3017520"/>
            <a:ext cx="219456" cy="365760"/>
          </a:xfrm>
          <a:prstGeom prst="rect">
            <a:avLst/>
          </a:prstGeom>
          <a:noFill/>
          <a:ln/>
        </p:spPr>
        <p:txBody>
          <a:bodyPr wrap="square" lIns="0" tIns="0" rIns="0" bIns="0" rtlCol="0" anchor="t"/>
          <a:lstStyle/>
          <a:p>
            <a:pPr algn="ctr" indent="0" marL="0">
              <a:buNone/>
            </a:pPr>
            <a:r>
              <a:rPr lang="en-US" sz="2200" dirty="0">
                <a:solidFill>
                  <a:srgbClr val="D98B3C"/>
                </a:solidFill>
                <a:latin typeface="Calibri" pitchFamily="34" charset="0"/>
                <a:ea typeface="Calibri" pitchFamily="34" charset="-122"/>
                <a:cs typeface="Calibri" pitchFamily="34" charset="-120"/>
              </a:rPr>
              <a:t>›</a:t>
            </a:r>
            <a:endParaRPr lang="en-US" sz="2200" dirty="0"/>
          </a:p>
        </p:txBody>
      </p:sp>
      <p:sp>
        <p:nvSpPr>
          <p:cNvPr id="26" name="Shape 21"/>
          <p:cNvSpPr/>
          <p:nvPr/>
        </p:nvSpPr>
        <p:spPr>
          <a:xfrm>
            <a:off x="6766560" y="1874520"/>
            <a:ext cx="1920240" cy="2743200"/>
          </a:xfrm>
          <a:prstGeom prst="roundRect">
            <a:avLst>
              <a:gd name="adj" fmla="val 3810"/>
            </a:avLst>
          </a:prstGeom>
          <a:solidFill>
            <a:srgbClr val="1E5238"/>
          </a:solidFill>
          <a:ln w="12700">
            <a:solidFill>
              <a:srgbClr val="1E5238"/>
            </a:solidFill>
            <a:prstDash val="solid"/>
          </a:ln>
        </p:spPr>
      </p:sp>
      <p:sp>
        <p:nvSpPr>
          <p:cNvPr id="27" name="Shape 22"/>
          <p:cNvSpPr/>
          <p:nvPr/>
        </p:nvSpPr>
        <p:spPr>
          <a:xfrm>
            <a:off x="6949440" y="2029968"/>
            <a:ext cx="548640" cy="548640"/>
          </a:xfrm>
          <a:prstGeom prst="ellipse">
            <a:avLst/>
          </a:prstGeom>
          <a:solidFill>
            <a:srgbClr val="1E5238"/>
          </a:solidFill>
          <a:ln w="19050">
            <a:solidFill>
              <a:srgbClr val="D98B3C"/>
            </a:solidFill>
            <a:prstDash val="solid"/>
          </a:ln>
        </p:spPr>
      </p:sp>
      <p:pic>
        <p:nvPicPr>
          <p:cNvPr id="28" name="Image 3" descr="preencoded.png">    </p:cNvPr>
          <p:cNvPicPr>
            <a:picLocks noChangeAspect="1"/>
          </p:cNvPicPr>
          <p:nvPr/>
        </p:nvPicPr>
        <p:blipFill>
          <a:blip r:embed="rId4"/>
          <a:stretch>
            <a:fillRect/>
          </a:stretch>
        </p:blipFill>
        <p:spPr>
          <a:xfrm>
            <a:off x="7092086" y="2172614"/>
            <a:ext cx="263347" cy="263347"/>
          </a:xfrm>
          <a:prstGeom prst="rect">
            <a:avLst/>
          </a:prstGeom>
        </p:spPr>
      </p:pic>
      <p:sp>
        <p:nvSpPr>
          <p:cNvPr id="29" name="Text 23"/>
          <p:cNvSpPr txBox="1"/>
          <p:nvPr/>
        </p:nvSpPr>
        <p:spPr>
          <a:xfrm>
            <a:off x="694944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4  Market</a:t>
            </a:r>
            <a:endParaRPr lang="en-US" sz="1600" dirty="0"/>
          </a:p>
        </p:txBody>
      </p:sp>
      <p:sp>
        <p:nvSpPr>
          <p:cNvPr id="30" name="Text 24"/>
          <p:cNvSpPr txBox="1"/>
          <p:nvPr/>
        </p:nvSpPr>
        <p:spPr>
          <a:xfrm>
            <a:off x="694944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Builds a marketing funnel for each app</a:t>
            </a:r>
            <a:endParaRPr lang="en-US" sz="1250" dirty="0"/>
          </a:p>
        </p:txBody>
      </p:sp>
      <p:sp>
        <p:nvSpPr>
          <p:cNvPr id="31" name="Text 25"/>
          <p:cNvSpPr txBox="1"/>
          <p:nvPr/>
        </p:nvSpPr>
        <p:spPr>
          <a:xfrm>
            <a:off x="694944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Attractive Character · Framework Extractor · One-to-Many Emails, Social, Ads &amp; Presentations</a:t>
            </a:r>
            <a:endParaRPr lang="en-US" sz="1100" dirty="0"/>
          </a:p>
        </p:txBody>
      </p:sp>
      <p:sp>
        <p:nvSpPr>
          <p:cNvPr id="33" name="Text 2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34" name="Text 2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9 / 27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AppForge step 1: Know</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Brain and Chief of Staff: AppForge learns the business</a:t>
            </a:r>
            <a:endParaRPr lang="en-US" sz="2600" dirty="0"/>
          </a:p>
        </p:txBody>
      </p:sp>
      <p:sp>
        <p:nvSpPr>
          <p:cNvPr id="4" name="Shape 2"/>
          <p:cNvSpPr/>
          <p:nvPr/>
        </p:nvSpPr>
        <p:spPr>
          <a:xfrm>
            <a:off x="429768" y="1389888"/>
            <a:ext cx="4443984" cy="2798064"/>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5" name="Image 0" descr="preencoded.png">    </p:cNvPr>
          <p:cNvPicPr>
            <a:picLocks noChangeAspect="1"/>
          </p:cNvPicPr>
          <p:nvPr/>
        </p:nvPicPr>
        <p:blipFill>
          <a:blip r:embed="rId1"/>
          <a:stretch>
            <a:fillRect/>
          </a:stretch>
        </p:blipFill>
        <p:spPr>
          <a:xfrm>
            <a:off x="457200" y="1417320"/>
            <a:ext cx="4389120" cy="2743200"/>
          </a:xfrm>
          <a:prstGeom prst="rect">
            <a:avLst/>
          </a:prstGeom>
        </p:spPr>
      </p:pic>
      <p:sp>
        <p:nvSpPr>
          <p:cNvPr id="6" name="Text 3"/>
          <p:cNvSpPr txBox="1"/>
          <p:nvPr/>
        </p:nvSpPr>
        <p:spPr>
          <a:xfrm>
            <a:off x="457200" y="4297680"/>
            <a:ext cx="4389120" cy="27432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AppForge's Brain screen</a:t>
            </a:r>
            <a:endParaRPr lang="en-US" sz="1100" dirty="0"/>
          </a:p>
        </p:txBody>
      </p:sp>
      <p:sp>
        <p:nvSpPr>
          <p:cNvPr id="7" name="Text 4"/>
          <p:cNvSpPr txBox="1"/>
          <p:nvPr/>
        </p:nvSpPr>
        <p:spPr>
          <a:xfrm>
            <a:off x="5166360" y="1417320"/>
            <a:ext cx="3520440" cy="27432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Brain</a:t>
            </a:r>
            <a:endParaRPr lang="en-US" sz="1600" dirty="0"/>
          </a:p>
        </p:txBody>
      </p:sp>
      <p:sp>
        <p:nvSpPr>
          <p:cNvPr id="8" name="Text 5"/>
          <p:cNvSpPr txBox="1"/>
          <p:nvPr/>
        </p:nvSpPr>
        <p:spPr>
          <a:xfrm>
            <a:off x="5166360" y="1719072"/>
            <a:ext cx="3520440" cy="1371600"/>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Stores what the AI should know about the owner and business, in 7 areas: business, offers and products, audience, brand voice, story, goals and competitors. It's used to pick apps that fit the owner and to write marketing in their voice.</a:t>
            </a:r>
            <a:endParaRPr lang="en-US" sz="1250" dirty="0"/>
          </a:p>
        </p:txBody>
      </p:sp>
      <p:sp>
        <p:nvSpPr>
          <p:cNvPr id="9" name="Text 6"/>
          <p:cNvSpPr txBox="1"/>
          <p:nvPr/>
        </p:nvSpPr>
        <p:spPr>
          <a:xfrm>
            <a:off x="5166360" y="3108960"/>
            <a:ext cx="3520440" cy="27432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Chief of Staff</a:t>
            </a:r>
            <a:endParaRPr lang="en-US" sz="1600" dirty="0"/>
          </a:p>
        </p:txBody>
      </p:sp>
      <p:sp>
        <p:nvSpPr>
          <p:cNvPr id="10" name="Text 7"/>
          <p:cNvSpPr txBox="1"/>
          <p:nvPr/>
        </p:nvSpPr>
        <p:spPr>
          <a:xfrm>
            <a:off x="5166360" y="3410712"/>
            <a:ext cx="3520440" cy="1188720"/>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An AI business partner grounded in the Brain. Ask it a question, such as “I want to develop an app for…”, and it researches the answer and helps decide what to do next.</a:t>
            </a:r>
            <a:endParaRPr lang="en-US" sz="1250" dirty="0"/>
          </a:p>
        </p:txBody>
      </p:sp>
      <p:sp>
        <p:nvSpPr>
          <p:cNvPr id="12" name="Text 8"/>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3" name="Text 9"/>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10 / 27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AppForge step 2: Find</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Start from apps people already pay for</a:t>
            </a:r>
            <a:endParaRPr lang="en-US" sz="2600" dirty="0"/>
          </a:p>
        </p:txBody>
      </p:sp>
      <p:sp>
        <p:nvSpPr>
          <p:cNvPr id="4" name="Text 2"/>
          <p:cNvSpPr txBox="1"/>
          <p:nvPr/>
        </p:nvSpPr>
        <p:spPr>
          <a:xfrm>
            <a:off x="457200" y="1417320"/>
            <a:ext cx="3429000" cy="3200400"/>
          </a:xfrm>
          <a:prstGeom prst="rect">
            <a:avLst/>
          </a:prstGeom>
          <a:noFill/>
          <a:ln/>
        </p:spPr>
        <p:txBody>
          <a:bodyPr wrap="square" lIns="0" tIns="0" rIns="0" bIns="0" rtlCol="0" anchor="t"/>
          <a:lstStyle/>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Top 100 Apps Explorer: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ranks the top-grossing apps by category and how they make money (subscription, freemium, ads).</a:t>
            </a:r>
            <a:endParaRPr lang="en-US" sz="1250" dirty="0"/>
          </a:p>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Build a better version: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one click starts a new app from a proven idea, focused on a niche the big apps underserve.</a:t>
            </a:r>
            <a:endParaRPr lang="en-US" sz="1250" dirty="0"/>
          </a:p>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App Types &amp; Opportunities: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suggest specific, scored app ideas.</a:t>
            </a:r>
            <a:endParaRPr lang="en-US" sz="1250" dirty="0"/>
          </a:p>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Market Analysis &amp; Viability Scorer: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check demand, competition and fit before we build.</a:t>
            </a:r>
            <a:endParaRPr lang="en-US" sz="1250" dirty="0"/>
          </a:p>
        </p:txBody>
      </p:sp>
      <p:sp>
        <p:nvSpPr>
          <p:cNvPr id="5" name="Shape 3"/>
          <p:cNvSpPr/>
          <p:nvPr/>
        </p:nvSpPr>
        <p:spPr>
          <a:xfrm>
            <a:off x="4133088" y="1389888"/>
            <a:ext cx="4581144" cy="2880360"/>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6" name="Image 0" descr="preencoded.png">    </p:cNvPr>
          <p:cNvPicPr>
            <a:picLocks noChangeAspect="1"/>
          </p:cNvPicPr>
          <p:nvPr/>
        </p:nvPicPr>
        <p:blipFill>
          <a:blip r:embed="rId1"/>
          <a:stretch>
            <a:fillRect/>
          </a:stretch>
        </p:blipFill>
        <p:spPr>
          <a:xfrm>
            <a:off x="4160520" y="1417320"/>
            <a:ext cx="4526280" cy="2825496"/>
          </a:xfrm>
          <a:prstGeom prst="rect">
            <a:avLst/>
          </a:prstGeom>
        </p:spPr>
      </p:pic>
      <p:sp>
        <p:nvSpPr>
          <p:cNvPr id="7" name="Text 4"/>
          <p:cNvSpPr txBox="1"/>
          <p:nvPr/>
        </p:nvSpPr>
        <p:spPr>
          <a:xfrm>
            <a:off x="4160520" y="4343400"/>
            <a:ext cx="4526280" cy="27432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Top 100 Apps Explorer. Revenue ranges are AppForge's AI estimates.</a:t>
            </a:r>
            <a:endParaRPr lang="en-US" sz="1100" dirty="0"/>
          </a:p>
        </p:txBody>
      </p:sp>
      <p:sp>
        <p:nvSpPr>
          <p:cNvPr id="9" name="Text 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0" name="Text 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11 / 27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AppForge step 3: Build</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AppForge plans the app and writes the code</a:t>
            </a:r>
            <a:endParaRPr lang="en-US" sz="2600" dirty="0"/>
          </a:p>
        </p:txBody>
      </p:sp>
      <p:sp>
        <p:nvSpPr>
          <p:cNvPr id="4" name="Shape 2"/>
          <p:cNvSpPr/>
          <p:nvPr/>
        </p:nvSpPr>
        <p:spPr>
          <a:xfrm>
            <a:off x="457200" y="1417320"/>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58368" y="1673352"/>
            <a:ext cx="548640" cy="54864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1014" y="1815998"/>
            <a:ext cx="263347" cy="263347"/>
          </a:xfrm>
          <a:prstGeom prst="rect">
            <a:avLst/>
          </a:prstGeom>
        </p:spPr>
      </p:pic>
      <p:sp>
        <p:nvSpPr>
          <p:cNvPr id="7" name="Text 4"/>
          <p:cNvSpPr txBox="1"/>
          <p:nvPr/>
        </p:nvSpPr>
        <p:spPr>
          <a:xfrm>
            <a:off x="1371600" y="1600200"/>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Projects</a:t>
            </a:r>
            <a:endParaRPr lang="en-US" sz="1600" dirty="0"/>
          </a:p>
        </p:txBody>
      </p:sp>
      <p:sp>
        <p:nvSpPr>
          <p:cNvPr id="8" name="Text 5"/>
          <p:cNvSpPr txBox="1"/>
          <p:nvPr/>
        </p:nvSpPr>
        <p:spPr>
          <a:xfrm>
            <a:off x="1371600" y="1920240"/>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Each app gets its own workspace, plan and milestones.</a:t>
            </a:r>
            <a:endParaRPr lang="en-US" sz="1300" dirty="0"/>
          </a:p>
        </p:txBody>
      </p:sp>
      <p:sp>
        <p:nvSpPr>
          <p:cNvPr id="9" name="Shape 6"/>
          <p:cNvSpPr/>
          <p:nvPr/>
        </p:nvSpPr>
        <p:spPr>
          <a:xfrm>
            <a:off x="4663440" y="1417320"/>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864608" y="1673352"/>
            <a:ext cx="548640" cy="54864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07254" y="1815998"/>
            <a:ext cx="263347" cy="263347"/>
          </a:xfrm>
          <a:prstGeom prst="rect">
            <a:avLst/>
          </a:prstGeom>
        </p:spPr>
      </p:pic>
      <p:sp>
        <p:nvSpPr>
          <p:cNvPr id="12" name="Text 8"/>
          <p:cNvSpPr txBox="1"/>
          <p:nvPr/>
        </p:nvSpPr>
        <p:spPr>
          <a:xfrm>
            <a:off x="5577840" y="1600200"/>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Tech Stack</a:t>
            </a:r>
            <a:endParaRPr lang="en-US" sz="1600" dirty="0"/>
          </a:p>
        </p:txBody>
      </p:sp>
      <p:sp>
        <p:nvSpPr>
          <p:cNvPr id="13" name="Text 9"/>
          <p:cNvSpPr txBox="1"/>
          <p:nvPr/>
        </p:nvSpPr>
        <p:spPr>
          <a:xfrm>
            <a:off x="5577840" y="1920240"/>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Picks the technology, reusing our proven AI, voice and billing setup.</a:t>
            </a:r>
            <a:endParaRPr lang="en-US" sz="1300" dirty="0"/>
          </a:p>
        </p:txBody>
      </p:sp>
      <p:sp>
        <p:nvSpPr>
          <p:cNvPr id="14" name="Shape 10"/>
          <p:cNvSpPr/>
          <p:nvPr/>
        </p:nvSpPr>
        <p:spPr>
          <a:xfrm>
            <a:off x="457200" y="2624328"/>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58368" y="2880360"/>
            <a:ext cx="548640" cy="54864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801014" y="3023006"/>
            <a:ext cx="263347" cy="263347"/>
          </a:xfrm>
          <a:prstGeom prst="rect">
            <a:avLst/>
          </a:prstGeom>
        </p:spPr>
      </p:pic>
      <p:sp>
        <p:nvSpPr>
          <p:cNvPr id="17" name="Text 12"/>
          <p:cNvSpPr txBox="1"/>
          <p:nvPr/>
        </p:nvSpPr>
        <p:spPr>
          <a:xfrm>
            <a:off x="1371600" y="2807208"/>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Build</a:t>
            </a:r>
            <a:endParaRPr lang="en-US" sz="1600" dirty="0"/>
          </a:p>
        </p:txBody>
      </p:sp>
      <p:sp>
        <p:nvSpPr>
          <p:cNvPr id="18" name="Text 13"/>
          <p:cNvSpPr txBox="1"/>
          <p:nvPr/>
        </p:nvSpPr>
        <p:spPr>
          <a:xfrm>
            <a:off x="1371600" y="3127248"/>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Generates the working app code.</a:t>
            </a:r>
            <a:endParaRPr lang="en-US" sz="1300" dirty="0"/>
          </a:p>
        </p:txBody>
      </p:sp>
      <p:sp>
        <p:nvSpPr>
          <p:cNvPr id="19" name="Shape 14"/>
          <p:cNvSpPr/>
          <p:nvPr/>
        </p:nvSpPr>
        <p:spPr>
          <a:xfrm>
            <a:off x="4663440" y="2624328"/>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Shape 15"/>
          <p:cNvSpPr/>
          <p:nvPr/>
        </p:nvSpPr>
        <p:spPr>
          <a:xfrm>
            <a:off x="4864608" y="2880360"/>
            <a:ext cx="548640" cy="548640"/>
          </a:xfrm>
          <a:prstGeom prst="ellipse">
            <a:avLst/>
          </a:prstGeom>
          <a:solidFill>
            <a:srgbClr val="FFFFFF"/>
          </a:solidFill>
          <a:ln w="19050">
            <a:solidFill>
              <a:srgbClr val="D98B3C"/>
            </a:solidFill>
            <a:prstDash val="solid"/>
          </a:ln>
        </p:spPr>
      </p:sp>
      <p:pic>
        <p:nvPicPr>
          <p:cNvPr id="21" name="Image 3" descr="preencoded.png">    </p:cNvPr>
          <p:cNvPicPr>
            <a:picLocks noChangeAspect="1"/>
          </p:cNvPicPr>
          <p:nvPr/>
        </p:nvPicPr>
        <p:blipFill>
          <a:blip r:embed="rId4"/>
          <a:stretch>
            <a:fillRect/>
          </a:stretch>
        </p:blipFill>
        <p:spPr>
          <a:xfrm>
            <a:off x="5007254" y="3023006"/>
            <a:ext cx="263347" cy="263347"/>
          </a:xfrm>
          <a:prstGeom prst="rect">
            <a:avLst/>
          </a:prstGeom>
        </p:spPr>
      </p:pic>
      <p:sp>
        <p:nvSpPr>
          <p:cNvPr id="22" name="Text 16"/>
          <p:cNvSpPr txBox="1"/>
          <p:nvPr/>
        </p:nvSpPr>
        <p:spPr>
          <a:xfrm>
            <a:off x="5577840" y="2807208"/>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Store Listing</a:t>
            </a:r>
            <a:endParaRPr lang="en-US" sz="1600" dirty="0"/>
          </a:p>
        </p:txBody>
      </p:sp>
      <p:sp>
        <p:nvSpPr>
          <p:cNvPr id="23" name="Text 17"/>
          <p:cNvSpPr txBox="1"/>
          <p:nvPr/>
        </p:nvSpPr>
        <p:spPr>
          <a:xfrm>
            <a:off x="5577840" y="3127248"/>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Writes the App Store and Google Play listing.</a:t>
            </a:r>
            <a:endParaRPr lang="en-US" sz="1300" dirty="0"/>
          </a:p>
        </p:txBody>
      </p:sp>
      <p:sp>
        <p:nvSpPr>
          <p:cNvPr id="24" name="Shape 18"/>
          <p:cNvSpPr/>
          <p:nvPr/>
        </p:nvSpPr>
        <p:spPr>
          <a:xfrm>
            <a:off x="457200" y="3904488"/>
            <a:ext cx="8229600" cy="713232"/>
          </a:xfrm>
          <a:prstGeom prst="roundRect">
            <a:avLst>
              <a:gd name="adj" fmla="val 10256"/>
            </a:avLst>
          </a:prstGeom>
          <a:solidFill>
            <a:srgbClr val="ECE1C7"/>
          </a:solidFill>
          <a:ln w="12700">
            <a:solidFill>
              <a:srgbClr val="ECE1C7"/>
            </a:solidFill>
            <a:prstDash val="solid"/>
          </a:ln>
        </p:spPr>
      </p:sp>
      <p:sp>
        <p:nvSpPr>
          <p:cNvPr id="25" name="Text 19"/>
          <p:cNvSpPr txBox="1"/>
          <p:nvPr/>
        </p:nvSpPr>
        <p:spPr>
          <a:xfrm>
            <a:off x="685800" y="3950208"/>
            <a:ext cx="7772400" cy="621792"/>
          </a:xfrm>
          <a:prstGeom prst="rect">
            <a:avLst/>
          </a:prstGeom>
          <a:noFill/>
          <a:ln/>
        </p:spPr>
        <p:txBody>
          <a:bodyPr wrap="square" lIns="0" tIns="0" rIns="0" bIns="0" rtlCol="0" anchor="ctr"/>
          <a:lstStyle/>
          <a:p>
            <a:pPr indent="0" marL="0">
              <a:buNone/>
            </a:pPr>
            <a:r>
              <a:rPr lang="en-US" sz="1250" b="1" dirty="0">
                <a:solidFill>
                  <a:srgbClr val="143D28"/>
                </a:solidFill>
                <a:latin typeface="Calibri" pitchFamily="34" charset="0"/>
                <a:ea typeface="Calibri" pitchFamily="34" charset="-122"/>
                <a:cs typeface="Calibri" pitchFamily="34" charset="-120"/>
              </a:rPr>
              <a:t>Business HQ: </a:t>
            </a:r>
            <a:pPr indent="0" marL="0">
              <a:buNone/>
            </a:pPr>
            <a:r>
              <a:rPr lang="en-US" sz="1250" dirty="0">
                <a:solidFill>
                  <a:srgbClr val="143D28"/>
                </a:solidFill>
                <a:latin typeface="Calibri" pitchFamily="34" charset="0"/>
                <a:ea typeface="Calibri" pitchFamily="34" charset="-122"/>
                <a:cs typeface="Calibri" pitchFamily="34" charset="-120"/>
              </a:rPr>
              <a:t>every new app plugs into our shared operating system (dashboards, goals, key metrics, procedures and milestones), so one small team can run ten apps.</a:t>
            </a:r>
            <a:endParaRPr lang="en-US" sz="1250" dirty="0"/>
          </a:p>
        </p:txBody>
      </p:sp>
      <p:sp>
        <p:nvSpPr>
          <p:cNvPr id="27" name="Text 20"/>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8" name="Text 21"/>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12 / 27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AppForge step 4: Market</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ready-made marketing funnel for every app</a:t>
            </a:r>
            <a:endParaRPr lang="en-US" sz="2600" dirty="0"/>
          </a:p>
        </p:txBody>
      </p:sp>
      <p:sp>
        <p:nvSpPr>
          <p:cNvPr id="4" name="Shape 2"/>
          <p:cNvSpPr/>
          <p:nvPr/>
        </p:nvSpPr>
        <p:spPr>
          <a:xfrm>
            <a:off x="457200" y="1463040"/>
            <a:ext cx="3840480" cy="658368"/>
          </a:xfrm>
          <a:prstGeom prst="roundRect">
            <a:avLst>
              <a:gd name="adj" fmla="val 11111"/>
            </a:avLst>
          </a:prstGeom>
          <a:solidFill>
            <a:srgbClr val="143D28"/>
          </a:solidFill>
          <a:ln w="12700">
            <a:solidFill>
              <a:srgbClr val="143D28"/>
            </a:solidFill>
            <a:prstDash val="solid"/>
          </a:ln>
        </p:spPr>
      </p:sp>
      <p:sp>
        <p:nvSpPr>
          <p:cNvPr id="5" name="Text 3"/>
          <p:cNvSpPr txBox="1"/>
          <p:nvPr/>
        </p:nvSpPr>
        <p:spPr>
          <a:xfrm>
            <a:off x="457200" y="1517904"/>
            <a:ext cx="384048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Attract</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ads and social posts</a:t>
            </a:r>
            <a:endParaRPr lang="en-US" sz="1300" dirty="0"/>
          </a:p>
        </p:txBody>
      </p:sp>
      <p:sp>
        <p:nvSpPr>
          <p:cNvPr id="6" name="Shape 4"/>
          <p:cNvSpPr/>
          <p:nvPr/>
        </p:nvSpPr>
        <p:spPr>
          <a:xfrm>
            <a:off x="731520" y="2240280"/>
            <a:ext cx="3291840" cy="658368"/>
          </a:xfrm>
          <a:prstGeom prst="roundRect">
            <a:avLst>
              <a:gd name="adj" fmla="val 11111"/>
            </a:avLst>
          </a:prstGeom>
          <a:solidFill>
            <a:srgbClr val="1E5238"/>
          </a:solidFill>
          <a:ln w="12700">
            <a:solidFill>
              <a:srgbClr val="1E5238"/>
            </a:solidFill>
            <a:prstDash val="solid"/>
          </a:ln>
        </p:spPr>
      </p:sp>
      <p:sp>
        <p:nvSpPr>
          <p:cNvPr id="7" name="Text 5"/>
          <p:cNvSpPr txBox="1"/>
          <p:nvPr/>
        </p:nvSpPr>
        <p:spPr>
          <a:xfrm>
            <a:off x="731520" y="2295144"/>
            <a:ext cx="329184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Engage</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cold emails and presentations</a:t>
            </a:r>
            <a:endParaRPr lang="en-US" sz="1300" dirty="0"/>
          </a:p>
        </p:txBody>
      </p:sp>
      <p:sp>
        <p:nvSpPr>
          <p:cNvPr id="8" name="Shape 6"/>
          <p:cNvSpPr/>
          <p:nvPr/>
        </p:nvSpPr>
        <p:spPr>
          <a:xfrm>
            <a:off x="1005840" y="3017520"/>
            <a:ext cx="2743200" cy="658368"/>
          </a:xfrm>
          <a:prstGeom prst="roundRect">
            <a:avLst>
              <a:gd name="adj" fmla="val 11111"/>
            </a:avLst>
          </a:prstGeom>
          <a:solidFill>
            <a:srgbClr val="4F7F63"/>
          </a:solidFill>
          <a:ln w="12700">
            <a:solidFill>
              <a:srgbClr val="4F7F63"/>
            </a:solidFill>
            <a:prstDash val="solid"/>
          </a:ln>
        </p:spPr>
      </p:sp>
      <p:sp>
        <p:nvSpPr>
          <p:cNvPr id="9" name="Text 7"/>
          <p:cNvSpPr txBox="1"/>
          <p:nvPr/>
        </p:nvSpPr>
        <p:spPr>
          <a:xfrm>
            <a:off x="1005840" y="3072384"/>
            <a:ext cx="274320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Convert</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free trial</a:t>
            </a:r>
            <a:endParaRPr lang="en-US" sz="1300" dirty="0"/>
          </a:p>
        </p:txBody>
      </p:sp>
      <p:sp>
        <p:nvSpPr>
          <p:cNvPr id="10" name="Shape 8"/>
          <p:cNvSpPr/>
          <p:nvPr/>
        </p:nvSpPr>
        <p:spPr>
          <a:xfrm>
            <a:off x="1280160" y="3794760"/>
            <a:ext cx="2194560" cy="658368"/>
          </a:xfrm>
          <a:prstGeom prst="roundRect">
            <a:avLst>
              <a:gd name="adj" fmla="val 11111"/>
            </a:avLst>
          </a:prstGeom>
          <a:solidFill>
            <a:srgbClr val="D98B3C"/>
          </a:solidFill>
          <a:ln w="12700">
            <a:solidFill>
              <a:srgbClr val="D98B3C"/>
            </a:solidFill>
            <a:prstDash val="solid"/>
          </a:ln>
        </p:spPr>
      </p:sp>
      <p:sp>
        <p:nvSpPr>
          <p:cNvPr id="11" name="Text 9"/>
          <p:cNvSpPr txBox="1"/>
          <p:nvPr/>
        </p:nvSpPr>
        <p:spPr>
          <a:xfrm>
            <a:off x="1280160" y="3849624"/>
            <a:ext cx="219456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Subscribe</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monthly or annual plan</a:t>
            </a:r>
            <a:endParaRPr lang="en-US" sz="1300" dirty="0"/>
          </a:p>
        </p:txBody>
      </p:sp>
      <p:sp>
        <p:nvSpPr>
          <p:cNvPr id="12" name="Text 10"/>
          <p:cNvSpPr txBox="1"/>
          <p:nvPr/>
        </p:nvSpPr>
        <p:spPr>
          <a:xfrm>
            <a:off x="4572000" y="1417320"/>
            <a:ext cx="4114800" cy="2743200"/>
          </a:xfrm>
          <a:prstGeom prst="rect">
            <a:avLst/>
          </a:prstGeom>
          <a:noFill/>
          <a:ln/>
        </p:spPr>
        <p:txBody>
          <a:bodyPr wrap="square" lIns="0" tIns="0" rIns="0" bIns="0" rtlCol="0" anchor="t"/>
          <a:lstStyle/>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Attractive Character: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the brand persona and founder story behind the marketing</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Framework Extractor: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turns the owner's know-how into frameworks the content is built on</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One-to-Many Emails: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cold-email campaigns that bring in trial users</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One-to-Many Social &amp; Ads: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social posts and ad copy</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One-to-Many Presentations: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presentations that sell to many people at once</a:t>
            </a:r>
            <a:endParaRPr lang="en-US" sz="1250" dirty="0"/>
          </a:p>
        </p:txBody>
      </p:sp>
      <p:sp>
        <p:nvSpPr>
          <p:cNvPr id="13" name="Text 11"/>
          <p:cNvSpPr txBox="1"/>
          <p:nvPr/>
        </p:nvSpPr>
        <p:spPr>
          <a:xfrm>
            <a:off x="4572000" y="4297680"/>
            <a:ext cx="4114800" cy="292608"/>
          </a:xfrm>
          <a:prstGeom prst="rect">
            <a:avLst/>
          </a:prstGeom>
          <a:noFill/>
          <a:ln/>
        </p:spPr>
        <p:txBody>
          <a:bodyPr wrap="square" lIns="0" tIns="0" rIns="0" bIns="0" rtlCol="0" anchor="t"/>
          <a:lstStyle/>
          <a:p>
            <a:pPr indent="0" marL="0">
              <a:buNone/>
            </a:pPr>
            <a:r>
              <a:rPr lang="en-US" sz="1250" i="1" dirty="0">
                <a:solidFill>
                  <a:srgbClr val="143D28"/>
                </a:solidFill>
                <a:latin typeface="Calibri" pitchFamily="34" charset="0"/>
                <a:ea typeface="Calibri" pitchFamily="34" charset="-122"/>
                <a:cs typeface="Calibri" pitchFamily="34" charset="-120"/>
              </a:rPr>
              <a:t>All of it is written from the Brain, in the owner's voice.</a:t>
            </a:r>
            <a:endParaRPr lang="en-US" sz="1250" dirty="0"/>
          </a:p>
        </p:txBody>
      </p:sp>
      <p:sp>
        <p:nvSpPr>
          <p:cNvPr id="15" name="Text 12"/>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6" name="Text 13"/>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13 / 27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Why AppForge matters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Why AppForge matters to investors</a:t>
            </a:r>
            <a:endParaRPr lang="en-US" sz="2600" dirty="0"/>
          </a:p>
        </p:txBody>
      </p:sp>
      <p:sp>
        <p:nvSpPr>
          <p:cNvPr id="4" name="Shape 2"/>
          <p:cNvSpPr/>
          <p:nvPr/>
        </p:nvSpPr>
        <p:spPr>
          <a:xfrm>
            <a:off x="457200" y="1371600"/>
            <a:ext cx="4023360" cy="1051560"/>
          </a:xfrm>
          <a:prstGeom prst="roundRect">
            <a:avLst>
              <a:gd name="adj" fmla="val 6957"/>
            </a:avLst>
          </a:prstGeom>
          <a:solidFill>
            <a:srgbClr val="1E5238"/>
          </a:solidFill>
          <a:ln w="12700">
            <a:solidFill>
              <a:srgbClr val="1E5238"/>
            </a:solidFill>
            <a:prstDash val="solid"/>
          </a:ln>
        </p:spPr>
      </p:sp>
      <p:sp>
        <p:nvSpPr>
          <p:cNvPr id="5" name="Shape 3"/>
          <p:cNvSpPr/>
          <p:nvPr/>
        </p:nvSpPr>
        <p:spPr>
          <a:xfrm>
            <a:off x="658368" y="1618488"/>
            <a:ext cx="548640" cy="548640"/>
          </a:xfrm>
          <a:prstGeom prst="ellipse">
            <a:avLst/>
          </a:prstGeom>
          <a:solidFill>
            <a:srgbClr val="1E5238"/>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1014" y="1761134"/>
            <a:ext cx="263347" cy="263347"/>
          </a:xfrm>
          <a:prstGeom prst="rect">
            <a:avLst/>
          </a:prstGeom>
        </p:spPr>
      </p:pic>
      <p:sp>
        <p:nvSpPr>
          <p:cNvPr id="7" name="Text 4"/>
          <p:cNvSpPr txBox="1"/>
          <p:nvPr/>
        </p:nvSpPr>
        <p:spPr>
          <a:xfrm>
            <a:off x="1371600" y="153619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Less guesswork</a:t>
            </a:r>
            <a:endParaRPr lang="en-US" sz="1600" dirty="0"/>
          </a:p>
        </p:txBody>
      </p:sp>
      <p:sp>
        <p:nvSpPr>
          <p:cNvPr id="8" name="Text 5"/>
          <p:cNvSpPr txBox="1"/>
          <p:nvPr/>
        </p:nvSpPr>
        <p:spPr>
          <a:xfrm>
            <a:off x="1371600" y="184708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Every new app starts from proven demand and a viability score.</a:t>
            </a:r>
            <a:endParaRPr lang="en-US" sz="1300" dirty="0"/>
          </a:p>
        </p:txBody>
      </p:sp>
      <p:sp>
        <p:nvSpPr>
          <p:cNvPr id="9" name="Shape 6"/>
          <p:cNvSpPr/>
          <p:nvPr/>
        </p:nvSpPr>
        <p:spPr>
          <a:xfrm>
            <a:off x="4663440" y="1371600"/>
            <a:ext cx="4023360" cy="1051560"/>
          </a:xfrm>
          <a:prstGeom prst="roundRect">
            <a:avLst>
              <a:gd name="adj" fmla="val 6957"/>
            </a:avLst>
          </a:prstGeom>
          <a:solidFill>
            <a:srgbClr val="1E5238"/>
          </a:solidFill>
          <a:ln w="12700">
            <a:solidFill>
              <a:srgbClr val="1E5238"/>
            </a:solidFill>
            <a:prstDash val="solid"/>
          </a:ln>
        </p:spPr>
      </p:sp>
      <p:sp>
        <p:nvSpPr>
          <p:cNvPr id="10" name="Shape 7"/>
          <p:cNvSpPr/>
          <p:nvPr/>
        </p:nvSpPr>
        <p:spPr>
          <a:xfrm>
            <a:off x="4864608" y="1618488"/>
            <a:ext cx="548640" cy="548640"/>
          </a:xfrm>
          <a:prstGeom prst="ellipse">
            <a:avLst/>
          </a:prstGeom>
          <a:solidFill>
            <a:srgbClr val="1E5238"/>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07254" y="1761134"/>
            <a:ext cx="263347" cy="263347"/>
          </a:xfrm>
          <a:prstGeom prst="rect">
            <a:avLst/>
          </a:prstGeom>
        </p:spPr>
      </p:pic>
      <p:sp>
        <p:nvSpPr>
          <p:cNvPr id="12" name="Text 8"/>
          <p:cNvSpPr txBox="1"/>
          <p:nvPr/>
        </p:nvSpPr>
        <p:spPr>
          <a:xfrm>
            <a:off x="5577840" y="153619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Faster launches</a:t>
            </a:r>
            <a:endParaRPr lang="en-US" sz="1600" dirty="0"/>
          </a:p>
        </p:txBody>
      </p:sp>
      <p:sp>
        <p:nvSpPr>
          <p:cNvPr id="13" name="Text 9"/>
          <p:cNvSpPr txBox="1"/>
          <p:nvPr/>
        </p:nvSpPr>
        <p:spPr>
          <a:xfrm>
            <a:off x="5577840" y="184708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AppForge writes the code, so a new app takes far less time to build.</a:t>
            </a:r>
            <a:endParaRPr lang="en-US" sz="1300" dirty="0"/>
          </a:p>
        </p:txBody>
      </p:sp>
      <p:sp>
        <p:nvSpPr>
          <p:cNvPr id="14" name="Shape 10"/>
          <p:cNvSpPr/>
          <p:nvPr/>
        </p:nvSpPr>
        <p:spPr>
          <a:xfrm>
            <a:off x="457200" y="2560320"/>
            <a:ext cx="4023360" cy="1051560"/>
          </a:xfrm>
          <a:prstGeom prst="roundRect">
            <a:avLst>
              <a:gd name="adj" fmla="val 6957"/>
            </a:avLst>
          </a:prstGeom>
          <a:solidFill>
            <a:srgbClr val="1E5238"/>
          </a:solidFill>
          <a:ln w="12700">
            <a:solidFill>
              <a:srgbClr val="1E5238"/>
            </a:solidFill>
            <a:prstDash val="solid"/>
          </a:ln>
        </p:spPr>
      </p:sp>
      <p:sp>
        <p:nvSpPr>
          <p:cNvPr id="15" name="Shape 11"/>
          <p:cNvSpPr/>
          <p:nvPr/>
        </p:nvSpPr>
        <p:spPr>
          <a:xfrm>
            <a:off x="658368" y="2807208"/>
            <a:ext cx="548640" cy="548640"/>
          </a:xfrm>
          <a:prstGeom prst="ellipse">
            <a:avLst/>
          </a:prstGeom>
          <a:solidFill>
            <a:srgbClr val="1E5238"/>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801014" y="2949854"/>
            <a:ext cx="263347" cy="263347"/>
          </a:xfrm>
          <a:prstGeom prst="rect">
            <a:avLst/>
          </a:prstGeom>
        </p:spPr>
      </p:pic>
      <p:sp>
        <p:nvSpPr>
          <p:cNvPr id="17" name="Text 12"/>
          <p:cNvSpPr txBox="1"/>
          <p:nvPr/>
        </p:nvSpPr>
        <p:spPr>
          <a:xfrm>
            <a:off x="1371600" y="272491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Lower cost per app</a:t>
            </a:r>
            <a:endParaRPr lang="en-US" sz="1600" dirty="0"/>
          </a:p>
        </p:txBody>
      </p:sp>
      <p:sp>
        <p:nvSpPr>
          <p:cNvPr id="18" name="Text 13"/>
          <p:cNvSpPr txBox="1"/>
          <p:nvPr/>
        </p:nvSpPr>
        <p:spPr>
          <a:xfrm>
            <a:off x="1371600" y="303580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Shared code, AI stack and Business HQ keep each app's cost low.</a:t>
            </a:r>
            <a:endParaRPr lang="en-US" sz="1300" dirty="0"/>
          </a:p>
        </p:txBody>
      </p:sp>
      <p:sp>
        <p:nvSpPr>
          <p:cNvPr id="19" name="Shape 14"/>
          <p:cNvSpPr/>
          <p:nvPr/>
        </p:nvSpPr>
        <p:spPr>
          <a:xfrm>
            <a:off x="4663440" y="2560320"/>
            <a:ext cx="4023360" cy="1051560"/>
          </a:xfrm>
          <a:prstGeom prst="roundRect">
            <a:avLst>
              <a:gd name="adj" fmla="val 6957"/>
            </a:avLst>
          </a:prstGeom>
          <a:solidFill>
            <a:srgbClr val="1E5238"/>
          </a:solidFill>
          <a:ln w="12700">
            <a:solidFill>
              <a:srgbClr val="1E5238"/>
            </a:solidFill>
            <a:prstDash val="solid"/>
          </a:ln>
        </p:spPr>
      </p:sp>
      <p:sp>
        <p:nvSpPr>
          <p:cNvPr id="20" name="Shape 15"/>
          <p:cNvSpPr/>
          <p:nvPr/>
        </p:nvSpPr>
        <p:spPr>
          <a:xfrm>
            <a:off x="4864608" y="2807208"/>
            <a:ext cx="548640" cy="548640"/>
          </a:xfrm>
          <a:prstGeom prst="ellipse">
            <a:avLst/>
          </a:prstGeom>
          <a:solidFill>
            <a:srgbClr val="1E5238"/>
          </a:solidFill>
          <a:ln w="19050">
            <a:solidFill>
              <a:srgbClr val="D98B3C"/>
            </a:solidFill>
            <a:prstDash val="solid"/>
          </a:ln>
        </p:spPr>
      </p:sp>
      <p:pic>
        <p:nvPicPr>
          <p:cNvPr id="21" name="Image 3" descr="preencoded.png">    </p:cNvPr>
          <p:cNvPicPr>
            <a:picLocks noChangeAspect="1"/>
          </p:cNvPicPr>
          <p:nvPr/>
        </p:nvPicPr>
        <p:blipFill>
          <a:blip r:embed="rId4"/>
          <a:stretch>
            <a:fillRect/>
          </a:stretch>
        </p:blipFill>
        <p:spPr>
          <a:xfrm>
            <a:off x="5007254" y="2949854"/>
            <a:ext cx="263347" cy="263347"/>
          </a:xfrm>
          <a:prstGeom prst="rect">
            <a:avLst/>
          </a:prstGeom>
        </p:spPr>
      </p:pic>
      <p:sp>
        <p:nvSpPr>
          <p:cNvPr id="22" name="Text 16"/>
          <p:cNvSpPr txBox="1"/>
          <p:nvPr/>
        </p:nvSpPr>
        <p:spPr>
          <a:xfrm>
            <a:off x="5577840" y="272491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Marketing from day one</a:t>
            </a:r>
            <a:endParaRPr lang="en-US" sz="1600" dirty="0"/>
          </a:p>
        </p:txBody>
      </p:sp>
      <p:sp>
        <p:nvSpPr>
          <p:cNvPr id="23" name="Text 17"/>
          <p:cNvSpPr txBox="1"/>
          <p:nvPr/>
        </p:nvSpPr>
        <p:spPr>
          <a:xfrm>
            <a:off x="5577840" y="303580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Every app launches with its funnel, emails and ads ready.</a:t>
            </a:r>
            <a:endParaRPr lang="en-US" sz="1300" dirty="0"/>
          </a:p>
        </p:txBody>
      </p:sp>
      <p:sp>
        <p:nvSpPr>
          <p:cNvPr id="24" name="Text 18"/>
          <p:cNvSpPr txBox="1"/>
          <p:nvPr/>
        </p:nvSpPr>
        <p:spPr>
          <a:xfrm>
            <a:off x="457200" y="3840480"/>
            <a:ext cx="8229600" cy="685800"/>
          </a:xfrm>
          <a:prstGeom prst="rect">
            <a:avLst/>
          </a:prstGeom>
          <a:noFill/>
          <a:ln/>
        </p:spPr>
        <p:txBody>
          <a:bodyPr wrap="square" lIns="0" tIns="0" rIns="0" bIns="0" rtlCol="0" anchor="t"/>
          <a:lstStyle/>
          <a:p>
            <a:pPr indent="0" marL="0">
              <a:buNone/>
            </a:pPr>
            <a:r>
              <a:rPr lang="en-US" sz="1350" i="1" dirty="0">
                <a:solidFill>
                  <a:srgbClr val="F4EBD5"/>
                </a:solidFill>
                <a:latin typeface="Cambria" pitchFamily="34" charset="0"/>
                <a:ea typeface="Cambria" pitchFamily="34" charset="-122"/>
                <a:cs typeface="Cambria" pitchFamily="34" charset="-120"/>
              </a:rPr>
              <a:t>PastorAI and Ready Room were built before AppForge, and the lessons from building them went into it. Apps 3–10 will be the first built with AppForge.</a:t>
            </a:r>
            <a:endParaRPr lang="en-US" sz="1350" dirty="0"/>
          </a:p>
        </p:txBody>
      </p:sp>
      <p:sp>
        <p:nvSpPr>
          <p:cNvPr id="26" name="Text 19"/>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27" name="Text 20"/>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14 / 27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Traction &amp; Metrics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Built, shipped and live, before raising a dollar</a:t>
            </a:r>
            <a:endParaRPr lang="en-US" sz="2600" dirty="0"/>
          </a:p>
        </p:txBody>
      </p:sp>
      <p:sp>
        <p:nvSpPr>
          <p:cNvPr id="4" name="Shape 2"/>
          <p:cNvSpPr/>
          <p:nvPr/>
        </p:nvSpPr>
        <p:spPr>
          <a:xfrm>
            <a:off x="457200" y="1371600"/>
            <a:ext cx="1920240" cy="1051560"/>
          </a:xfrm>
          <a:prstGeom prst="roundRect">
            <a:avLst>
              <a:gd name="adj" fmla="val 695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463040"/>
            <a:ext cx="1591056" cy="475488"/>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2</a:t>
            </a:r>
            <a:endParaRPr lang="en-US" sz="3000" dirty="0"/>
          </a:p>
        </p:txBody>
      </p:sp>
      <p:sp>
        <p:nvSpPr>
          <p:cNvPr id="6" name="Text 4"/>
          <p:cNvSpPr txBox="1"/>
          <p:nvPr/>
        </p:nvSpPr>
        <p:spPr>
          <a:xfrm>
            <a:off x="640080" y="1956816"/>
            <a:ext cx="1591056" cy="42976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apps live in the app stores</a:t>
            </a:r>
            <a:endParaRPr lang="en-US" sz="1200" dirty="0"/>
          </a:p>
        </p:txBody>
      </p:sp>
      <p:sp>
        <p:nvSpPr>
          <p:cNvPr id="7" name="Shape 5"/>
          <p:cNvSpPr/>
          <p:nvPr/>
        </p:nvSpPr>
        <p:spPr>
          <a:xfrm>
            <a:off x="2560320" y="1371600"/>
            <a:ext cx="1920240" cy="1051560"/>
          </a:xfrm>
          <a:prstGeom prst="roundRect">
            <a:avLst>
              <a:gd name="adj" fmla="val 695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2743200" y="1463040"/>
            <a:ext cx="1591056" cy="475488"/>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3</a:t>
            </a:r>
            <a:endParaRPr lang="en-US" sz="3000" dirty="0"/>
          </a:p>
        </p:txBody>
      </p:sp>
      <p:sp>
        <p:nvSpPr>
          <p:cNvPr id="9" name="Text 7"/>
          <p:cNvSpPr txBox="1"/>
          <p:nvPr/>
        </p:nvSpPr>
        <p:spPr>
          <a:xfrm>
            <a:off x="2743200" y="1956816"/>
            <a:ext cx="1591056" cy="42976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platforms: iOS, Android, web</a:t>
            </a:r>
            <a:endParaRPr lang="en-US" sz="1200" dirty="0"/>
          </a:p>
        </p:txBody>
      </p:sp>
      <p:sp>
        <p:nvSpPr>
          <p:cNvPr id="10" name="Shape 8"/>
          <p:cNvSpPr/>
          <p:nvPr/>
        </p:nvSpPr>
        <p:spPr>
          <a:xfrm>
            <a:off x="4663440" y="1371600"/>
            <a:ext cx="1920240" cy="1051560"/>
          </a:xfrm>
          <a:prstGeom prst="roundRect">
            <a:avLst>
              <a:gd name="adj" fmla="val 695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4846320" y="1463040"/>
            <a:ext cx="1591056" cy="475488"/>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~30</a:t>
            </a:r>
            <a:endParaRPr lang="en-US" sz="3000" dirty="0"/>
          </a:p>
        </p:txBody>
      </p:sp>
      <p:sp>
        <p:nvSpPr>
          <p:cNvPr id="12" name="Text 10"/>
          <p:cNvSpPr txBox="1"/>
          <p:nvPr/>
        </p:nvSpPr>
        <p:spPr>
          <a:xfrm>
            <a:off x="4846320" y="1956816"/>
            <a:ext cx="1591056" cy="42976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trial users across both apps</a:t>
            </a:r>
            <a:endParaRPr lang="en-US" sz="1200" dirty="0"/>
          </a:p>
        </p:txBody>
      </p:sp>
      <p:sp>
        <p:nvSpPr>
          <p:cNvPr id="13" name="Shape 11"/>
          <p:cNvSpPr/>
          <p:nvPr/>
        </p:nvSpPr>
        <p:spPr>
          <a:xfrm>
            <a:off x="6766560" y="1371600"/>
            <a:ext cx="1920240" cy="1051560"/>
          </a:xfrm>
          <a:prstGeom prst="roundRect">
            <a:avLst>
              <a:gd name="adj" fmla="val 6957"/>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6949440" y="1463040"/>
            <a:ext cx="1591056" cy="475488"/>
          </a:xfrm>
          <a:prstGeom prst="rect">
            <a:avLst/>
          </a:prstGeom>
          <a:noFill/>
          <a:ln/>
        </p:spPr>
        <p:txBody>
          <a:bodyPr wrap="square" lIns="0" tIns="0" rIns="0" bIns="0" rtlCol="0" anchor="ctr"/>
          <a:lstStyle/>
          <a:p>
            <a:pPr indent="0" marL="0">
              <a:buNone/>
            </a:pPr>
            <a:r>
              <a:rPr lang="en-US" sz="2400" b="1" dirty="0">
                <a:solidFill>
                  <a:srgbClr val="F4EBD5"/>
                </a:solidFill>
                <a:latin typeface="Cambria" pitchFamily="34" charset="0"/>
                <a:ea typeface="Cambria" pitchFamily="34" charset="-122"/>
                <a:cs typeface="Cambria" pitchFamily="34" charset="-120"/>
              </a:rPr>
              <a:t>$0 MRR</a:t>
            </a:r>
            <a:endParaRPr lang="en-US" sz="2400" dirty="0"/>
          </a:p>
        </p:txBody>
      </p:sp>
      <p:sp>
        <p:nvSpPr>
          <p:cNvPr id="15" name="Text 13"/>
          <p:cNvSpPr txBox="1"/>
          <p:nvPr/>
        </p:nvSpPr>
        <p:spPr>
          <a:xfrm>
            <a:off x="6949440" y="1956816"/>
            <a:ext cx="1591056" cy="429768"/>
          </a:xfrm>
          <a:prstGeom prst="rect">
            <a:avLst/>
          </a:prstGeom>
          <a:noFill/>
          <a:ln/>
        </p:spPr>
        <p:txBody>
          <a:bodyPr wrap="square" lIns="0" tIns="0" rIns="0" bIns="0" rtlCol="0" anchor="t"/>
          <a:lstStyle/>
          <a:p>
            <a:pPr indent="0" marL="0">
              <a:buNone/>
            </a:pPr>
            <a:r>
              <a:rPr lang="en-US" sz="1200" dirty="0">
                <a:solidFill>
                  <a:srgbClr val="B7CDB6"/>
                </a:solidFill>
                <a:latin typeface="Calibri" pitchFamily="34" charset="0"/>
                <a:ea typeface="Calibri" pitchFamily="34" charset="-122"/>
                <a:cs typeface="Calibri" pitchFamily="34" charset="-120"/>
              </a:rPr>
              <a:t>pre-revenue · team of 1</a:t>
            </a:r>
            <a:endParaRPr lang="en-US" sz="1200" dirty="0"/>
          </a:p>
        </p:txBody>
      </p:sp>
      <p:sp>
        <p:nvSpPr>
          <p:cNvPr id="16" name="Shape 14"/>
          <p:cNvSpPr/>
          <p:nvPr/>
        </p:nvSpPr>
        <p:spPr>
          <a:xfrm>
            <a:off x="457200" y="2606040"/>
            <a:ext cx="4023360" cy="2011680"/>
          </a:xfrm>
          <a:prstGeom prst="roundRect">
            <a:avLst>
              <a:gd name="adj" fmla="val 363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85800" y="2724912"/>
            <a:ext cx="3566160" cy="256032"/>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Milestones reached</a:t>
            </a:r>
            <a:endParaRPr lang="en-US" sz="1300" dirty="0"/>
          </a:p>
        </p:txBody>
      </p:sp>
      <p:sp>
        <p:nvSpPr>
          <p:cNvPr id="18" name="Text 16"/>
          <p:cNvSpPr txBox="1"/>
          <p:nvPr/>
        </p:nvSpPr>
        <p:spPr>
          <a:xfrm>
            <a:off x="685800" y="3017520"/>
            <a:ext cx="3657600" cy="1554480"/>
          </a:xfrm>
          <a:prstGeom prst="rect">
            <a:avLst/>
          </a:prstGeom>
          <a:noFill/>
          <a:ln/>
        </p:spPr>
        <p:txBody>
          <a:bodyPr wrap="square" lIns="0" tIns="0" rIns="0" bIns="0" rtlCol="0" anchor="t"/>
          <a:lstStyle/>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Cedarworks Apps LLC formed (2026)</a:t>
            </a:r>
            <a:endParaRPr lang="en-US" sz="1200" dirty="0"/>
          </a:p>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PastorAI live on App Store, Google Play and web</a:t>
            </a:r>
            <a:endParaRPr lang="en-US" sz="1200" dirty="0"/>
          </a:p>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Ready Room live on App Store, Google Play and web</a:t>
            </a:r>
            <a:endParaRPr lang="en-US" sz="1200" dirty="0"/>
          </a:p>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Subscriptions and free trials working</a:t>
            </a:r>
            <a:endParaRPr lang="en-US" sz="1200" dirty="0"/>
          </a:p>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AppForge built for apps 3–10</a:t>
            </a:r>
            <a:endParaRPr lang="en-US" sz="1200" dirty="0"/>
          </a:p>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First testimonial from a trial user</a:t>
            </a:r>
            <a:endParaRPr lang="en-US" sz="1200" dirty="0"/>
          </a:p>
        </p:txBody>
      </p:sp>
      <p:sp>
        <p:nvSpPr>
          <p:cNvPr id="19" name="Shape 17"/>
          <p:cNvSpPr/>
          <p:nvPr/>
        </p:nvSpPr>
        <p:spPr>
          <a:xfrm>
            <a:off x="4663440" y="2606040"/>
            <a:ext cx="4023360" cy="2011680"/>
          </a:xfrm>
          <a:prstGeom prst="roundRect">
            <a:avLst>
              <a:gd name="adj" fmla="val 363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892040" y="2724912"/>
            <a:ext cx="3566160" cy="256032"/>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Goals for the next 90 days</a:t>
            </a:r>
            <a:endParaRPr lang="en-US" sz="1300" dirty="0"/>
          </a:p>
        </p:txBody>
      </p:sp>
      <p:sp>
        <p:nvSpPr>
          <p:cNvPr id="21" name="Text 19"/>
          <p:cNvSpPr txBox="1"/>
          <p:nvPr/>
        </p:nvSpPr>
        <p:spPr>
          <a:xfrm>
            <a:off x="4892040" y="306324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Paying subscribers</a:t>
            </a:r>
            <a:endParaRPr lang="en-US" sz="1250" dirty="0"/>
          </a:p>
        </p:txBody>
      </p:sp>
      <p:sp>
        <p:nvSpPr>
          <p:cNvPr id="22" name="Text 20"/>
          <p:cNvSpPr txBox="1"/>
          <p:nvPr/>
        </p:nvSpPr>
        <p:spPr>
          <a:xfrm>
            <a:off x="7498080" y="306324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75</a:t>
            </a:r>
            <a:endParaRPr lang="en-US" sz="1250" dirty="0"/>
          </a:p>
        </p:txBody>
      </p:sp>
      <p:sp>
        <p:nvSpPr>
          <p:cNvPr id="23" name="Text 21"/>
          <p:cNvSpPr txBox="1"/>
          <p:nvPr/>
        </p:nvSpPr>
        <p:spPr>
          <a:xfrm>
            <a:off x="4892040" y="342900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Monthly revenue (MRR)</a:t>
            </a:r>
            <a:endParaRPr lang="en-US" sz="1250" dirty="0"/>
          </a:p>
        </p:txBody>
      </p:sp>
      <p:sp>
        <p:nvSpPr>
          <p:cNvPr id="24" name="Text 22"/>
          <p:cNvSpPr txBox="1"/>
          <p:nvPr/>
        </p:nvSpPr>
        <p:spPr>
          <a:xfrm>
            <a:off x="7498080" y="342900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~$2,850</a:t>
            </a:r>
            <a:endParaRPr lang="en-US" sz="1250" dirty="0"/>
          </a:p>
        </p:txBody>
      </p:sp>
      <p:sp>
        <p:nvSpPr>
          <p:cNvPr id="25" name="Text 23"/>
          <p:cNvSpPr txBox="1"/>
          <p:nvPr/>
        </p:nvSpPr>
        <p:spPr>
          <a:xfrm>
            <a:off x="4892040" y="379476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Trials that convert to paid</a:t>
            </a:r>
            <a:endParaRPr lang="en-US" sz="1250" dirty="0"/>
          </a:p>
        </p:txBody>
      </p:sp>
      <p:sp>
        <p:nvSpPr>
          <p:cNvPr id="26" name="Text 24"/>
          <p:cNvSpPr txBox="1"/>
          <p:nvPr/>
        </p:nvSpPr>
        <p:spPr>
          <a:xfrm>
            <a:off x="7498080" y="379476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20%+</a:t>
            </a:r>
            <a:endParaRPr lang="en-US" sz="1250" dirty="0"/>
          </a:p>
        </p:txBody>
      </p:sp>
      <p:sp>
        <p:nvSpPr>
          <p:cNvPr id="27" name="Text 25"/>
          <p:cNvSpPr txBox="1"/>
          <p:nvPr/>
        </p:nvSpPr>
        <p:spPr>
          <a:xfrm>
            <a:off x="4892040" y="416052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Subscribers who cancel each month</a:t>
            </a:r>
            <a:endParaRPr lang="en-US" sz="1250" dirty="0"/>
          </a:p>
        </p:txBody>
      </p:sp>
      <p:sp>
        <p:nvSpPr>
          <p:cNvPr id="28" name="Text 26"/>
          <p:cNvSpPr txBox="1"/>
          <p:nvPr/>
        </p:nvSpPr>
        <p:spPr>
          <a:xfrm>
            <a:off x="7498080" y="416052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under 6%</a:t>
            </a:r>
            <a:endParaRPr lang="en-US" sz="1250" dirty="0"/>
          </a:p>
        </p:txBody>
      </p:sp>
      <p:sp>
        <p:nvSpPr>
          <p:cNvPr id="30" name="Text 27"/>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31" name="Text 28"/>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15 / 27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Market Opportunity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~$690M U.S. market for our first two apps</a:t>
            </a:r>
            <a:endParaRPr lang="en-US" sz="2600" dirty="0"/>
          </a:p>
        </p:txBody>
      </p:sp>
      <p:sp>
        <p:nvSpPr>
          <p:cNvPr id="4" name="Shape 2"/>
          <p:cNvSpPr/>
          <p:nvPr/>
        </p:nvSpPr>
        <p:spPr>
          <a:xfrm>
            <a:off x="548640" y="1371600"/>
            <a:ext cx="2743200" cy="2743200"/>
          </a:xfrm>
          <a:prstGeom prst="ellipse">
            <a:avLst/>
          </a:prstGeom>
          <a:solidFill>
            <a:srgbClr val="ECE1C7"/>
          </a:solidFill>
          <a:ln w="12700">
            <a:solidFill>
              <a:srgbClr val="ECE1C7"/>
            </a:solidFill>
            <a:prstDash val="solid"/>
          </a:ln>
        </p:spPr>
      </p:sp>
      <p:sp>
        <p:nvSpPr>
          <p:cNvPr id="5" name="Shape 3"/>
          <p:cNvSpPr/>
          <p:nvPr/>
        </p:nvSpPr>
        <p:spPr>
          <a:xfrm>
            <a:off x="1028700" y="2240280"/>
            <a:ext cx="1783080" cy="1783080"/>
          </a:xfrm>
          <a:prstGeom prst="ellipse">
            <a:avLst/>
          </a:prstGeom>
          <a:solidFill>
            <a:srgbClr val="B7CDB6"/>
          </a:solidFill>
          <a:ln w="12700">
            <a:solidFill>
              <a:srgbClr val="B7CDB6"/>
            </a:solidFill>
            <a:prstDash val="solid"/>
          </a:ln>
        </p:spPr>
      </p:sp>
      <p:sp>
        <p:nvSpPr>
          <p:cNvPr id="6" name="Shape 4"/>
          <p:cNvSpPr/>
          <p:nvPr/>
        </p:nvSpPr>
        <p:spPr>
          <a:xfrm>
            <a:off x="1485900" y="3063240"/>
            <a:ext cx="868680" cy="868680"/>
          </a:xfrm>
          <a:prstGeom prst="ellipse">
            <a:avLst/>
          </a:prstGeom>
          <a:solidFill>
            <a:srgbClr val="143D28"/>
          </a:solidFill>
          <a:ln w="12700">
            <a:solidFill>
              <a:srgbClr val="143D28"/>
            </a:solidFill>
            <a:prstDash val="solid"/>
          </a:ln>
        </p:spPr>
      </p:sp>
      <p:sp>
        <p:nvSpPr>
          <p:cNvPr id="7" name="Text 5"/>
          <p:cNvSpPr txBox="1"/>
          <p:nvPr/>
        </p:nvSpPr>
        <p:spPr>
          <a:xfrm>
            <a:off x="548640" y="1627632"/>
            <a:ext cx="2743200" cy="274320"/>
          </a:xfrm>
          <a:prstGeom prst="rect">
            <a:avLst/>
          </a:prstGeom>
          <a:noFill/>
          <a:ln/>
        </p:spPr>
        <p:txBody>
          <a:bodyPr wrap="square" lIns="0" tIns="0" rIns="0" bIns="0" rtlCol="0" anchor="t"/>
          <a:lstStyle/>
          <a:p>
            <a:pPr algn="ctr" indent="0" marL="0">
              <a:buNone/>
            </a:pPr>
            <a:r>
              <a:rPr lang="en-US" sz="1400" b="1" dirty="0">
                <a:solidFill>
                  <a:srgbClr val="143D28"/>
                </a:solidFill>
                <a:latin typeface="Calibri" pitchFamily="34" charset="0"/>
                <a:ea typeface="Calibri" pitchFamily="34" charset="-122"/>
                <a:cs typeface="Calibri" pitchFamily="34" charset="-120"/>
              </a:rPr>
              <a:t>TAM ~$690M</a:t>
            </a:r>
            <a:endParaRPr lang="en-US" sz="1400" dirty="0"/>
          </a:p>
        </p:txBody>
      </p:sp>
      <p:sp>
        <p:nvSpPr>
          <p:cNvPr id="8" name="Text 6"/>
          <p:cNvSpPr txBox="1"/>
          <p:nvPr/>
        </p:nvSpPr>
        <p:spPr>
          <a:xfrm>
            <a:off x="1028700" y="2487168"/>
            <a:ext cx="1783080" cy="274320"/>
          </a:xfrm>
          <a:prstGeom prst="rect">
            <a:avLst/>
          </a:prstGeom>
          <a:noFill/>
          <a:ln/>
        </p:spPr>
        <p:txBody>
          <a:bodyPr wrap="square" lIns="0" tIns="0" rIns="0" bIns="0" rtlCol="0" anchor="t"/>
          <a:lstStyle/>
          <a:p>
            <a:pPr algn="ctr" indent="0" marL="0">
              <a:buNone/>
            </a:pPr>
            <a:r>
              <a:rPr lang="en-US" sz="1300" b="1" dirty="0">
                <a:solidFill>
                  <a:srgbClr val="143D28"/>
                </a:solidFill>
                <a:latin typeface="Calibri" pitchFamily="34" charset="0"/>
                <a:ea typeface="Calibri" pitchFamily="34" charset="-122"/>
                <a:cs typeface="Calibri" pitchFamily="34" charset="-120"/>
              </a:rPr>
              <a:t>SAM ~$207M</a:t>
            </a:r>
            <a:endParaRPr lang="en-US" sz="1300" dirty="0"/>
          </a:p>
        </p:txBody>
      </p:sp>
      <p:sp>
        <p:nvSpPr>
          <p:cNvPr id="9" name="Text 7"/>
          <p:cNvSpPr txBox="1"/>
          <p:nvPr/>
        </p:nvSpPr>
        <p:spPr>
          <a:xfrm>
            <a:off x="1485900" y="3218688"/>
            <a:ext cx="868680" cy="548640"/>
          </a:xfrm>
          <a:prstGeom prst="rect">
            <a:avLst/>
          </a:prstGeom>
          <a:noFill/>
          <a:ln/>
        </p:spPr>
        <p:txBody>
          <a:bodyPr wrap="square" lIns="0" tIns="0" rIns="0" bIns="0" rtlCol="0" anchor="t"/>
          <a:lstStyle/>
          <a:p>
            <a:pPr algn="ctr" indent="0" marL="0">
              <a:buNone/>
            </a:pPr>
            <a:r>
              <a:rPr lang="en-US" sz="1150" b="1" dirty="0">
                <a:solidFill>
                  <a:srgbClr val="F4EBD5"/>
                </a:solidFill>
                <a:latin typeface="Calibri" pitchFamily="34" charset="0"/>
                <a:ea typeface="Calibri" pitchFamily="34" charset="-122"/>
                <a:cs typeface="Calibri" pitchFamily="34" charset="-120"/>
              </a:rPr>
              <a:t>SOM</a:t>
            </a:r>
            <a:endParaRPr lang="en-US" sz="1150" dirty="0"/>
          </a:p>
          <a:p>
            <a:pPr algn="ctr" indent="0" marL="0">
              <a:buNone/>
            </a:pPr>
            <a:r>
              <a:rPr lang="en-US" sz="1150" b="1" dirty="0">
                <a:solidFill>
                  <a:srgbClr val="F4EBD5"/>
                </a:solidFill>
                <a:latin typeface="Calibri" pitchFamily="34" charset="0"/>
                <a:ea typeface="Calibri" pitchFamily="34" charset="-122"/>
                <a:cs typeface="Calibri" pitchFamily="34" charset="-120"/>
              </a:rPr>
              <a:t>~$2M</a:t>
            </a:r>
            <a:endParaRPr lang="en-US" sz="1150" dirty="0"/>
          </a:p>
        </p:txBody>
      </p:sp>
      <p:sp>
        <p:nvSpPr>
          <p:cNvPr id="10" name="Text 8"/>
          <p:cNvSpPr txBox="1"/>
          <p:nvPr/>
        </p:nvSpPr>
        <p:spPr>
          <a:xfrm>
            <a:off x="3657600" y="1371600"/>
            <a:ext cx="50292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Total market (TAM): ~$690M</a:t>
            </a:r>
            <a:endParaRPr lang="en-US" sz="1400" dirty="0"/>
          </a:p>
        </p:txBody>
      </p:sp>
      <p:sp>
        <p:nvSpPr>
          <p:cNvPr id="11" name="Text 9"/>
          <p:cNvSpPr txBox="1"/>
          <p:nvPr/>
        </p:nvSpPr>
        <p:spPr>
          <a:xfrm>
            <a:off x="3657600" y="1664208"/>
            <a:ext cx="5029200" cy="566928"/>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Everyone who could buy: 300K+ U.S. churches × $564/yr (≈$169M) plus ~1.5M U.S. B2B sales reps × $348/yr (≈$522M).</a:t>
            </a:r>
            <a:endParaRPr lang="en-US" sz="1250" dirty="0"/>
          </a:p>
        </p:txBody>
      </p:sp>
      <p:sp>
        <p:nvSpPr>
          <p:cNvPr id="12" name="Text 10"/>
          <p:cNvSpPr txBox="1"/>
          <p:nvPr/>
        </p:nvSpPr>
        <p:spPr>
          <a:xfrm>
            <a:off x="3657600" y="2286000"/>
            <a:ext cx="50292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Reachable market (SAM): ~$207M</a:t>
            </a:r>
            <a:endParaRPr lang="en-US" sz="1400" dirty="0"/>
          </a:p>
        </p:txBody>
      </p:sp>
      <p:sp>
        <p:nvSpPr>
          <p:cNvPr id="13" name="Text 11"/>
          <p:cNvSpPr txBox="1"/>
          <p:nvPr/>
        </p:nvSpPr>
        <p:spPr>
          <a:xfrm>
            <a:off x="3657600" y="2578608"/>
            <a:ext cx="5029200" cy="566928"/>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The ~30% we can reach with online, self-serve sales.</a:t>
            </a:r>
            <a:endParaRPr lang="en-US" sz="1250" dirty="0"/>
          </a:p>
        </p:txBody>
      </p:sp>
      <p:sp>
        <p:nvSpPr>
          <p:cNvPr id="14" name="Text 12"/>
          <p:cNvSpPr txBox="1"/>
          <p:nvPr/>
        </p:nvSpPr>
        <p:spPr>
          <a:xfrm>
            <a:off x="3657600" y="3200400"/>
            <a:ext cx="50292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Our 3-year target (SOM): ~$2M a year</a:t>
            </a:r>
            <a:endParaRPr lang="en-US" sz="1400" dirty="0"/>
          </a:p>
        </p:txBody>
      </p:sp>
      <p:sp>
        <p:nvSpPr>
          <p:cNvPr id="15" name="Text 13"/>
          <p:cNvSpPr txBox="1"/>
          <p:nvPr/>
        </p:nvSpPr>
        <p:spPr>
          <a:xfrm>
            <a:off x="3657600" y="3493008"/>
            <a:ext cx="5029200" cy="566928"/>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1% of the reachable market: about 4,500 subscribers.</a:t>
            </a:r>
            <a:endParaRPr lang="en-US" sz="1250" dirty="0"/>
          </a:p>
        </p:txBody>
      </p:sp>
      <p:sp>
        <p:nvSpPr>
          <p:cNvPr id="16" name="Text 14"/>
          <p:cNvSpPr txBox="1"/>
          <p:nvPr/>
        </p:nvSpPr>
        <p:spPr>
          <a:xfrm>
            <a:off x="3657600" y="4114800"/>
            <a:ext cx="5029200" cy="274320"/>
          </a:xfrm>
          <a:prstGeom prst="rect">
            <a:avLst/>
          </a:prstGeom>
          <a:noFill/>
          <a:ln/>
        </p:spPr>
        <p:txBody>
          <a:bodyPr wrap="square" lIns="0" tIns="0" rIns="0" bIns="0" rtlCol="0" anchor="t"/>
          <a:lstStyle/>
          <a:p>
            <a:pPr indent="0" marL="0">
              <a:buNone/>
            </a:pPr>
            <a:r>
              <a:rPr lang="en-US" sz="1250" i="1" dirty="0">
                <a:solidFill>
                  <a:srgbClr val="143D28"/>
                </a:solidFill>
                <a:latin typeface="Calibri" pitchFamily="34" charset="0"/>
                <a:ea typeface="Calibri" pitchFamily="34" charset="-122"/>
                <a:cs typeface="Calibri" pitchFamily="34" charset="-120"/>
              </a:rPr>
              <a:t>Each of the 8 AppForge apps adds a new market on top of these two.</a:t>
            </a:r>
            <a:endParaRPr lang="en-US" sz="1250" dirty="0"/>
          </a:p>
        </p:txBody>
      </p:sp>
      <p:sp>
        <p:nvSpPr>
          <p:cNvPr id="17" name="Text 15"/>
          <p:cNvSpPr txBox="1"/>
          <p:nvPr/>
        </p:nvSpPr>
        <p:spPr>
          <a:xfrm>
            <a:off x="457200" y="4416552"/>
            <a:ext cx="8229600" cy="310896"/>
          </a:xfrm>
          <a:prstGeom prst="rect">
            <a:avLst/>
          </a:prstGeom>
          <a:noFill/>
          <a:ln/>
        </p:spPr>
        <p:txBody>
          <a:bodyPr wrap="square" lIns="0" tIns="0" rIns="0" bIns="0" rtlCol="0" anchor="t"/>
          <a:lstStyle/>
          <a:p>
            <a:pPr indent="0" marL="0">
              <a:buNone/>
            </a:pPr>
            <a:r>
              <a:rPr lang="en-US" sz="950" i="1" dirty="0">
                <a:solidFill>
                  <a:srgbClr val="4E5D53"/>
                </a:solidFill>
                <a:latin typeface="Calibri" pitchFamily="34" charset="0"/>
                <a:ea typeface="Calibri" pitchFamily="34" charset="-122"/>
                <a:cs typeface="Calibri" pitchFamily="34" charset="-120"/>
              </a:rPr>
              <a:t>Sources: Hartford Institute for Religion Research and U.S. Religion Census (congregations); U.S. Bureau of Labor Statistics (wholesale and manufacturing sales reps). Prices: current PastorAI and Ready Room plans.</a:t>
            </a:r>
            <a:endParaRPr lang="en-US" sz="950" dirty="0"/>
          </a:p>
        </p:txBody>
      </p:sp>
      <p:sp>
        <p:nvSpPr>
          <p:cNvPr id="19"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0"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16 / 27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Market Opportunity  ·  Why now &amp; customer segments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Why the timing is right</a:t>
            </a:r>
            <a:endParaRPr lang="en-US" sz="2600" dirty="0"/>
          </a:p>
        </p:txBody>
      </p:sp>
      <p:sp>
        <p:nvSpPr>
          <p:cNvPr id="4" name="Shape 2"/>
          <p:cNvSpPr/>
          <p:nvPr/>
        </p:nvSpPr>
        <p:spPr>
          <a:xfrm>
            <a:off x="457200" y="1371600"/>
            <a:ext cx="2606040" cy="2194560"/>
          </a:xfrm>
          <a:prstGeom prst="roundRect">
            <a:avLst>
              <a:gd name="adj" fmla="val 333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536192"/>
            <a:ext cx="502920" cy="5029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16559" y="1666951"/>
            <a:ext cx="241402" cy="241402"/>
          </a:xfrm>
          <a:prstGeom prst="rect">
            <a:avLst/>
          </a:prstGeom>
        </p:spPr>
      </p:pic>
      <p:sp>
        <p:nvSpPr>
          <p:cNvPr id="7" name="Text 4"/>
          <p:cNvSpPr txBox="1"/>
          <p:nvPr/>
        </p:nvSpPr>
        <p:spPr>
          <a:xfrm>
            <a:off x="685800"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AI got affordable</a:t>
            </a:r>
            <a:endParaRPr lang="en-US" sz="1500" dirty="0"/>
          </a:p>
        </p:txBody>
      </p:sp>
      <p:sp>
        <p:nvSpPr>
          <p:cNvPr id="8" name="Text 5"/>
          <p:cNvSpPr txBox="1"/>
          <p:nvPr/>
        </p:nvSpPr>
        <p:spPr>
          <a:xfrm>
            <a:off x="685800" y="2468880"/>
            <a:ext cx="2194560" cy="105156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The cost of running language and voice AI has fallen sharply since 2023, so $29–$47/month apps can earn healthy margins.</a:t>
            </a:r>
            <a:endParaRPr lang="en-US" sz="1250" dirty="0"/>
          </a:p>
        </p:txBody>
      </p:sp>
      <p:sp>
        <p:nvSpPr>
          <p:cNvPr id="9" name="Shape 6"/>
          <p:cNvSpPr/>
          <p:nvPr/>
        </p:nvSpPr>
        <p:spPr>
          <a:xfrm>
            <a:off x="3264408" y="1371600"/>
            <a:ext cx="2606040" cy="2194560"/>
          </a:xfrm>
          <a:prstGeom prst="roundRect">
            <a:avLst>
              <a:gd name="adj" fmla="val 333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3493008" y="1536192"/>
            <a:ext cx="502920" cy="50292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3623767" y="1666951"/>
            <a:ext cx="241402" cy="241402"/>
          </a:xfrm>
          <a:prstGeom prst="rect">
            <a:avLst/>
          </a:prstGeom>
        </p:spPr>
      </p:pic>
      <p:sp>
        <p:nvSpPr>
          <p:cNvPr id="12" name="Text 8"/>
          <p:cNvSpPr txBox="1"/>
          <p:nvPr/>
        </p:nvSpPr>
        <p:spPr>
          <a:xfrm>
            <a:off x="3493008"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People expect AI help</a:t>
            </a:r>
            <a:endParaRPr lang="en-US" sz="1500" dirty="0"/>
          </a:p>
        </p:txBody>
      </p:sp>
      <p:sp>
        <p:nvSpPr>
          <p:cNvPr id="13" name="Text 9"/>
          <p:cNvSpPr txBox="1"/>
          <p:nvPr/>
        </p:nvSpPr>
        <p:spPr>
          <a:xfrm>
            <a:off x="3493008" y="2468880"/>
            <a:ext cx="2194560" cy="105156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Most professionals have tried AI chat and found it doesn't fit their daily work. Focused apps fill that gap.</a:t>
            </a:r>
            <a:endParaRPr lang="en-US" sz="1250" dirty="0"/>
          </a:p>
        </p:txBody>
      </p:sp>
      <p:sp>
        <p:nvSpPr>
          <p:cNvPr id="14" name="Shape 10"/>
          <p:cNvSpPr/>
          <p:nvPr/>
        </p:nvSpPr>
        <p:spPr>
          <a:xfrm>
            <a:off x="6071616" y="1371600"/>
            <a:ext cx="2606040" cy="2194560"/>
          </a:xfrm>
          <a:prstGeom prst="roundRect">
            <a:avLst>
              <a:gd name="adj" fmla="val 333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300216" y="1536192"/>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6430975" y="1666951"/>
            <a:ext cx="241402" cy="241402"/>
          </a:xfrm>
          <a:prstGeom prst="rect">
            <a:avLst/>
          </a:prstGeom>
        </p:spPr>
      </p:pic>
      <p:sp>
        <p:nvSpPr>
          <p:cNvPr id="17" name="Text 12"/>
          <p:cNvSpPr txBox="1"/>
          <p:nvPr/>
        </p:nvSpPr>
        <p:spPr>
          <a:xfrm>
            <a:off x="6300216"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Small teams can ship fast</a:t>
            </a:r>
            <a:endParaRPr lang="en-US" sz="1500" dirty="0"/>
          </a:p>
        </p:txBody>
      </p:sp>
      <p:sp>
        <p:nvSpPr>
          <p:cNvPr id="18" name="Text 13"/>
          <p:cNvSpPr txBox="1"/>
          <p:nvPr/>
        </p:nvSpPr>
        <p:spPr>
          <a:xfrm>
            <a:off x="6300216" y="2468880"/>
            <a:ext cx="2194560" cy="105156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App stores handle distribution and billing, and AppForge lets one team launch app after app.</a:t>
            </a:r>
            <a:endParaRPr lang="en-US" sz="1250" dirty="0"/>
          </a:p>
        </p:txBody>
      </p:sp>
      <p:sp>
        <p:nvSpPr>
          <p:cNvPr id="19" name="Shape 14"/>
          <p:cNvSpPr/>
          <p:nvPr/>
        </p:nvSpPr>
        <p:spPr>
          <a:xfrm>
            <a:off x="457200" y="3730752"/>
            <a:ext cx="8229600" cy="886968"/>
          </a:xfrm>
          <a:prstGeom prst="roundRect">
            <a:avLst>
              <a:gd name="adj" fmla="val 8247"/>
            </a:avLst>
          </a:prstGeom>
          <a:solidFill>
            <a:srgbClr val="ECE1C7"/>
          </a:solidFill>
          <a:ln w="12700">
            <a:solidFill>
              <a:srgbClr val="ECE1C7"/>
            </a:solidFill>
            <a:prstDash val="solid"/>
          </a:ln>
        </p:spPr>
      </p:sp>
      <p:sp>
        <p:nvSpPr>
          <p:cNvPr id="20" name="Text 15"/>
          <p:cNvSpPr txBox="1"/>
          <p:nvPr/>
        </p:nvSpPr>
        <p:spPr>
          <a:xfrm>
            <a:off x="685800" y="3785616"/>
            <a:ext cx="7772400" cy="777240"/>
          </a:xfrm>
          <a:prstGeom prst="rect">
            <a:avLst/>
          </a:prstGeom>
          <a:noFill/>
          <a:ln/>
        </p:spPr>
        <p:txBody>
          <a:bodyPr wrap="square" lIns="0" tIns="0" rIns="0" bIns="0" rtlCol="0" anchor="ctr"/>
          <a:lstStyle/>
          <a:p>
            <a:pPr indent="0" marL="0">
              <a:buNone/>
            </a:pPr>
            <a:r>
              <a:rPr lang="en-US" sz="1250" b="1" dirty="0">
                <a:solidFill>
                  <a:srgbClr val="143D28"/>
                </a:solidFill>
                <a:latin typeface="Calibri" pitchFamily="34" charset="0"/>
                <a:ea typeface="Calibri" pitchFamily="34" charset="-122"/>
                <a:cs typeface="Calibri" pitchFamily="34" charset="-120"/>
              </a:rPr>
              <a:t>Who we sell to: </a:t>
            </a:r>
            <a:pPr indent="0" marL="0">
              <a:buNone/>
            </a:pPr>
            <a:r>
              <a:rPr lang="en-US" sz="1250" dirty="0">
                <a:solidFill>
                  <a:srgbClr val="143D28"/>
                </a:solidFill>
                <a:latin typeface="Calibri" pitchFamily="34" charset="0"/>
                <a:ea typeface="Calibri" pitchFamily="34" charset="-122"/>
                <a:cs typeface="Calibri" pitchFamily="34" charset="-120"/>
              </a:rPr>
              <a:t>pastors and staff at small and mid-size churches; individual sales reps and small sales teams; sales managers and church networks buying group plans; and new niches chosen by AppForge.</a:t>
            </a:r>
            <a:endParaRPr lang="en-US" sz="1250" dirty="0"/>
          </a:p>
        </p:txBody>
      </p:sp>
      <p:sp>
        <p:nvSpPr>
          <p:cNvPr id="22"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3"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17 / 27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Business Model  ·  How we make money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Recurring subscriptions across a growing set of apps</a:t>
            </a:r>
            <a:endParaRPr lang="en-US" sz="2600" dirty="0"/>
          </a:p>
        </p:txBody>
      </p:sp>
      <p:sp>
        <p:nvSpPr>
          <p:cNvPr id="4" name="Shape 2"/>
          <p:cNvSpPr/>
          <p:nvPr/>
        </p:nvSpPr>
        <p:spPr>
          <a:xfrm>
            <a:off x="457200" y="1371600"/>
            <a:ext cx="2606040" cy="2103120"/>
          </a:xfrm>
          <a:prstGeom prst="roundRect">
            <a:avLst>
              <a:gd name="adj" fmla="val 347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536192"/>
            <a:ext cx="502920" cy="5029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16559" y="1666951"/>
            <a:ext cx="241402" cy="241402"/>
          </a:xfrm>
          <a:prstGeom prst="rect">
            <a:avLst/>
          </a:prstGeom>
        </p:spPr>
      </p:pic>
      <p:sp>
        <p:nvSpPr>
          <p:cNvPr id="7" name="Text 4"/>
          <p:cNvSpPr txBox="1"/>
          <p:nvPr/>
        </p:nvSpPr>
        <p:spPr>
          <a:xfrm>
            <a:off x="685800"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App subscriptions</a:t>
            </a:r>
            <a:endParaRPr lang="en-US" sz="1500" dirty="0"/>
          </a:p>
        </p:txBody>
      </p:sp>
      <p:sp>
        <p:nvSpPr>
          <p:cNvPr id="8" name="Text 5"/>
          <p:cNvSpPr txBox="1"/>
          <p:nvPr/>
        </p:nvSpPr>
        <p:spPr>
          <a:xfrm>
            <a:off x="685800" y="2468880"/>
            <a:ext cx="2194560" cy="9601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Monthly or annual plans with a free trial first, sold through the App Store, Google Play and the web.</a:t>
            </a:r>
            <a:endParaRPr lang="en-US" sz="1250" dirty="0"/>
          </a:p>
        </p:txBody>
      </p:sp>
      <p:sp>
        <p:nvSpPr>
          <p:cNvPr id="9" name="Shape 6"/>
          <p:cNvSpPr/>
          <p:nvPr/>
        </p:nvSpPr>
        <p:spPr>
          <a:xfrm>
            <a:off x="3264408" y="1371600"/>
            <a:ext cx="2606040" cy="2103120"/>
          </a:xfrm>
          <a:prstGeom prst="roundRect">
            <a:avLst>
              <a:gd name="adj" fmla="val 347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3493008" y="1536192"/>
            <a:ext cx="502920" cy="50292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3623767" y="1666951"/>
            <a:ext cx="241402" cy="241402"/>
          </a:xfrm>
          <a:prstGeom prst="rect">
            <a:avLst/>
          </a:prstGeom>
        </p:spPr>
      </p:pic>
      <p:sp>
        <p:nvSpPr>
          <p:cNvPr id="12" name="Text 8"/>
          <p:cNvSpPr txBox="1"/>
          <p:nvPr/>
        </p:nvSpPr>
        <p:spPr>
          <a:xfrm>
            <a:off x="3493008"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Group plans</a:t>
            </a:r>
            <a:endParaRPr lang="en-US" sz="1500" dirty="0"/>
          </a:p>
        </p:txBody>
      </p:sp>
      <p:sp>
        <p:nvSpPr>
          <p:cNvPr id="13" name="Text 9"/>
          <p:cNvSpPr txBox="1"/>
          <p:nvPr/>
        </p:nvSpPr>
        <p:spPr>
          <a:xfrm>
            <a:off x="3493008" y="2468880"/>
            <a:ext cx="2194560" cy="9601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Multi-seat plans for sales teams and church staffs: one buyer, several users.</a:t>
            </a:r>
            <a:endParaRPr lang="en-US" sz="1250" dirty="0"/>
          </a:p>
        </p:txBody>
      </p:sp>
      <p:sp>
        <p:nvSpPr>
          <p:cNvPr id="14" name="Shape 10"/>
          <p:cNvSpPr/>
          <p:nvPr/>
        </p:nvSpPr>
        <p:spPr>
          <a:xfrm>
            <a:off x="6071616" y="1371600"/>
            <a:ext cx="2606040" cy="2103120"/>
          </a:xfrm>
          <a:prstGeom prst="roundRect">
            <a:avLst>
              <a:gd name="adj" fmla="val 347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300216" y="1536192"/>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6430975" y="1666951"/>
            <a:ext cx="241402" cy="241402"/>
          </a:xfrm>
          <a:prstGeom prst="rect">
            <a:avLst/>
          </a:prstGeom>
        </p:spPr>
      </p:pic>
      <p:sp>
        <p:nvSpPr>
          <p:cNvPr id="17" name="Text 12"/>
          <p:cNvSpPr txBox="1"/>
          <p:nvPr/>
        </p:nvSpPr>
        <p:spPr>
          <a:xfrm>
            <a:off x="6300216"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Custom AI apps</a:t>
            </a:r>
            <a:endParaRPr lang="en-US" sz="1500" dirty="0"/>
          </a:p>
        </p:txBody>
      </p:sp>
      <p:sp>
        <p:nvSpPr>
          <p:cNvPr id="18" name="Text 13"/>
          <p:cNvSpPr txBox="1"/>
          <p:nvPr/>
        </p:nvSpPr>
        <p:spPr>
          <a:xfrm>
            <a:off x="6300216" y="2468880"/>
            <a:ext cx="2194560" cy="9601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Custom builds for local businesses: extra revenue and new app ideas.</a:t>
            </a:r>
            <a:endParaRPr lang="en-US" sz="1250" dirty="0"/>
          </a:p>
        </p:txBody>
      </p:sp>
      <p:sp>
        <p:nvSpPr>
          <p:cNvPr id="19" name="Shape 14"/>
          <p:cNvSpPr/>
          <p:nvPr/>
        </p:nvSpPr>
        <p:spPr>
          <a:xfrm>
            <a:off x="457200" y="3657600"/>
            <a:ext cx="8229600" cy="960120"/>
          </a:xfrm>
          <a:prstGeom prst="roundRect">
            <a:avLst>
              <a:gd name="adj" fmla="val 7619"/>
            </a:avLst>
          </a:prstGeom>
          <a:solidFill>
            <a:srgbClr val="ECE1C7"/>
          </a:solidFill>
          <a:ln w="12700">
            <a:solidFill>
              <a:srgbClr val="ECE1C7"/>
            </a:solidFill>
            <a:prstDash val="solid"/>
          </a:ln>
        </p:spPr>
      </p:sp>
      <p:sp>
        <p:nvSpPr>
          <p:cNvPr id="20" name="Text 15"/>
          <p:cNvSpPr txBox="1"/>
          <p:nvPr/>
        </p:nvSpPr>
        <p:spPr>
          <a:xfrm>
            <a:off x="685800" y="3721608"/>
            <a:ext cx="7772400" cy="841248"/>
          </a:xfrm>
          <a:prstGeom prst="rect">
            <a:avLst/>
          </a:prstGeom>
          <a:noFill/>
          <a:ln/>
        </p:spPr>
        <p:txBody>
          <a:bodyPr wrap="square" lIns="0" tIns="0" rIns="0" bIns="0" rtlCol="0" anchor="ctr"/>
          <a:lstStyle/>
          <a:p>
            <a:pPr indent="0" marL="0">
              <a:buNone/>
            </a:pPr>
            <a:r>
              <a:rPr lang="en-US" sz="1250" b="1" dirty="0">
                <a:solidFill>
                  <a:srgbClr val="143D28"/>
                </a:solidFill>
                <a:latin typeface="Calibri" pitchFamily="34" charset="0"/>
                <a:ea typeface="Calibri" pitchFamily="34" charset="-122"/>
                <a:cs typeface="Calibri" pitchFamily="34" charset="-120"/>
              </a:rPr>
              <a:t>Pricing today: </a:t>
            </a:r>
            <a:pPr indent="0" marL="0">
              <a:buNone/>
            </a:pPr>
            <a:r>
              <a:rPr lang="en-US" sz="1250" dirty="0">
                <a:solidFill>
                  <a:srgbClr val="143D28"/>
                </a:solidFill>
                <a:latin typeface="Calibri" pitchFamily="34" charset="0"/>
                <a:ea typeface="Calibri" pitchFamily="34" charset="-122"/>
                <a:cs typeface="Calibri" pitchFamily="34" charset="-120"/>
              </a:rPr>
              <a:t>PastorAI $47/month after a 14-day free trial · Ready Room $29/month or $249/year.</a:t>
            </a:r>
            <a:endParaRPr lang="en-US" sz="1250" dirty="0"/>
          </a:p>
          <a:p>
            <a:pPr indent="0" marL="0">
              <a:buNone/>
            </a:pPr>
            <a:r>
              <a:rPr lang="en-US" sz="1250" b="1" dirty="0">
                <a:solidFill>
                  <a:srgbClr val="143D28"/>
                </a:solidFill>
                <a:latin typeface="Calibri" pitchFamily="34" charset="0"/>
                <a:ea typeface="Calibri" pitchFamily="34" charset="-122"/>
                <a:cs typeface="Calibri" pitchFamily="34" charset="-120"/>
              </a:rPr>
              <a:t>Why it scales: </a:t>
            </a:r>
            <a:pPr indent="0" marL="0">
              <a:buNone/>
            </a:pPr>
            <a:r>
              <a:rPr lang="en-US" sz="1250" dirty="0">
                <a:solidFill>
                  <a:srgbClr val="143D28"/>
                </a:solidFill>
                <a:latin typeface="Calibri" pitchFamily="34" charset="0"/>
                <a:ea typeface="Calibri" pitchFamily="34" charset="-122"/>
                <a:cs typeface="Calibri" pitchFamily="34" charset="-120"/>
              </a:rPr>
              <a:t>every app shares one codebase, AI stack and operating system, so each new app adds revenue with little extra cost.</a:t>
            </a:r>
            <a:endParaRPr lang="en-US" sz="1250" dirty="0"/>
          </a:p>
        </p:txBody>
      </p:sp>
      <p:sp>
        <p:nvSpPr>
          <p:cNvPr id="22"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3"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18 / 27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Business Model  ·  Unit economics (what each subscriber is worth)</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Each subscriber is worth ~3× what it costs to win</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5120640"/>
                <a:gridCol w="1554480"/>
                <a:gridCol w="1554480"/>
              </a:tblGrid>
              <a:tr h="384048">
                <a:tc>
                  <a:txBody>
                    <a:bodyPr/>
                    <a:lstStyle/>
                    <a:p>
                      <a:pPr algn="l" indent="0" marL="0">
                        <a:buNone/>
                      </a:pPr>
                      <a:r>
                        <a:rPr lang="en-US" sz="1250" b="1" dirty="0">
                          <a:solidFill>
                            <a:srgbClr val="143D28"/>
                          </a:solidFill>
                          <a:latin typeface="Calibri" pitchFamily="34" charset="0"/>
                          <a:ea typeface="Calibri" pitchFamily="34" charset="-122"/>
                          <a:cs typeface="Calibri" pitchFamily="34" charset="-120"/>
                        </a:rPr>
                        <a:t>Per subscriber</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250" b="1" dirty="0">
                          <a:solidFill>
                            <a:srgbClr val="F4EBD5"/>
                          </a:solidFill>
                          <a:latin typeface="Calibri" pitchFamily="34" charset="0"/>
                          <a:ea typeface="Calibri" pitchFamily="34" charset="-122"/>
                          <a:cs typeface="Calibri" pitchFamily="34" charset="-120"/>
                        </a:rPr>
                        <a:t>PastorAI</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50" b="1" dirty="0">
                          <a:solidFill>
                            <a:srgbClr val="F4EBD5"/>
                          </a:solidFill>
                          <a:latin typeface="Calibri" pitchFamily="34" charset="0"/>
                          <a:ea typeface="Calibri" pitchFamily="34" charset="-122"/>
                          <a:cs typeface="Calibri" pitchFamily="34" charset="-120"/>
                        </a:rPr>
                        <a:t>Ready Room</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Monthly price</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$47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$29</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What we keep after the 15% app-store fee</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$39.95</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$24.65</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Estimated AI and hosting cost per user</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Gross margin (share of revenue left after those costs)</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~68%</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Lifetime value: profit over an average ~20-month subscription</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~$720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~$390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Most we'll spend to win one customer (CAC)</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$240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$130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Months to earn that cost back</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Rows after the price are planning assumptions (5% of subscribers cancel each month), not results yet.</a:t>
            </a:r>
            <a:endParaRPr lang="en-US" sz="1100" dirty="0"/>
          </a:p>
        </p:txBody>
      </p:sp>
      <p:sp>
        <p:nvSpPr>
          <p:cNvPr id="7" name="Text 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8" name="Text 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19 / 27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Go-to-Market Strategy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How we'll turn trials into paying customers</a:t>
            </a:r>
            <a:endParaRPr lang="en-US" sz="2600" dirty="0"/>
          </a:p>
        </p:txBody>
      </p:sp>
      <p:sp>
        <p:nvSpPr>
          <p:cNvPr id="4" name="Shape 2"/>
          <p:cNvSpPr/>
          <p:nvPr/>
        </p:nvSpPr>
        <p:spPr>
          <a:xfrm>
            <a:off x="457200" y="1371600"/>
            <a:ext cx="4023360" cy="2743200"/>
          </a:xfrm>
          <a:prstGeom prst="roundRect">
            <a:avLst>
              <a:gd name="adj" fmla="val 266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536192"/>
            <a:ext cx="457200" cy="45720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4672" y="1655064"/>
            <a:ext cx="219456" cy="219456"/>
          </a:xfrm>
          <a:prstGeom prst="rect">
            <a:avLst/>
          </a:prstGeom>
        </p:spPr>
      </p:pic>
      <p:sp>
        <p:nvSpPr>
          <p:cNvPr id="7" name="Text 4"/>
          <p:cNvSpPr txBox="1"/>
          <p:nvPr/>
        </p:nvSpPr>
        <p:spPr>
          <a:xfrm>
            <a:off x="1280160" y="1609344"/>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PastorAI</a:t>
            </a:r>
            <a:endParaRPr lang="en-US" sz="1600" dirty="0"/>
          </a:p>
        </p:txBody>
      </p:sp>
      <p:sp>
        <p:nvSpPr>
          <p:cNvPr id="8" name="Text 5"/>
          <p:cNvSpPr txBox="1"/>
          <p:nvPr/>
        </p:nvSpPr>
        <p:spPr>
          <a:xfrm>
            <a:off x="685800" y="2148840"/>
            <a:ext cx="3611880" cy="1920240"/>
          </a:xfrm>
          <a:prstGeom prst="rect">
            <a:avLst/>
          </a:prstGeom>
          <a:noFill/>
          <a:ln/>
        </p:spPr>
        <p:txBody>
          <a:bodyPr wrap="square" lIns="0" tIns="0" rIns="0" bIns="0" rtlCol="0" anchor="t"/>
          <a:lstStyle/>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Facebook and YouTube ads aimed at pastors and church staff</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LinkedIn outreach to ministry leaders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Partnerships with denominations, church networks and seminaries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Conferences, webinars and free sermon-prep resources</a:t>
            </a:r>
            <a:endParaRPr lang="en-US" sz="1250" dirty="0"/>
          </a:p>
        </p:txBody>
      </p:sp>
      <p:sp>
        <p:nvSpPr>
          <p:cNvPr id="9" name="Shape 6"/>
          <p:cNvSpPr/>
          <p:nvPr/>
        </p:nvSpPr>
        <p:spPr>
          <a:xfrm>
            <a:off x="4663440" y="1371600"/>
            <a:ext cx="4023360" cy="2743200"/>
          </a:xfrm>
          <a:prstGeom prst="roundRect">
            <a:avLst>
              <a:gd name="adj" fmla="val 266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892040" y="1536192"/>
            <a:ext cx="457200" cy="45720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10912" y="1655064"/>
            <a:ext cx="219456" cy="219456"/>
          </a:xfrm>
          <a:prstGeom prst="rect">
            <a:avLst/>
          </a:prstGeom>
        </p:spPr>
      </p:pic>
      <p:sp>
        <p:nvSpPr>
          <p:cNvPr id="12" name="Text 8"/>
          <p:cNvSpPr txBox="1"/>
          <p:nvPr/>
        </p:nvSpPr>
        <p:spPr>
          <a:xfrm>
            <a:off x="5486400" y="1609344"/>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Ready Room</a:t>
            </a:r>
            <a:endParaRPr lang="en-US" sz="1600" dirty="0"/>
          </a:p>
        </p:txBody>
      </p:sp>
      <p:sp>
        <p:nvSpPr>
          <p:cNvPr id="13" name="Text 9"/>
          <p:cNvSpPr txBox="1"/>
          <p:nvPr/>
        </p:nvSpPr>
        <p:spPr>
          <a:xfrm>
            <a:off x="4892040" y="2148840"/>
            <a:ext cx="3611880" cy="1920240"/>
          </a:xfrm>
          <a:prstGeom prst="rect">
            <a:avLst/>
          </a:prstGeom>
          <a:noFill/>
          <a:ln/>
        </p:spPr>
        <p:txBody>
          <a:bodyPr wrap="square" lIns="0" tIns="0" rIns="0" bIns="0" rtlCol="0" anchor="t"/>
          <a:lstStyle/>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LinkedIn and short videos showing live AI role-plays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Direct outreach to sales managers for team plans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Partnerships with sales trainers, coaches and bootcamps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App store search and referral rewards</a:t>
            </a:r>
            <a:endParaRPr lang="en-US" sz="1250" dirty="0"/>
          </a:p>
        </p:txBody>
      </p:sp>
      <p:sp>
        <p:nvSpPr>
          <p:cNvPr id="14" name="Text 10"/>
          <p:cNvSpPr txBox="1"/>
          <p:nvPr/>
        </p:nvSpPr>
        <p:spPr>
          <a:xfrm>
            <a:off x="457200" y="4279392"/>
            <a:ext cx="8229600" cy="320040"/>
          </a:xfrm>
          <a:prstGeom prst="rect">
            <a:avLst/>
          </a:prstGeom>
          <a:noFill/>
          <a:ln/>
        </p:spPr>
        <p:txBody>
          <a:bodyPr wrap="square" lIns="0" tIns="0" rIns="0" bIns="0" rtlCol="0" anchor="t"/>
          <a:lstStyle/>
          <a:p>
            <a:pPr indent="0" marL="0">
              <a:buNone/>
            </a:pPr>
            <a:r>
              <a:rPr lang="en-US" sz="1250" i="1" dirty="0">
                <a:solidFill>
                  <a:srgbClr val="143D28"/>
                </a:solidFill>
                <a:latin typeface="Calibri" pitchFamily="34" charset="0"/>
                <a:ea typeface="Calibri" pitchFamily="34" charset="-122"/>
                <a:cs typeface="Calibri" pitchFamily="34" charset="-120"/>
              </a:rPr>
              <a:t>Powered by AppForge's marketing tools: cold emails, social posts, ads and presentations for every app.</a:t>
            </a:r>
            <a:endParaRPr lang="en-US" sz="1250" dirty="0"/>
          </a:p>
        </p:txBody>
      </p:sp>
      <p:sp>
        <p:nvSpPr>
          <p:cNvPr id="16" name="Text 11"/>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7" name="Text 12"/>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20 / 27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Competitive Landscape  ·  Direct &amp; indirect competitors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Why Cedarworks wins</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286000"/>
                <a:gridCol w="1463040"/>
                <a:gridCol w="1554480"/>
                <a:gridCol w="1691640"/>
                <a:gridCol w="1234440"/>
              </a:tblGrid>
              <a:tr h="685800">
                <a:tc>
                  <a:txBody>
                    <a:bodyPr/>
                    <a:lstStyle/>
                    <a:p>
                      <a:pPr algn="l" indent="0" marL="0">
                        <a:buNone/>
                      </a:pPr>
                      <a:endParaRPr lang="en-US" sz="11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Indirect: generic AI chat (e.g. ChatGPT)</a:t>
                      </a:r>
                      <a:endParaRPr lang="en-US" sz="11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Direct: ministry software (e.g. Logos, Pulpit AI)</a:t>
                      </a:r>
                      <a:endParaRPr lang="en-US" sz="11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Direct: sales practice (e.g. Second Nature, Hyperbound)</a:t>
                      </a:r>
                      <a:endParaRPr lang="en-US" sz="11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100" b="1" dirty="0">
                          <a:solidFill>
                            <a:srgbClr val="F4EBD5"/>
                          </a:solidFill>
                          <a:latin typeface="Calibri" pitchFamily="34" charset="0"/>
                          <a:ea typeface="Calibri" pitchFamily="34" charset="-122"/>
                          <a:cs typeface="Calibri" pitchFamily="34" charset="-120"/>
                        </a:rPr>
                        <a:t>Cedarworks apps</a:t>
                      </a:r>
                      <a:endParaRPr lang="en-US" sz="11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84048">
                <a:tc>
                  <a:txBody>
                    <a:bodyPr/>
                    <a:lstStyle/>
                    <a:p>
                      <a:pPr algn="l" indent="0" marL="0">
                        <a:buNone/>
                      </a:pPr>
                      <a:r>
                        <a:rPr lang="en-US" sz="1150" dirty="0">
                          <a:solidFill>
                            <a:srgbClr val="1B2A21"/>
                          </a:solidFill>
                          <a:latin typeface="Calibri" pitchFamily="34" charset="0"/>
                          <a:ea typeface="Calibri" pitchFamily="34" charset="-122"/>
                          <a:cs typeface="Calibri" pitchFamily="34" charset="-120"/>
                        </a:rPr>
                        <a:t>Built for one profession</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43D2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150" dirty="0">
                          <a:solidFill>
                            <a:srgbClr val="1B2A21"/>
                          </a:solidFill>
                          <a:latin typeface="Calibri" pitchFamily="34" charset="0"/>
                          <a:ea typeface="Calibri" pitchFamily="34" charset="-122"/>
                          <a:cs typeface="Calibri" pitchFamily="34" charset="-120"/>
                        </a:rPr>
                        <a:t>Ready to use with no prompting</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Partly</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43D2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150" dirty="0">
                          <a:solidFill>
                            <a:srgbClr val="1B2A21"/>
                          </a:solidFill>
                          <a:latin typeface="Calibri" pitchFamily="34" charset="0"/>
                          <a:ea typeface="Calibri" pitchFamily="34" charset="-122"/>
                          <a:cs typeface="Calibri" pitchFamily="34" charset="-120"/>
                        </a:rPr>
                        <a:t>Made for small churches and individual reps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Partly</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No (big companies)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43D2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150" dirty="0">
                          <a:solidFill>
                            <a:srgbClr val="1B2A21"/>
                          </a:solidFill>
                          <a:latin typeface="Calibri" pitchFamily="34" charset="0"/>
                          <a:ea typeface="Calibri" pitchFamily="34" charset="-122"/>
                          <a:cs typeface="Calibri" pitchFamily="34" charset="-120"/>
                        </a:rPr>
                        <a:t>Self-serve monthly price</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Low</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Varies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Sales call</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43D28"/>
                          </a:solidFill>
                          <a:latin typeface="Calibri" pitchFamily="34" charset="0"/>
                          <a:ea typeface="Calibri" pitchFamily="34" charset="-122"/>
                          <a:cs typeface="Calibri" pitchFamily="34" charset="-120"/>
                        </a:rPr>
                        <a:t>$29–$47</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150" dirty="0">
                          <a:solidFill>
                            <a:srgbClr val="1B2A21"/>
                          </a:solidFill>
                          <a:latin typeface="Calibri" pitchFamily="34" charset="0"/>
                          <a:ea typeface="Calibri" pitchFamily="34" charset="-122"/>
                          <a:cs typeface="Calibri" pitchFamily="34" charset="-120"/>
                        </a:rPr>
                        <a:t>Launches new niche apps quickly</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N/A</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43D28"/>
                          </a:solidFill>
                          <a:latin typeface="Calibri" pitchFamily="34" charset="0"/>
                          <a:ea typeface="Calibri" pitchFamily="34" charset="-122"/>
                          <a:cs typeface="Calibri" pitchFamily="34" charset="-120"/>
                        </a:rPr>
                        <a:t>AppForge</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bl>
          </a:graphicData>
        </a:graphic>
      </p:graphicFrame>
      <p:sp>
        <p:nvSpPr>
          <p:cNvPr id="5" name="Text 2"/>
          <p:cNvSpPr txBox="1"/>
          <p:nvPr/>
        </p:nvSpPr>
        <p:spPr>
          <a:xfrm>
            <a:off x="457200" y="4023360"/>
            <a:ext cx="8229600" cy="594360"/>
          </a:xfrm>
          <a:prstGeom prst="rect">
            <a:avLst/>
          </a:prstGeom>
          <a:noFill/>
          <a:ln/>
        </p:spPr>
        <p:txBody>
          <a:bodyPr wrap="square" lIns="0" tIns="0" rIns="0" bIns="0" rtlCol="0" anchor="t"/>
          <a:lstStyle/>
          <a:p>
            <a:pPr indent="0" marL="0">
              <a:buNone/>
            </a:pPr>
            <a:r>
              <a:rPr lang="en-US" sz="1250" b="1" dirty="0">
                <a:solidFill>
                  <a:srgbClr val="143D28"/>
                </a:solidFill>
                <a:latin typeface="Calibri" pitchFamily="34" charset="0"/>
                <a:ea typeface="Calibri" pitchFamily="34" charset="-122"/>
                <a:cs typeface="Calibri" pitchFamily="34" charset="-120"/>
              </a:rPr>
              <a:t>Our advantages: </a:t>
            </a:r>
            <a:pPr indent="0" marL="0">
              <a:buNone/>
            </a:pPr>
            <a:r>
              <a:rPr lang="en-US" sz="1250" dirty="0">
                <a:solidFill>
                  <a:srgbClr val="143D28"/>
                </a:solidFill>
                <a:latin typeface="Calibri" pitchFamily="34" charset="0"/>
                <a:ea typeface="Calibri" pitchFamily="34" charset="-122"/>
                <a:cs typeface="Calibri" pitchFamily="34" charset="-120"/>
              </a:rPr>
              <a:t>we focus on niches big platforms ignore, at prices individuals can afford, with AppForge to reach new markets fast and a founder who can both build and sell.</a:t>
            </a:r>
            <a:endParaRPr lang="en-US" sz="1250" dirty="0"/>
          </a:p>
        </p:txBody>
      </p:sp>
      <p:sp>
        <p:nvSpPr>
          <p:cNvPr id="7" name="Text 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8" name="Text 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21 / 27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Use of Funds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$450K to grow two apps and launch eight more</a:t>
            </a:r>
            <a:endParaRPr lang="en-US" sz="2600" dirty="0"/>
          </a:p>
        </p:txBody>
      </p:sp>
      <p:graphicFrame>
        <p:nvGraphicFramePr>
          <p:cNvPr id="4" name="Chart 0" descr=""/>
          <p:cNvGraphicFramePr/>
          <p:nvPr/>
        </p:nvGraphicFramePr>
        <p:xfrm>
          <a:off x="365760" y="1280160"/>
          <a:ext cx="338328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114800" y="1417320"/>
            <a:ext cx="201168" cy="201168"/>
          </a:xfrm>
          <a:prstGeom prst="ellipse">
            <a:avLst/>
          </a:prstGeom>
          <a:solidFill>
            <a:srgbClr val="143D28"/>
          </a:solidFill>
          <a:ln w="12700">
            <a:solidFill>
              <a:srgbClr val="143D28"/>
            </a:solidFill>
            <a:prstDash val="solid"/>
          </a:ln>
        </p:spPr>
      </p:sp>
      <p:sp>
        <p:nvSpPr>
          <p:cNvPr id="6" name="Text 3"/>
          <p:cNvSpPr txBox="1"/>
          <p:nvPr/>
        </p:nvSpPr>
        <p:spPr>
          <a:xfrm>
            <a:off x="4434840" y="1325880"/>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$160K</a:t>
            </a:r>
            <a:endParaRPr lang="en-US" sz="1800" dirty="0"/>
          </a:p>
        </p:txBody>
      </p:sp>
      <p:sp>
        <p:nvSpPr>
          <p:cNvPr id="7" name="Text 4"/>
          <p:cNvSpPr txBox="1"/>
          <p:nvPr/>
        </p:nvSpPr>
        <p:spPr>
          <a:xfrm>
            <a:off x="5349240" y="1325880"/>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Marketing and outreach for all apps</a:t>
            </a:r>
            <a:endParaRPr lang="en-US" sz="1350" dirty="0"/>
          </a:p>
        </p:txBody>
      </p:sp>
      <p:sp>
        <p:nvSpPr>
          <p:cNvPr id="8" name="Shape 5"/>
          <p:cNvSpPr/>
          <p:nvPr/>
        </p:nvSpPr>
        <p:spPr>
          <a:xfrm>
            <a:off x="4114800" y="1911096"/>
            <a:ext cx="201168" cy="201168"/>
          </a:xfrm>
          <a:prstGeom prst="ellipse">
            <a:avLst/>
          </a:prstGeom>
          <a:solidFill>
            <a:srgbClr val="D98B3C"/>
          </a:solidFill>
          <a:ln w="12700">
            <a:solidFill>
              <a:srgbClr val="D98B3C"/>
            </a:solidFill>
            <a:prstDash val="solid"/>
          </a:ln>
        </p:spPr>
      </p:sp>
      <p:sp>
        <p:nvSpPr>
          <p:cNvPr id="9" name="Text 6"/>
          <p:cNvSpPr txBox="1"/>
          <p:nvPr/>
        </p:nvSpPr>
        <p:spPr>
          <a:xfrm>
            <a:off x="4434840" y="1819656"/>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$120K</a:t>
            </a:r>
            <a:endParaRPr lang="en-US" sz="1800" dirty="0"/>
          </a:p>
        </p:txBody>
      </p:sp>
      <p:sp>
        <p:nvSpPr>
          <p:cNvPr id="10" name="Text 7"/>
          <p:cNvSpPr txBox="1"/>
          <p:nvPr/>
        </p:nvSpPr>
        <p:spPr>
          <a:xfrm>
            <a:off x="5349240" y="1819656"/>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Founder salary: 18 months full-time</a:t>
            </a:r>
            <a:endParaRPr lang="en-US" sz="1350" dirty="0"/>
          </a:p>
        </p:txBody>
      </p:sp>
      <p:sp>
        <p:nvSpPr>
          <p:cNvPr id="11" name="Shape 8"/>
          <p:cNvSpPr/>
          <p:nvPr/>
        </p:nvSpPr>
        <p:spPr>
          <a:xfrm>
            <a:off x="4114800" y="2404872"/>
            <a:ext cx="201168" cy="201168"/>
          </a:xfrm>
          <a:prstGeom prst="ellipse">
            <a:avLst/>
          </a:prstGeom>
          <a:solidFill>
            <a:srgbClr val="4F7F63"/>
          </a:solidFill>
          <a:ln w="12700">
            <a:solidFill>
              <a:srgbClr val="4F7F63"/>
            </a:solidFill>
            <a:prstDash val="solid"/>
          </a:ln>
        </p:spPr>
      </p:sp>
      <p:sp>
        <p:nvSpPr>
          <p:cNvPr id="12" name="Text 9"/>
          <p:cNvSpPr txBox="1"/>
          <p:nvPr/>
        </p:nvSpPr>
        <p:spPr>
          <a:xfrm>
            <a:off x="4434840" y="2313432"/>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$90K</a:t>
            </a:r>
            <a:endParaRPr lang="en-US" sz="1800" dirty="0"/>
          </a:p>
        </p:txBody>
      </p:sp>
      <p:sp>
        <p:nvSpPr>
          <p:cNvPr id="13" name="Text 10"/>
          <p:cNvSpPr txBox="1"/>
          <p:nvPr/>
        </p:nvSpPr>
        <p:spPr>
          <a:xfrm>
            <a:off x="5349240" y="2313432"/>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Building 8 new apps with AppForge</a:t>
            </a:r>
            <a:endParaRPr lang="en-US" sz="1350" dirty="0"/>
          </a:p>
        </p:txBody>
      </p:sp>
      <p:sp>
        <p:nvSpPr>
          <p:cNvPr id="14" name="Shape 11"/>
          <p:cNvSpPr/>
          <p:nvPr/>
        </p:nvSpPr>
        <p:spPr>
          <a:xfrm>
            <a:off x="4114800" y="2898648"/>
            <a:ext cx="201168" cy="201168"/>
          </a:xfrm>
          <a:prstGeom prst="ellipse">
            <a:avLst/>
          </a:prstGeom>
          <a:solidFill>
            <a:srgbClr val="8FA98E"/>
          </a:solidFill>
          <a:ln w="12700">
            <a:solidFill>
              <a:srgbClr val="8FA98E"/>
            </a:solidFill>
            <a:prstDash val="solid"/>
          </a:ln>
        </p:spPr>
      </p:sp>
      <p:sp>
        <p:nvSpPr>
          <p:cNvPr id="15" name="Text 12"/>
          <p:cNvSpPr txBox="1"/>
          <p:nvPr/>
        </p:nvSpPr>
        <p:spPr>
          <a:xfrm>
            <a:off x="4434840" y="2807208"/>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$30K</a:t>
            </a:r>
            <a:endParaRPr lang="en-US" sz="1800" dirty="0"/>
          </a:p>
        </p:txBody>
      </p:sp>
      <p:sp>
        <p:nvSpPr>
          <p:cNvPr id="16" name="Text 13"/>
          <p:cNvSpPr txBox="1"/>
          <p:nvPr/>
        </p:nvSpPr>
        <p:spPr>
          <a:xfrm>
            <a:off x="5349240" y="2807208"/>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AI, hosting and infrastructure</a:t>
            </a:r>
            <a:endParaRPr lang="en-US" sz="1350" dirty="0"/>
          </a:p>
        </p:txBody>
      </p:sp>
      <p:sp>
        <p:nvSpPr>
          <p:cNvPr id="17" name="Shape 14"/>
          <p:cNvSpPr/>
          <p:nvPr/>
        </p:nvSpPr>
        <p:spPr>
          <a:xfrm>
            <a:off x="4114800" y="3392424"/>
            <a:ext cx="201168" cy="201168"/>
          </a:xfrm>
          <a:prstGeom prst="ellipse">
            <a:avLst/>
          </a:prstGeom>
          <a:solidFill>
            <a:srgbClr val="B9A67A"/>
          </a:solidFill>
          <a:ln w="12700">
            <a:solidFill>
              <a:srgbClr val="B9A67A"/>
            </a:solidFill>
            <a:prstDash val="solid"/>
          </a:ln>
        </p:spPr>
      </p:sp>
      <p:sp>
        <p:nvSpPr>
          <p:cNvPr id="18" name="Text 15"/>
          <p:cNvSpPr txBox="1"/>
          <p:nvPr/>
        </p:nvSpPr>
        <p:spPr>
          <a:xfrm>
            <a:off x="4434840" y="3300984"/>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$25K</a:t>
            </a:r>
            <a:endParaRPr lang="en-US" sz="1800" dirty="0"/>
          </a:p>
        </p:txBody>
      </p:sp>
      <p:sp>
        <p:nvSpPr>
          <p:cNvPr id="19" name="Text 16"/>
          <p:cNvSpPr txBox="1"/>
          <p:nvPr/>
        </p:nvSpPr>
        <p:spPr>
          <a:xfrm>
            <a:off x="5349240" y="3300984"/>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Legal, accounting and operations</a:t>
            </a:r>
            <a:endParaRPr lang="en-US" sz="1350" dirty="0"/>
          </a:p>
        </p:txBody>
      </p:sp>
      <p:sp>
        <p:nvSpPr>
          <p:cNvPr id="20" name="Shape 17"/>
          <p:cNvSpPr/>
          <p:nvPr/>
        </p:nvSpPr>
        <p:spPr>
          <a:xfrm>
            <a:off x="4114800" y="3886200"/>
            <a:ext cx="201168" cy="201168"/>
          </a:xfrm>
          <a:prstGeom prst="ellipse">
            <a:avLst/>
          </a:prstGeom>
          <a:solidFill>
            <a:srgbClr val="D9CBA6"/>
          </a:solidFill>
          <a:ln w="12700">
            <a:solidFill>
              <a:srgbClr val="D9CBA6"/>
            </a:solidFill>
            <a:prstDash val="solid"/>
          </a:ln>
        </p:spPr>
      </p:sp>
      <p:sp>
        <p:nvSpPr>
          <p:cNvPr id="21" name="Text 18"/>
          <p:cNvSpPr txBox="1"/>
          <p:nvPr/>
        </p:nvSpPr>
        <p:spPr>
          <a:xfrm>
            <a:off x="4434840" y="3794760"/>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$25K</a:t>
            </a:r>
            <a:endParaRPr lang="en-US" sz="1800" dirty="0"/>
          </a:p>
        </p:txBody>
      </p:sp>
      <p:sp>
        <p:nvSpPr>
          <p:cNvPr id="22" name="Text 19"/>
          <p:cNvSpPr txBox="1"/>
          <p:nvPr/>
        </p:nvSpPr>
        <p:spPr>
          <a:xfrm>
            <a:off x="5349240" y="3794760"/>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Reserve</a:t>
            </a:r>
            <a:endParaRPr lang="en-US" sz="1350" dirty="0"/>
          </a:p>
        </p:txBody>
      </p:sp>
      <p:sp>
        <p:nvSpPr>
          <p:cNvPr id="23" name="Text 20"/>
          <p:cNvSpPr txBox="1"/>
          <p:nvPr/>
        </p:nvSpPr>
        <p:spPr>
          <a:xfrm>
            <a:off x="4114800" y="4389120"/>
            <a:ext cx="4572000" cy="274320"/>
          </a:xfrm>
          <a:prstGeom prst="rect">
            <a:avLst/>
          </a:prstGeom>
          <a:noFill/>
          <a:ln/>
        </p:spPr>
        <p:txBody>
          <a:bodyPr wrap="square" lIns="0" tIns="0" rIns="0" bIns="0" rtlCol="0" anchor="t"/>
          <a:lstStyle/>
          <a:p>
            <a:pPr indent="0" marL="0">
              <a:buNone/>
            </a:pPr>
            <a:r>
              <a:rPr lang="en-US" sz="1250" i="1" dirty="0">
                <a:solidFill>
                  <a:srgbClr val="4E5D53"/>
                </a:solidFill>
                <a:latin typeface="Calibri" pitchFamily="34" charset="0"/>
                <a:ea typeface="Calibri" pitchFamily="34" charset="-122"/>
                <a:cs typeface="Calibri" pitchFamily="34" charset="-120"/>
              </a:rPr>
              <a:t>About 18 months of runway on a lean, founder-led budget.</a:t>
            </a:r>
            <a:endParaRPr lang="en-US" sz="1250" dirty="0"/>
          </a:p>
        </p:txBody>
      </p:sp>
      <p:sp>
        <p:nvSpPr>
          <p:cNvPr id="25" name="Text 21"/>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6" name="Text 22"/>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22 / 27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Roadmap &amp; Milestones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From 2 apps to 10 in 18 months</a:t>
            </a:r>
            <a:endParaRPr lang="en-US" sz="2600" dirty="0"/>
          </a:p>
        </p:txBody>
      </p:sp>
      <p:sp>
        <p:nvSpPr>
          <p:cNvPr id="4" name="Shape 2"/>
          <p:cNvSpPr/>
          <p:nvPr/>
        </p:nvSpPr>
        <p:spPr>
          <a:xfrm>
            <a:off x="621792" y="1600200"/>
            <a:ext cx="0" cy="2697480"/>
          </a:xfrm>
          <a:prstGeom prst="line">
            <a:avLst/>
          </a:prstGeom>
          <a:noFill/>
          <a:ln w="25400">
            <a:solidFill>
              <a:srgbClr val="ECE1C7"/>
            </a:solidFill>
            <a:prstDash val="solid"/>
          </a:ln>
        </p:spPr>
      </p:sp>
      <p:sp>
        <p:nvSpPr>
          <p:cNvPr id="5" name="Shape 3"/>
          <p:cNvSpPr/>
          <p:nvPr/>
        </p:nvSpPr>
        <p:spPr>
          <a:xfrm>
            <a:off x="457200" y="1417320"/>
            <a:ext cx="329184" cy="329184"/>
          </a:xfrm>
          <a:prstGeom prst="ellipse">
            <a:avLst/>
          </a:prstGeom>
          <a:solidFill>
            <a:srgbClr val="D98B3C"/>
          </a:solidFill>
          <a:ln w="19050">
            <a:solidFill>
              <a:srgbClr val="D98B3C"/>
            </a:solidFill>
            <a:prstDash val="solid"/>
          </a:ln>
        </p:spPr>
      </p:sp>
      <p:sp>
        <p:nvSpPr>
          <p:cNvPr id="6" name="Text 4"/>
          <p:cNvSpPr txBox="1"/>
          <p:nvPr/>
        </p:nvSpPr>
        <p:spPr>
          <a:xfrm>
            <a:off x="960120" y="1371600"/>
            <a:ext cx="41148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Months 0–3</a:t>
            </a:r>
            <a:endParaRPr lang="en-US" sz="1400" dirty="0"/>
          </a:p>
        </p:txBody>
      </p:sp>
      <p:sp>
        <p:nvSpPr>
          <p:cNvPr id="7" name="Text 5"/>
          <p:cNvSpPr txBox="1"/>
          <p:nvPr/>
        </p:nvSpPr>
        <p:spPr>
          <a:xfrm>
            <a:off x="960120" y="1664208"/>
            <a:ext cx="411480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Turn trials into paying users; test ads; add group plans</a:t>
            </a:r>
            <a:endParaRPr lang="en-US" sz="1250" dirty="0"/>
          </a:p>
        </p:txBody>
      </p:sp>
      <p:sp>
        <p:nvSpPr>
          <p:cNvPr id="8" name="Shape 6"/>
          <p:cNvSpPr/>
          <p:nvPr/>
        </p:nvSpPr>
        <p:spPr>
          <a:xfrm>
            <a:off x="457200" y="2203704"/>
            <a:ext cx="329184" cy="329184"/>
          </a:xfrm>
          <a:prstGeom prst="ellipse">
            <a:avLst/>
          </a:prstGeom>
          <a:solidFill>
            <a:srgbClr val="FFFFFF"/>
          </a:solidFill>
          <a:ln w="19050">
            <a:solidFill>
              <a:srgbClr val="D98B3C"/>
            </a:solidFill>
            <a:prstDash val="solid"/>
          </a:ln>
        </p:spPr>
      </p:sp>
      <p:sp>
        <p:nvSpPr>
          <p:cNvPr id="9" name="Text 7"/>
          <p:cNvSpPr txBox="1"/>
          <p:nvPr/>
        </p:nvSpPr>
        <p:spPr>
          <a:xfrm>
            <a:off x="960120" y="2157984"/>
            <a:ext cx="41148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Months 4–6</a:t>
            </a:r>
            <a:endParaRPr lang="en-US" sz="1400" dirty="0"/>
          </a:p>
        </p:txBody>
      </p:sp>
      <p:sp>
        <p:nvSpPr>
          <p:cNvPr id="10" name="Text 8"/>
          <p:cNvSpPr txBox="1"/>
          <p:nvPr/>
        </p:nvSpPr>
        <p:spPr>
          <a:xfrm>
            <a:off x="960120" y="2450592"/>
            <a:ext cx="411480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Grow the best ad channels; launch apps 3 and 4</a:t>
            </a:r>
            <a:endParaRPr lang="en-US" sz="1250" dirty="0"/>
          </a:p>
        </p:txBody>
      </p:sp>
      <p:sp>
        <p:nvSpPr>
          <p:cNvPr id="11" name="Shape 9"/>
          <p:cNvSpPr/>
          <p:nvPr/>
        </p:nvSpPr>
        <p:spPr>
          <a:xfrm>
            <a:off x="457200" y="2990088"/>
            <a:ext cx="329184" cy="329184"/>
          </a:xfrm>
          <a:prstGeom prst="ellipse">
            <a:avLst/>
          </a:prstGeom>
          <a:solidFill>
            <a:srgbClr val="FFFFFF"/>
          </a:solidFill>
          <a:ln w="19050">
            <a:solidFill>
              <a:srgbClr val="D98B3C"/>
            </a:solidFill>
            <a:prstDash val="solid"/>
          </a:ln>
        </p:spPr>
      </p:sp>
      <p:sp>
        <p:nvSpPr>
          <p:cNvPr id="12" name="Text 10"/>
          <p:cNvSpPr txBox="1"/>
          <p:nvPr/>
        </p:nvSpPr>
        <p:spPr>
          <a:xfrm>
            <a:off x="960120" y="2944368"/>
            <a:ext cx="41148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Months 7–12</a:t>
            </a:r>
            <a:endParaRPr lang="en-US" sz="1400" dirty="0"/>
          </a:p>
        </p:txBody>
      </p:sp>
      <p:sp>
        <p:nvSpPr>
          <p:cNvPr id="13" name="Text 11"/>
          <p:cNvSpPr txBox="1"/>
          <p:nvPr/>
        </p:nvSpPr>
        <p:spPr>
          <a:xfrm>
            <a:off x="960120" y="3236976"/>
            <a:ext cx="411480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Launch apps 5 to 7; promote apps to each other's users</a:t>
            </a:r>
            <a:endParaRPr lang="en-US" sz="1250" dirty="0"/>
          </a:p>
        </p:txBody>
      </p:sp>
      <p:sp>
        <p:nvSpPr>
          <p:cNvPr id="14" name="Shape 12"/>
          <p:cNvSpPr/>
          <p:nvPr/>
        </p:nvSpPr>
        <p:spPr>
          <a:xfrm>
            <a:off x="457200" y="3776472"/>
            <a:ext cx="329184" cy="329184"/>
          </a:xfrm>
          <a:prstGeom prst="ellipse">
            <a:avLst/>
          </a:prstGeom>
          <a:solidFill>
            <a:srgbClr val="FFFFFF"/>
          </a:solidFill>
          <a:ln w="19050">
            <a:solidFill>
              <a:srgbClr val="D98B3C"/>
            </a:solidFill>
            <a:prstDash val="solid"/>
          </a:ln>
        </p:spPr>
      </p:sp>
      <p:sp>
        <p:nvSpPr>
          <p:cNvPr id="15" name="Text 13"/>
          <p:cNvSpPr txBox="1"/>
          <p:nvPr/>
        </p:nvSpPr>
        <p:spPr>
          <a:xfrm>
            <a:off x="960120" y="3730752"/>
            <a:ext cx="41148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Months 13–18</a:t>
            </a:r>
            <a:endParaRPr lang="en-US" sz="1400" dirty="0"/>
          </a:p>
        </p:txBody>
      </p:sp>
      <p:sp>
        <p:nvSpPr>
          <p:cNvPr id="16" name="Text 14"/>
          <p:cNvSpPr txBox="1"/>
          <p:nvPr/>
        </p:nvSpPr>
        <p:spPr>
          <a:xfrm>
            <a:off x="960120" y="4023360"/>
            <a:ext cx="411480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Launch apps 8 to 10; raise a seed round to market all 10 apps at scale</a:t>
            </a:r>
            <a:endParaRPr lang="en-US" sz="1250" dirty="0"/>
          </a:p>
        </p:txBody>
      </p:sp>
      <p:graphicFrame>
        <p:nvGraphicFramePr>
          <p:cNvPr id="17" name="Chart 0" descr=""/>
          <p:cNvGraphicFramePr/>
          <p:nvPr/>
        </p:nvGraphicFramePr>
        <p:xfrm>
          <a:off x="5257800" y="1280160"/>
          <a:ext cx="3474720" cy="301752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257800" y="4315968"/>
            <a:ext cx="3474720" cy="36576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Goals, not guarantees: 1,000 subscribers at ~$38 average ≈ $38K a month in revenue.</a:t>
            </a:r>
            <a:endParaRPr lang="en-US" sz="1100" dirty="0"/>
          </a:p>
        </p:txBody>
      </p:sp>
      <p:sp>
        <p:nvSpPr>
          <p:cNvPr id="20"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1"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23 / 27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Financial Projections  ·  5-year plan</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Profitable in year 3, ~$4.8M revenue by year 5</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200400"/>
                <a:gridCol w="1005840"/>
                <a:gridCol w="1005840"/>
                <a:gridCol w="1005840"/>
                <a:gridCol w="1005840"/>
                <a:gridCol w="1005840"/>
              </a:tblGrid>
              <a:tr h="384048">
                <a:tc>
                  <a:txBody>
                    <a:bodyPr/>
                    <a:lstStyle/>
                    <a:p>
                      <a:pPr algn="ctr" indent="0" marL="0">
                        <a:buNone/>
                      </a:pP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200" b="1" dirty="0">
                          <a:solidFill>
                            <a:srgbClr val="F4EBD5"/>
                          </a:solidFill>
                          <a:latin typeface="Calibri" pitchFamily="34" charset="0"/>
                          <a:ea typeface="Calibri" pitchFamily="34" charset="-122"/>
                          <a:cs typeface="Calibri" pitchFamily="34" charset="-120"/>
                        </a:rPr>
                        <a:t>Year 1</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00" b="1" dirty="0">
                          <a:solidFill>
                            <a:srgbClr val="F4EBD5"/>
                          </a:solidFill>
                          <a:latin typeface="Calibri" pitchFamily="34" charset="0"/>
                          <a:ea typeface="Calibri" pitchFamily="34" charset="-122"/>
                          <a:cs typeface="Calibri" pitchFamily="34" charset="-120"/>
                        </a:rPr>
                        <a:t>Year 2</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00" b="1" dirty="0">
                          <a:solidFill>
                            <a:srgbClr val="F4EBD5"/>
                          </a:solidFill>
                          <a:latin typeface="Calibri" pitchFamily="34" charset="0"/>
                          <a:ea typeface="Calibri" pitchFamily="34" charset="-122"/>
                          <a:cs typeface="Calibri" pitchFamily="34" charset="-120"/>
                        </a:rPr>
                        <a:t>Year 3</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00" b="1" dirty="0">
                          <a:solidFill>
                            <a:srgbClr val="F4EBD5"/>
                          </a:solidFill>
                          <a:latin typeface="Calibri" pitchFamily="34" charset="0"/>
                          <a:ea typeface="Calibri" pitchFamily="34" charset="-122"/>
                          <a:cs typeface="Calibri" pitchFamily="34" charset="-120"/>
                        </a:rPr>
                        <a:t>Year 4</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00" b="1" dirty="0">
                          <a:solidFill>
                            <a:srgbClr val="F4EBD5"/>
                          </a:solidFill>
                          <a:latin typeface="Calibri" pitchFamily="34" charset="0"/>
                          <a:ea typeface="Calibri" pitchFamily="34" charset="-122"/>
                          <a:cs typeface="Calibri" pitchFamily="34" charset="-120"/>
                        </a:rPr>
                        <a:t>Year 5</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84048">
                <a:tc>
                  <a:txBody>
                    <a:bodyPr/>
                    <a:lstStyle/>
                    <a:p>
                      <a:pPr algn="l" indent="0" marL="0">
                        <a:buNone/>
                      </a:pPr>
                      <a:r>
                        <a:rPr lang="en-US" sz="1200" dirty="0">
                          <a:solidFill>
                            <a:srgbClr val="1B2A21"/>
                          </a:solidFill>
                          <a:latin typeface="Calibri" pitchFamily="34" charset="0"/>
                          <a:ea typeface="Calibri" pitchFamily="34" charset="-122"/>
                          <a:cs typeface="Calibri" pitchFamily="34" charset="-120"/>
                        </a:rPr>
                        <a:t>Paying subscribers (end of year)</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650</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8,000</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13,000</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2A21"/>
                          </a:solidFill>
                          <a:latin typeface="Calibri" pitchFamily="34" charset="0"/>
                          <a:ea typeface="Calibri" pitchFamily="34" charset="-122"/>
                          <a:cs typeface="Calibri" pitchFamily="34" charset="-120"/>
                        </a:rPr>
                        <a:t>Revenue</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$128K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$604K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$1.48M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$2.85M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$4.79M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2A21"/>
                          </a:solidFill>
                          <a:latin typeface="Calibri" pitchFamily="34" charset="0"/>
                          <a:ea typeface="Calibri" pitchFamily="34" charset="-122"/>
                          <a:cs typeface="Calibri" pitchFamily="34" charset="-120"/>
                        </a:rPr>
                        <a:t>App-store fees, AI and hosting (~27%)</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$35K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$163K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$400K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$770K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$1.29M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2A21"/>
                          </a:solidFill>
                          <a:latin typeface="Calibri" pitchFamily="34" charset="0"/>
                          <a:ea typeface="Calibri" pitchFamily="34" charset="-122"/>
                          <a:cs typeface="Calibri" pitchFamily="34" charset="-120"/>
                        </a:rPr>
                        <a:t>Operating costs (marketing, salaries, other)</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$340K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$600K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$900K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$1.40M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$2.00M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1B2A21"/>
                          </a:solidFill>
                          <a:latin typeface="Calibri" pitchFamily="34" charset="0"/>
                          <a:ea typeface="Calibri" pitchFamily="34" charset="-122"/>
                          <a:cs typeface="Calibri" pitchFamily="34" charset="-120"/>
                        </a:rPr>
                        <a:t>Profit (loss)</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−$247K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−$159K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$182K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$680K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$1.50M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3749040"/>
            <a:ext cx="8229600" cy="256032"/>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Key assumptions</a:t>
            </a:r>
            <a:endParaRPr lang="en-US" sz="1300" dirty="0"/>
          </a:p>
        </p:txBody>
      </p:sp>
      <p:sp>
        <p:nvSpPr>
          <p:cNvPr id="6" name="Text 3"/>
          <p:cNvSpPr txBox="1"/>
          <p:nvPr/>
        </p:nvSpPr>
        <p:spPr>
          <a:xfrm>
            <a:off x="457200" y="4023360"/>
            <a:ext cx="8229600" cy="548640"/>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Average price ~$38/month · ~5% of subscribers cancel each month · new apps launch on the roadmap above · this $450K round covers about 18 months, including the founder's salary, and a seed round around month 18 funds marketing apps 3–10 at scale.</a:t>
            </a:r>
            <a:endParaRPr lang="en-US" sz="1200" dirty="0"/>
          </a:p>
        </p:txBody>
      </p:sp>
      <p:sp>
        <p:nvSpPr>
          <p:cNvPr id="8" name="Text 4"/>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9" name="Text 5"/>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24 / 27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Team &amp; Founders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founder who can both build and sell</a:t>
            </a:r>
            <a:endParaRPr lang="en-US" sz="2600" dirty="0"/>
          </a:p>
        </p:txBody>
      </p:sp>
      <p:sp>
        <p:nvSpPr>
          <p:cNvPr id="4" name="Shape 2"/>
          <p:cNvSpPr/>
          <p:nvPr/>
        </p:nvSpPr>
        <p:spPr>
          <a:xfrm>
            <a:off x="457200" y="1371600"/>
            <a:ext cx="4206240" cy="3246120"/>
          </a:xfrm>
          <a:prstGeom prst="roundRect">
            <a:avLst>
              <a:gd name="adj" fmla="val 2254"/>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713232" y="1572768"/>
            <a:ext cx="731520" cy="7315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903427" y="1762963"/>
            <a:ext cx="351130" cy="351130"/>
          </a:xfrm>
          <a:prstGeom prst="rect">
            <a:avLst/>
          </a:prstGeom>
        </p:spPr>
      </p:pic>
      <p:sp>
        <p:nvSpPr>
          <p:cNvPr id="7" name="Text 4"/>
          <p:cNvSpPr txBox="1"/>
          <p:nvPr/>
        </p:nvSpPr>
        <p:spPr>
          <a:xfrm>
            <a:off x="1627632" y="1645920"/>
            <a:ext cx="2926080" cy="347472"/>
          </a:xfrm>
          <a:prstGeom prst="rect">
            <a:avLst/>
          </a:prstGeom>
          <a:noFill/>
          <a:ln/>
        </p:spPr>
        <p:txBody>
          <a:bodyPr wrap="square" lIns="0" tIns="0" rIns="0" bIns="0" rtlCol="0" anchor="t"/>
          <a:lstStyle/>
          <a:p>
            <a:pPr indent="0" marL="0">
              <a:buNone/>
            </a:pPr>
            <a:r>
              <a:rPr lang="en-US" sz="1900" b="1" dirty="0">
                <a:solidFill>
                  <a:srgbClr val="143D28"/>
                </a:solidFill>
                <a:latin typeface="Cambria" pitchFamily="34" charset="0"/>
                <a:ea typeface="Cambria" pitchFamily="34" charset="-122"/>
                <a:cs typeface="Cambria" pitchFamily="34" charset="-120"/>
              </a:rPr>
              <a:t>James Chambers</a:t>
            </a:r>
            <a:endParaRPr lang="en-US" sz="1900" dirty="0"/>
          </a:p>
        </p:txBody>
      </p:sp>
      <p:sp>
        <p:nvSpPr>
          <p:cNvPr id="8" name="Text 5"/>
          <p:cNvSpPr txBox="1"/>
          <p:nvPr/>
        </p:nvSpPr>
        <p:spPr>
          <a:xfrm>
            <a:off x="1627632" y="1993392"/>
            <a:ext cx="292608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Founder &amp; CEO</a:t>
            </a:r>
            <a:endParaRPr lang="en-US" sz="1300" dirty="0"/>
          </a:p>
        </p:txBody>
      </p:sp>
      <p:sp>
        <p:nvSpPr>
          <p:cNvPr id="9" name="Text 6"/>
          <p:cNvSpPr txBox="1"/>
          <p:nvPr/>
        </p:nvSpPr>
        <p:spPr>
          <a:xfrm>
            <a:off x="713232" y="2514600"/>
            <a:ext cx="3794760" cy="2011680"/>
          </a:xfrm>
          <a:prstGeom prst="rect">
            <a:avLst/>
          </a:prstGeom>
          <a:noFill/>
          <a:ln/>
        </p:spPr>
        <p:txBody>
          <a:bodyPr wrap="square" lIns="0" tIns="0" rIns="0" bIns="0" rtlCol="0" anchor="t"/>
          <a:lstStyle/>
          <a:p>
            <a:pPr marL="190500" indent="-1905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Degree in computer science</a:t>
            </a:r>
            <a:endParaRPr lang="en-US" sz="1300" dirty="0"/>
          </a:p>
          <a:p>
            <a:pPr marL="190500" indent="-1905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40+ years in sales across many industries</a:t>
            </a:r>
            <a:endParaRPr lang="en-US" sz="1300" dirty="0"/>
          </a:p>
          <a:p>
            <a:pPr marL="190500" indent="-1905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Started Cedarworks after seeing the workload his bishop carried</a:t>
            </a:r>
            <a:endParaRPr lang="en-US" sz="1300" dirty="0"/>
          </a:p>
          <a:p>
            <a:pPr marL="190500" indent="-1905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Built PastorAI, Ready Room and AppForge himself</a:t>
            </a:r>
            <a:endParaRPr lang="en-US" sz="1300" dirty="0"/>
          </a:p>
          <a:p>
            <a:pPr marL="190500" indent="-1905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Will work on Cedarworks full-time with this round</a:t>
            </a:r>
            <a:endParaRPr lang="en-US" sz="1300" dirty="0"/>
          </a:p>
        </p:txBody>
      </p:sp>
      <p:sp>
        <p:nvSpPr>
          <p:cNvPr id="10" name="Text 7"/>
          <p:cNvSpPr txBox="1"/>
          <p:nvPr/>
        </p:nvSpPr>
        <p:spPr>
          <a:xfrm>
            <a:off x="4937760" y="1371600"/>
            <a:ext cx="374904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Hiring with this round</a:t>
            </a:r>
            <a:endParaRPr lang="en-US" sz="1300" dirty="0"/>
          </a:p>
        </p:txBody>
      </p:sp>
      <p:sp>
        <p:nvSpPr>
          <p:cNvPr id="11" name="Shape 8"/>
          <p:cNvSpPr/>
          <p:nvPr/>
        </p:nvSpPr>
        <p:spPr>
          <a:xfrm>
            <a:off x="4937760" y="1783080"/>
            <a:ext cx="530352" cy="530352"/>
          </a:xfrm>
          <a:prstGeom prst="ellipse">
            <a:avLst/>
          </a:prstGeom>
          <a:solidFill>
            <a:srgbClr val="FFFFFF"/>
          </a:solidFill>
          <a:ln w="19050">
            <a:solidFill>
              <a:srgbClr val="D98B3C"/>
            </a:solidFill>
            <a:prstDash val="solid"/>
          </a:ln>
        </p:spPr>
      </p:sp>
      <p:pic>
        <p:nvPicPr>
          <p:cNvPr id="12" name="Image 1" descr="preencoded.png">    </p:cNvPr>
          <p:cNvPicPr>
            <a:picLocks noChangeAspect="1"/>
          </p:cNvPicPr>
          <p:nvPr/>
        </p:nvPicPr>
        <p:blipFill>
          <a:blip r:embed="rId2"/>
          <a:stretch>
            <a:fillRect/>
          </a:stretch>
        </p:blipFill>
        <p:spPr>
          <a:xfrm>
            <a:off x="5075652" y="1920972"/>
            <a:ext cx="254569" cy="254569"/>
          </a:xfrm>
          <a:prstGeom prst="rect">
            <a:avLst/>
          </a:prstGeom>
        </p:spPr>
      </p:pic>
      <p:sp>
        <p:nvSpPr>
          <p:cNvPr id="13" name="Text 9"/>
          <p:cNvSpPr txBox="1"/>
          <p:nvPr/>
        </p:nvSpPr>
        <p:spPr>
          <a:xfrm>
            <a:off x="5623560" y="1783080"/>
            <a:ext cx="3063240" cy="274320"/>
          </a:xfrm>
          <a:prstGeom prst="rect">
            <a:avLst/>
          </a:prstGeom>
          <a:noFill/>
          <a:ln/>
        </p:spPr>
        <p:txBody>
          <a:bodyPr wrap="square" lIns="0" tIns="0" rIns="0" bIns="0" rtlCol="0" anchor="t"/>
          <a:lstStyle/>
          <a:p>
            <a:pPr indent="0" marL="0">
              <a:buNone/>
            </a:pPr>
            <a:r>
              <a:rPr lang="en-US" sz="1500" b="1" dirty="0">
                <a:solidFill>
                  <a:srgbClr val="143D28"/>
                </a:solidFill>
                <a:latin typeface="Calibri" pitchFamily="34" charset="0"/>
                <a:ea typeface="Calibri" pitchFamily="34" charset="-122"/>
                <a:cs typeface="Calibri" pitchFamily="34" charset="-120"/>
              </a:rPr>
              <a:t>Contract developer</a:t>
            </a:r>
            <a:endParaRPr lang="en-US" sz="1500" dirty="0"/>
          </a:p>
        </p:txBody>
      </p:sp>
      <p:sp>
        <p:nvSpPr>
          <p:cNvPr id="14" name="Text 10"/>
          <p:cNvSpPr txBox="1"/>
          <p:nvPr/>
        </p:nvSpPr>
        <p:spPr>
          <a:xfrm>
            <a:off x="5623560" y="2075688"/>
            <a:ext cx="306324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Speeds up launching the next eight apps</a:t>
            </a:r>
            <a:endParaRPr lang="en-US" sz="1250" dirty="0"/>
          </a:p>
        </p:txBody>
      </p:sp>
      <p:sp>
        <p:nvSpPr>
          <p:cNvPr id="15" name="Shape 11"/>
          <p:cNvSpPr/>
          <p:nvPr/>
        </p:nvSpPr>
        <p:spPr>
          <a:xfrm>
            <a:off x="4937760" y="2697480"/>
            <a:ext cx="530352" cy="530352"/>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5075652" y="2835372"/>
            <a:ext cx="254569" cy="254569"/>
          </a:xfrm>
          <a:prstGeom prst="rect">
            <a:avLst/>
          </a:prstGeom>
        </p:spPr>
      </p:pic>
      <p:sp>
        <p:nvSpPr>
          <p:cNvPr id="17" name="Text 12"/>
          <p:cNvSpPr txBox="1"/>
          <p:nvPr/>
        </p:nvSpPr>
        <p:spPr>
          <a:xfrm>
            <a:off x="5623560" y="2697480"/>
            <a:ext cx="3063240" cy="274320"/>
          </a:xfrm>
          <a:prstGeom prst="rect">
            <a:avLst/>
          </a:prstGeom>
          <a:noFill/>
          <a:ln/>
        </p:spPr>
        <p:txBody>
          <a:bodyPr wrap="square" lIns="0" tIns="0" rIns="0" bIns="0" rtlCol="0" anchor="t"/>
          <a:lstStyle/>
          <a:p>
            <a:pPr indent="0" marL="0">
              <a:buNone/>
            </a:pPr>
            <a:r>
              <a:rPr lang="en-US" sz="1500" b="1" dirty="0">
                <a:solidFill>
                  <a:srgbClr val="143D28"/>
                </a:solidFill>
                <a:latin typeface="Calibri" pitchFamily="34" charset="0"/>
                <a:ea typeface="Calibri" pitchFamily="34" charset="-122"/>
                <a:cs typeface="Calibri" pitchFamily="34" charset="-120"/>
              </a:rPr>
              <a:t>Part-time growth marketer</a:t>
            </a:r>
            <a:endParaRPr lang="en-US" sz="1500" dirty="0"/>
          </a:p>
        </p:txBody>
      </p:sp>
      <p:sp>
        <p:nvSpPr>
          <p:cNvPr id="18" name="Text 13"/>
          <p:cNvSpPr txBox="1"/>
          <p:nvPr/>
        </p:nvSpPr>
        <p:spPr>
          <a:xfrm>
            <a:off x="5623560" y="2990088"/>
            <a:ext cx="306324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Runs ads, outreach and partnerships</a:t>
            </a:r>
            <a:endParaRPr lang="en-US" sz="1250" dirty="0"/>
          </a:p>
        </p:txBody>
      </p:sp>
      <p:sp>
        <p:nvSpPr>
          <p:cNvPr id="19" name="Shape 14"/>
          <p:cNvSpPr/>
          <p:nvPr/>
        </p:nvSpPr>
        <p:spPr>
          <a:xfrm>
            <a:off x="4937760" y="3611880"/>
            <a:ext cx="530352" cy="530352"/>
          </a:xfrm>
          <a:prstGeom prst="ellipse">
            <a:avLst/>
          </a:prstGeom>
          <a:solidFill>
            <a:srgbClr val="FFFFFF"/>
          </a:solidFill>
          <a:ln w="19050">
            <a:solidFill>
              <a:srgbClr val="D98B3C"/>
            </a:solidFill>
            <a:prstDash val="solid"/>
          </a:ln>
        </p:spPr>
      </p:sp>
      <p:pic>
        <p:nvPicPr>
          <p:cNvPr id="20" name="Image 3" descr="preencoded.png">    </p:cNvPr>
          <p:cNvPicPr>
            <a:picLocks noChangeAspect="1"/>
          </p:cNvPicPr>
          <p:nvPr/>
        </p:nvPicPr>
        <p:blipFill>
          <a:blip r:embed="rId4"/>
          <a:stretch>
            <a:fillRect/>
          </a:stretch>
        </p:blipFill>
        <p:spPr>
          <a:xfrm>
            <a:off x="5075652" y="3749772"/>
            <a:ext cx="254569" cy="254569"/>
          </a:xfrm>
          <a:prstGeom prst="rect">
            <a:avLst/>
          </a:prstGeom>
        </p:spPr>
      </p:pic>
      <p:sp>
        <p:nvSpPr>
          <p:cNvPr id="21" name="Text 15"/>
          <p:cNvSpPr txBox="1"/>
          <p:nvPr/>
        </p:nvSpPr>
        <p:spPr>
          <a:xfrm>
            <a:off x="5623560" y="3611880"/>
            <a:ext cx="3063240" cy="274320"/>
          </a:xfrm>
          <a:prstGeom prst="rect">
            <a:avLst/>
          </a:prstGeom>
          <a:noFill/>
          <a:ln/>
        </p:spPr>
        <p:txBody>
          <a:bodyPr wrap="square" lIns="0" tIns="0" rIns="0" bIns="0" rtlCol="0" anchor="t"/>
          <a:lstStyle/>
          <a:p>
            <a:pPr indent="0" marL="0">
              <a:buNone/>
            </a:pPr>
            <a:r>
              <a:rPr lang="en-US" sz="1500" b="1" dirty="0">
                <a:solidFill>
                  <a:srgbClr val="143D28"/>
                </a:solidFill>
                <a:latin typeface="Calibri" pitchFamily="34" charset="0"/>
                <a:ea typeface="Calibri" pitchFamily="34" charset="-122"/>
                <a:cs typeface="Calibri" pitchFamily="34" charset="-120"/>
              </a:rPr>
              <a:t>Advisors</a:t>
            </a:r>
            <a:endParaRPr lang="en-US" sz="1500" dirty="0"/>
          </a:p>
        </p:txBody>
      </p:sp>
      <p:sp>
        <p:nvSpPr>
          <p:cNvPr id="22" name="Text 16"/>
          <p:cNvSpPr txBox="1"/>
          <p:nvPr/>
        </p:nvSpPr>
        <p:spPr>
          <a:xfrm>
            <a:off x="5623560" y="3904488"/>
            <a:ext cx="306324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Ministry, sales-training and software mentors</a:t>
            </a:r>
            <a:endParaRPr lang="en-US" sz="1250" dirty="0"/>
          </a:p>
        </p:txBody>
      </p:sp>
      <p:sp>
        <p:nvSpPr>
          <p:cNvPr id="24" name="Text 17"/>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5" name="Text 18"/>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25 / 27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411480"/>
            <a:ext cx="594360" cy="59436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587959" y="542239"/>
            <a:ext cx="332842" cy="332842"/>
          </a:xfrm>
          <a:prstGeom prst="rect">
            <a:avLst/>
          </a:prstGeom>
        </p:spPr>
      </p:pic>
      <p:sp>
        <p:nvSpPr>
          <p:cNvPr id="4" name="Text 1"/>
          <p:cNvSpPr txBox="1"/>
          <p:nvPr/>
        </p:nvSpPr>
        <p:spPr>
          <a:xfrm>
            <a:off x="457200" y="118872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The Ask</a:t>
            </a:r>
            <a:endParaRPr lang="en-US" sz="1200" dirty="0"/>
          </a:p>
        </p:txBody>
      </p:sp>
      <p:sp>
        <p:nvSpPr>
          <p:cNvPr id="5" name="Text 2"/>
          <p:cNvSpPr txBox="1"/>
          <p:nvPr/>
        </p:nvSpPr>
        <p:spPr>
          <a:xfrm>
            <a:off x="457200" y="1463040"/>
            <a:ext cx="5212080" cy="1143000"/>
          </a:xfrm>
          <a:prstGeom prst="rect">
            <a:avLst/>
          </a:prstGeom>
          <a:noFill/>
          <a:ln/>
        </p:spPr>
        <p:txBody>
          <a:bodyPr wrap="square" lIns="0" tIns="0" rIns="0" bIns="0" rtlCol="0" anchor="t"/>
          <a:lstStyle/>
          <a:p>
            <a:pPr indent="0" marL="0">
              <a:buNone/>
            </a:pPr>
            <a:r>
              <a:rPr lang="en-US" sz="2700" b="1" dirty="0">
                <a:solidFill>
                  <a:srgbClr val="F4EBD5"/>
                </a:solidFill>
                <a:latin typeface="Cambria" pitchFamily="34" charset="0"/>
                <a:ea typeface="Cambria" pitchFamily="34" charset="-122"/>
                <a:cs typeface="Cambria" pitchFamily="34" charset="-120"/>
              </a:rPr>
              <a:t>Raising $450,000 to take Cedarworks from 2 apps to 10</a:t>
            </a:r>
            <a:endParaRPr lang="en-US" sz="2700" dirty="0"/>
          </a:p>
        </p:txBody>
      </p:sp>
      <p:sp>
        <p:nvSpPr>
          <p:cNvPr id="6" name="Text 3"/>
          <p:cNvSpPr txBox="1"/>
          <p:nvPr/>
        </p:nvSpPr>
        <p:spPr>
          <a:xfrm>
            <a:off x="457200" y="2606040"/>
            <a:ext cx="5212080" cy="1234440"/>
          </a:xfrm>
          <a:prstGeom prst="rect">
            <a:avLst/>
          </a:prstGeom>
          <a:noFill/>
          <a:ln/>
        </p:spPr>
        <p:txBody>
          <a:bodyPr wrap="square" lIns="0" tIns="0" rIns="0" bIns="0" rtlCol="0" anchor="t"/>
          <a:lstStyle/>
          <a:p>
            <a:pPr marL="190500" indent="-190500">
              <a:spcAft>
                <a:spcPts val="400"/>
              </a:spcAft>
              <a:buSzPct val="100000"/>
              <a:buChar char="•"/>
            </a:pPr>
            <a:r>
              <a:rPr lang="en-US" sz="1400" dirty="0">
                <a:solidFill>
                  <a:srgbClr val="F4EBD5"/>
                </a:solidFill>
                <a:latin typeface="Calibri" pitchFamily="34" charset="0"/>
                <a:ea typeface="Calibri" pitchFamily="34" charset="-122"/>
                <a:cs typeface="Calibri" pitchFamily="34" charset="-120"/>
              </a:rPr>
              <a:t>Fund the founder to build full-time</a:t>
            </a:r>
            <a:endParaRPr lang="en-US" sz="1400" dirty="0"/>
          </a:p>
          <a:p>
            <a:pPr marL="190500" indent="-190500">
              <a:spcAft>
                <a:spcPts val="400"/>
              </a:spcAft>
              <a:buSzPct val="100000"/>
              <a:buChar char="•"/>
            </a:pPr>
            <a:r>
              <a:rPr lang="en-US" sz="1400" dirty="0">
                <a:solidFill>
                  <a:srgbClr val="F4EBD5"/>
                </a:solidFill>
                <a:latin typeface="Calibri" pitchFamily="34" charset="0"/>
                <a:ea typeface="Calibri" pitchFamily="34" charset="-122"/>
                <a:cs typeface="Calibri" pitchFamily="34" charset="-120"/>
              </a:rPr>
              <a:t>Market PastorAI and Ready Room to paying users</a:t>
            </a:r>
            <a:endParaRPr lang="en-US" sz="1400" dirty="0"/>
          </a:p>
          <a:p>
            <a:pPr marL="190500" indent="-190500">
              <a:spcAft>
                <a:spcPts val="400"/>
              </a:spcAft>
              <a:buSzPct val="100000"/>
              <a:buChar char="•"/>
            </a:pPr>
            <a:r>
              <a:rPr lang="en-US" sz="1400" dirty="0">
                <a:solidFill>
                  <a:srgbClr val="F4EBD5"/>
                </a:solidFill>
                <a:latin typeface="Calibri" pitchFamily="34" charset="0"/>
                <a:ea typeface="Calibri" pitchFamily="34" charset="-122"/>
                <a:cs typeface="Calibri" pitchFamily="34" charset="-120"/>
              </a:rPr>
              <a:t>Launch 8 new apps with AppForge, reaching ~1,000 paying subscribers in 18 months</a:t>
            </a:r>
            <a:endParaRPr lang="en-US" sz="1400" dirty="0"/>
          </a:p>
        </p:txBody>
      </p:sp>
      <p:sp>
        <p:nvSpPr>
          <p:cNvPr id="7" name="Text 4"/>
          <p:cNvSpPr txBox="1"/>
          <p:nvPr/>
        </p:nvSpPr>
        <p:spPr>
          <a:xfrm>
            <a:off x="457200" y="3794760"/>
            <a:ext cx="5212080" cy="457200"/>
          </a:xfrm>
          <a:prstGeom prst="rect">
            <a:avLst/>
          </a:prstGeom>
          <a:noFill/>
          <a:ln/>
        </p:spPr>
        <p:txBody>
          <a:bodyPr wrap="square" lIns="0" tIns="0" rIns="0" bIns="0" rtlCol="0" anchor="t"/>
          <a:lstStyle/>
          <a:p>
            <a:pPr indent="0" marL="0">
              <a:buNone/>
            </a:pPr>
            <a:r>
              <a:rPr lang="en-US" sz="1250" dirty="0">
                <a:solidFill>
                  <a:srgbClr val="B7CDB6"/>
                </a:solidFill>
                <a:latin typeface="Calibri" pitchFamily="34" charset="0"/>
                <a:ea typeface="Calibri" pitchFamily="34" charset="-122"/>
                <a:cs typeface="Calibri" pitchFamily="34" charset="-120"/>
              </a:rPr>
              <a:t>Use of funds: $160K marketing · $120K founder salary (18 months) · $90K new apps · $30K AI and hosting · $25K operations · $25K reserve</a:t>
            </a:r>
            <a:endParaRPr lang="en-US" sz="1250" dirty="0"/>
          </a:p>
        </p:txBody>
      </p:sp>
      <p:sp>
        <p:nvSpPr>
          <p:cNvPr id="8" name="Text 5"/>
          <p:cNvSpPr txBox="1"/>
          <p:nvPr/>
        </p:nvSpPr>
        <p:spPr>
          <a:xfrm>
            <a:off x="457200" y="4297680"/>
            <a:ext cx="5212080" cy="274320"/>
          </a:xfrm>
          <a:prstGeom prst="rect">
            <a:avLst/>
          </a:prstGeom>
          <a:noFill/>
          <a:ln/>
        </p:spPr>
        <p:txBody>
          <a:bodyPr wrap="square" lIns="0" tIns="0" rIns="0" bIns="0" rtlCol="0" anchor="t"/>
          <a:lstStyle/>
          <a:p>
            <a:pPr indent="0" marL="0">
              <a:buNone/>
            </a:pPr>
            <a:r>
              <a:rPr lang="en-US" sz="1250" i="1" dirty="0">
                <a:solidFill>
                  <a:srgbClr val="B7CDB6"/>
                </a:solidFill>
                <a:latin typeface="Calibri" pitchFamily="34" charset="0"/>
                <a:ea typeface="Calibri" pitchFamily="34" charset="-122"/>
                <a:cs typeface="Calibri" pitchFamily="34" charset="-120"/>
              </a:rPr>
              <a:t>Pre-seed · terms open to discussion (SAFE or priced round)</a:t>
            </a:r>
            <a:endParaRPr lang="en-US" sz="1250" dirty="0"/>
          </a:p>
        </p:txBody>
      </p:sp>
      <p:sp>
        <p:nvSpPr>
          <p:cNvPr id="9" name="Shape 6"/>
          <p:cNvSpPr/>
          <p:nvPr/>
        </p:nvSpPr>
        <p:spPr>
          <a:xfrm>
            <a:off x="5943600" y="1325880"/>
            <a:ext cx="2743200" cy="3017520"/>
          </a:xfrm>
          <a:prstGeom prst="roundRect">
            <a:avLst>
              <a:gd name="adj" fmla="val 3333"/>
            </a:avLst>
          </a:prstGeom>
          <a:solidFill>
            <a:srgbClr val="1E5238"/>
          </a:solidFill>
          <a:ln w="15875">
            <a:solidFill>
              <a:srgbClr val="D98B3C"/>
            </a:solidFill>
            <a:prstDash val="solid"/>
          </a:ln>
        </p:spPr>
      </p:sp>
      <p:sp>
        <p:nvSpPr>
          <p:cNvPr id="10" name="Text 7"/>
          <p:cNvSpPr txBox="1"/>
          <p:nvPr/>
        </p:nvSpPr>
        <p:spPr>
          <a:xfrm>
            <a:off x="6172200" y="1481328"/>
            <a:ext cx="228600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Let's talk</a:t>
            </a:r>
            <a:endParaRPr lang="en-US" sz="1300" dirty="0"/>
          </a:p>
        </p:txBody>
      </p:sp>
      <p:sp>
        <p:nvSpPr>
          <p:cNvPr id="11" name="Text 8"/>
          <p:cNvSpPr txBox="1"/>
          <p:nvPr/>
        </p:nvSpPr>
        <p:spPr>
          <a:xfrm>
            <a:off x="6172200" y="1810512"/>
            <a:ext cx="2286000" cy="365760"/>
          </a:xfrm>
          <a:prstGeom prst="rect">
            <a:avLst/>
          </a:prstGeom>
          <a:noFill/>
          <a:ln/>
        </p:spPr>
        <p:txBody>
          <a:bodyPr wrap="square" lIns="0" tIns="0" rIns="0" bIns="0" rtlCol="0" anchor="t"/>
          <a:lstStyle/>
          <a:p>
            <a:pPr indent="0" marL="0">
              <a:buNone/>
            </a:pPr>
            <a:r>
              <a:rPr lang="en-US" sz="1900" b="1" dirty="0">
                <a:solidFill>
                  <a:srgbClr val="F4EBD5"/>
                </a:solidFill>
                <a:latin typeface="Cambria" pitchFamily="34" charset="0"/>
                <a:ea typeface="Cambria" pitchFamily="34" charset="-122"/>
                <a:cs typeface="Cambria" pitchFamily="34" charset="-120"/>
              </a:rPr>
              <a:t>James Chambers</a:t>
            </a:r>
            <a:endParaRPr lang="en-US" sz="1900" dirty="0"/>
          </a:p>
        </p:txBody>
      </p:sp>
      <p:pic>
        <p:nvPicPr>
          <p:cNvPr id="12" name="Image 1" descr="preencoded.png">    </p:cNvPr>
          <p:cNvPicPr>
            <a:picLocks noChangeAspect="1"/>
          </p:cNvPicPr>
          <p:nvPr/>
        </p:nvPicPr>
        <p:blipFill>
          <a:blip r:embed="rId2"/>
          <a:stretch>
            <a:fillRect/>
          </a:stretch>
        </p:blipFill>
        <p:spPr>
          <a:xfrm>
            <a:off x="6172200" y="2423160"/>
            <a:ext cx="237744" cy="237744"/>
          </a:xfrm>
          <a:prstGeom prst="rect">
            <a:avLst/>
          </a:prstGeom>
        </p:spPr>
      </p:pic>
      <p:sp>
        <p:nvSpPr>
          <p:cNvPr id="13" name="Text 9"/>
          <p:cNvSpPr txBox="1"/>
          <p:nvPr/>
        </p:nvSpPr>
        <p:spPr>
          <a:xfrm>
            <a:off x="6510528" y="2377440"/>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james@cedarworksapps.com</a:t>
            </a:r>
            <a:endParaRPr lang="en-US" sz="1200" dirty="0"/>
          </a:p>
        </p:txBody>
      </p:sp>
      <p:pic>
        <p:nvPicPr>
          <p:cNvPr id="14" name="Image 2" descr="preencoded.png">    </p:cNvPr>
          <p:cNvPicPr>
            <a:picLocks noChangeAspect="1"/>
          </p:cNvPicPr>
          <p:nvPr/>
        </p:nvPicPr>
        <p:blipFill>
          <a:blip r:embed="rId3"/>
          <a:stretch>
            <a:fillRect/>
          </a:stretch>
        </p:blipFill>
        <p:spPr>
          <a:xfrm>
            <a:off x="6172200" y="2880360"/>
            <a:ext cx="237744" cy="237744"/>
          </a:xfrm>
          <a:prstGeom prst="rect">
            <a:avLst/>
          </a:prstGeom>
        </p:spPr>
      </p:pic>
      <p:sp>
        <p:nvSpPr>
          <p:cNvPr id="15" name="Text 10"/>
          <p:cNvSpPr txBox="1"/>
          <p:nvPr/>
        </p:nvSpPr>
        <p:spPr>
          <a:xfrm>
            <a:off x="6510528" y="2834640"/>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417-370-2084</a:t>
            </a:r>
            <a:endParaRPr lang="en-US" sz="1200" dirty="0"/>
          </a:p>
        </p:txBody>
      </p:sp>
      <p:pic>
        <p:nvPicPr>
          <p:cNvPr id="16" name="Image 3" descr="preencoded.png">    </p:cNvPr>
          <p:cNvPicPr>
            <a:picLocks noChangeAspect="1"/>
          </p:cNvPicPr>
          <p:nvPr/>
        </p:nvPicPr>
        <p:blipFill>
          <a:blip r:embed="rId4"/>
          <a:stretch>
            <a:fillRect/>
          </a:stretch>
        </p:blipFill>
        <p:spPr>
          <a:xfrm>
            <a:off x="6172200" y="3337560"/>
            <a:ext cx="237744" cy="237744"/>
          </a:xfrm>
          <a:prstGeom prst="rect">
            <a:avLst/>
          </a:prstGeom>
        </p:spPr>
      </p:pic>
      <p:sp>
        <p:nvSpPr>
          <p:cNvPr id="17" name="Text 11"/>
          <p:cNvSpPr txBox="1"/>
          <p:nvPr/>
        </p:nvSpPr>
        <p:spPr>
          <a:xfrm>
            <a:off x="6510528" y="3291840"/>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cedarworksapps.com</a:t>
            </a:r>
            <a:endParaRPr lang="en-US" sz="1200" dirty="0"/>
          </a:p>
        </p:txBody>
      </p:sp>
      <p:pic>
        <p:nvPicPr>
          <p:cNvPr id="18" name="Image 4" descr="preencoded.png">    </p:cNvPr>
          <p:cNvPicPr>
            <a:picLocks noChangeAspect="1"/>
          </p:cNvPicPr>
          <p:nvPr/>
        </p:nvPicPr>
        <p:blipFill>
          <a:blip r:embed="rId5"/>
          <a:stretch>
            <a:fillRect/>
          </a:stretch>
        </p:blipFill>
        <p:spPr>
          <a:xfrm>
            <a:off x="6172200" y="3794760"/>
            <a:ext cx="237744" cy="237744"/>
          </a:xfrm>
          <a:prstGeom prst="rect">
            <a:avLst/>
          </a:prstGeom>
        </p:spPr>
      </p:pic>
      <p:sp>
        <p:nvSpPr>
          <p:cNvPr id="19" name="Text 12"/>
          <p:cNvSpPr txBox="1"/>
          <p:nvPr/>
        </p:nvSpPr>
        <p:spPr>
          <a:xfrm>
            <a:off x="6510528" y="3749040"/>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pastorai.io · tryreadyroom.com</a:t>
            </a:r>
            <a:endParaRPr lang="en-US" sz="1200" dirty="0"/>
          </a:p>
        </p:txBody>
      </p:sp>
      <p:sp>
        <p:nvSpPr>
          <p:cNvPr id="21" name="Text 1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22" name="Text 1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26 / 27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Key terms used in this deck</a:t>
            </a:r>
            <a:endParaRPr lang="en-US" sz="2600" dirty="0"/>
          </a:p>
        </p:txBody>
      </p:sp>
      <p:sp>
        <p:nvSpPr>
          <p:cNvPr id="4" name="Shape 2"/>
          <p:cNvSpPr/>
          <p:nvPr/>
        </p:nvSpPr>
        <p:spPr>
          <a:xfrm>
            <a:off x="457200" y="1280160"/>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353312"/>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TAM / SAM / SOM</a:t>
            </a:r>
            <a:endParaRPr lang="en-US" sz="1300" dirty="0"/>
          </a:p>
        </p:txBody>
      </p:sp>
      <p:sp>
        <p:nvSpPr>
          <p:cNvPr id="6" name="Text 4"/>
          <p:cNvSpPr txBox="1"/>
          <p:nvPr/>
        </p:nvSpPr>
        <p:spPr>
          <a:xfrm>
            <a:off x="640080" y="1618488"/>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Total market / the part we can reach / our target share</a:t>
            </a:r>
            <a:endParaRPr lang="en-US" sz="1150" dirty="0"/>
          </a:p>
        </p:txBody>
      </p:sp>
      <p:sp>
        <p:nvSpPr>
          <p:cNvPr id="7" name="Shape 5"/>
          <p:cNvSpPr/>
          <p:nvPr/>
        </p:nvSpPr>
        <p:spPr>
          <a:xfrm>
            <a:off x="4663440" y="1280160"/>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4846320" y="1353312"/>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MRR / ARR</a:t>
            </a:r>
            <a:endParaRPr lang="en-US" sz="1300" dirty="0"/>
          </a:p>
        </p:txBody>
      </p:sp>
      <p:sp>
        <p:nvSpPr>
          <p:cNvPr id="9" name="Text 7"/>
          <p:cNvSpPr txBox="1"/>
          <p:nvPr/>
        </p:nvSpPr>
        <p:spPr>
          <a:xfrm>
            <a:off x="4846320" y="1618488"/>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Monthly / annual recurring revenue from subscriptions</a:t>
            </a:r>
            <a:endParaRPr lang="en-US" sz="1150" dirty="0"/>
          </a:p>
        </p:txBody>
      </p:sp>
      <p:sp>
        <p:nvSpPr>
          <p:cNvPr id="10" name="Shape 8"/>
          <p:cNvSpPr/>
          <p:nvPr/>
        </p:nvSpPr>
        <p:spPr>
          <a:xfrm>
            <a:off x="457200" y="2139696"/>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40080" y="2212848"/>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Churn</a:t>
            </a:r>
            <a:endParaRPr lang="en-US" sz="1300" dirty="0"/>
          </a:p>
        </p:txBody>
      </p:sp>
      <p:sp>
        <p:nvSpPr>
          <p:cNvPr id="12" name="Text 10"/>
          <p:cNvSpPr txBox="1"/>
          <p:nvPr/>
        </p:nvSpPr>
        <p:spPr>
          <a:xfrm>
            <a:off x="640080" y="2478024"/>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Share of subscribers who cancel each month</a:t>
            </a:r>
            <a:endParaRPr lang="en-US" sz="1150" dirty="0"/>
          </a:p>
        </p:txBody>
      </p:sp>
      <p:sp>
        <p:nvSpPr>
          <p:cNvPr id="13" name="Shape 11"/>
          <p:cNvSpPr/>
          <p:nvPr/>
        </p:nvSpPr>
        <p:spPr>
          <a:xfrm>
            <a:off x="4663440" y="2139696"/>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4846320" y="2212848"/>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Trial-to-paid conversion</a:t>
            </a:r>
            <a:endParaRPr lang="en-US" sz="1300" dirty="0"/>
          </a:p>
        </p:txBody>
      </p:sp>
      <p:sp>
        <p:nvSpPr>
          <p:cNvPr id="15" name="Text 13"/>
          <p:cNvSpPr txBox="1"/>
          <p:nvPr/>
        </p:nvSpPr>
        <p:spPr>
          <a:xfrm>
            <a:off x="4846320" y="2478024"/>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Share of free-trial users who become paying subscribers</a:t>
            </a:r>
            <a:endParaRPr lang="en-US" sz="1150" dirty="0"/>
          </a:p>
        </p:txBody>
      </p:sp>
      <p:sp>
        <p:nvSpPr>
          <p:cNvPr id="16" name="Shape 14"/>
          <p:cNvSpPr/>
          <p:nvPr/>
        </p:nvSpPr>
        <p:spPr>
          <a:xfrm>
            <a:off x="457200" y="2999232"/>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40080" y="3072384"/>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Gross margin</a:t>
            </a:r>
            <a:endParaRPr lang="en-US" sz="1300" dirty="0"/>
          </a:p>
        </p:txBody>
      </p:sp>
      <p:sp>
        <p:nvSpPr>
          <p:cNvPr id="18" name="Text 16"/>
          <p:cNvSpPr txBox="1"/>
          <p:nvPr/>
        </p:nvSpPr>
        <p:spPr>
          <a:xfrm>
            <a:off x="640080" y="3337560"/>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Share of revenue left after app-store fees, AI and hosting</a:t>
            </a:r>
            <a:endParaRPr lang="en-US" sz="1150" dirty="0"/>
          </a:p>
        </p:txBody>
      </p:sp>
      <p:sp>
        <p:nvSpPr>
          <p:cNvPr id="19" name="Shape 17"/>
          <p:cNvSpPr/>
          <p:nvPr/>
        </p:nvSpPr>
        <p:spPr>
          <a:xfrm>
            <a:off x="4663440" y="2999232"/>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846320" y="3072384"/>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LTV (lifetime value)</a:t>
            </a:r>
            <a:endParaRPr lang="en-US" sz="1300" dirty="0"/>
          </a:p>
        </p:txBody>
      </p:sp>
      <p:sp>
        <p:nvSpPr>
          <p:cNvPr id="21" name="Text 19"/>
          <p:cNvSpPr txBox="1"/>
          <p:nvPr/>
        </p:nvSpPr>
        <p:spPr>
          <a:xfrm>
            <a:off x="4846320" y="3337560"/>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Profit from one subscriber over their whole subscription</a:t>
            </a:r>
            <a:endParaRPr lang="en-US" sz="1150" dirty="0"/>
          </a:p>
        </p:txBody>
      </p:sp>
      <p:sp>
        <p:nvSpPr>
          <p:cNvPr id="22" name="Shape 20"/>
          <p:cNvSpPr/>
          <p:nvPr/>
        </p:nvSpPr>
        <p:spPr>
          <a:xfrm>
            <a:off x="457200" y="3858768"/>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3" name="Text 21"/>
          <p:cNvSpPr txBox="1"/>
          <p:nvPr/>
        </p:nvSpPr>
        <p:spPr>
          <a:xfrm>
            <a:off x="640080" y="3931920"/>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CAC</a:t>
            </a:r>
            <a:endParaRPr lang="en-US" sz="1300" dirty="0"/>
          </a:p>
        </p:txBody>
      </p:sp>
      <p:sp>
        <p:nvSpPr>
          <p:cNvPr id="24" name="Text 22"/>
          <p:cNvSpPr txBox="1"/>
          <p:nvPr/>
        </p:nvSpPr>
        <p:spPr>
          <a:xfrm>
            <a:off x="640080" y="4197096"/>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Customer acquisition cost: spend to win one subscriber</a:t>
            </a:r>
            <a:endParaRPr lang="en-US" sz="1150" dirty="0"/>
          </a:p>
        </p:txBody>
      </p:sp>
      <p:sp>
        <p:nvSpPr>
          <p:cNvPr id="25" name="Shape 23"/>
          <p:cNvSpPr/>
          <p:nvPr/>
        </p:nvSpPr>
        <p:spPr>
          <a:xfrm>
            <a:off x="4663440" y="3858768"/>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6" name="Text 24"/>
          <p:cNvSpPr txBox="1"/>
          <p:nvPr/>
        </p:nvSpPr>
        <p:spPr>
          <a:xfrm>
            <a:off x="4846320" y="3931920"/>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Pre-seed / SAFE</a:t>
            </a:r>
            <a:endParaRPr lang="en-US" sz="1300" dirty="0"/>
          </a:p>
        </p:txBody>
      </p:sp>
      <p:sp>
        <p:nvSpPr>
          <p:cNvPr id="27" name="Text 25"/>
          <p:cNvSpPr txBox="1"/>
          <p:nvPr/>
        </p:nvSpPr>
        <p:spPr>
          <a:xfrm>
            <a:off x="4846320" y="4197096"/>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First outside funding round / an agreement that turns into shares later</a:t>
            </a:r>
            <a:endParaRPr lang="en-US" sz="1150" dirty="0"/>
          </a:p>
        </p:txBody>
      </p:sp>
      <p:sp>
        <p:nvSpPr>
          <p:cNvPr id="29" name="Text 2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30" name="Text 2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27 / 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Cedarworks Apps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Cedarworks Apps — Investor Pitch Deck</dc:title>
  <dc:subject>Pre-seed pitch deck: executive summary, problem statement, solution &amp; product, AppForge, traction &amp; metrics, market opportunity, business model, competitive landscape, use of funds, financial projections, team, the ask</dc:subject>
  <dc:creator>James Chambers</dc:creator>
  <cp:lastModifiedBy>James Chambers</cp:lastModifiedBy>
  <cp:revision>1</cp:revision>
  <dcterms:created xsi:type="dcterms:W3CDTF">2026-10-20T18:00:05Z</dcterms:created>
  <dcterms:modified xsi:type="dcterms:W3CDTF">2026-10-20T18:00:05Z</dcterms:modified>
</cp:coreProperties>
</file>
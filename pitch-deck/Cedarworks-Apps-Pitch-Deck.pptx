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43D28"/>
              </a:solidFill>
              <a:effectLst/>
            </c:spPr>
          </c:dPt>
          <c:dPt>
            <c:idx val="1"/>
            <c:bubble3D val="0"/>
            <c:spPr>
              <a:solidFill>
                <a:srgbClr val="D98B3C"/>
              </a:solidFill>
              <a:effectLst/>
            </c:spPr>
          </c:dPt>
          <c:dPt>
            <c:idx val="2"/>
            <c:bubble3D val="0"/>
            <c:spPr>
              <a:solidFill>
                <a:srgbClr val="4F7F63"/>
              </a:solidFill>
              <a:effectLst/>
            </c:spPr>
          </c:dPt>
          <c:dPt>
            <c:idx val="3"/>
            <c:bubble3D val="0"/>
            <c:spPr>
              <a:solidFill>
                <a:srgbClr val="B9A67A"/>
              </a:solidFill>
              <a:effectLst/>
            </c:spPr>
          </c:dPt>
          <c:dPt>
            <c:idx val="4"/>
            <c:bubble3D val="0"/>
            <c:spPr>
              <a:solidFill>
                <a:srgbClr val="A9C2A8"/>
              </a:solidFill>
              <a:effectLst/>
            </c:spPr>
          </c:dPt>
          <c:dLbls>
            <c:dLbl>
              <c:idx val="0"/>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Customer acquisition: PastorAI &amp; Ready Room ads</c:v>
                </c:pt>
                <c:pt idx="1">
                  <c:v>Build 8 new apps with AppForge</c:v>
                </c:pt>
                <c:pt idx="2">
                  <c:v>AI compute, hosting &amp; infrastructure</c:v>
                </c:pt>
                <c:pt idx="3">
                  <c:v>Legal, accounting &amp; app-store operations</c:v>
                </c:pt>
                <c:pt idx="4">
                  <c:v>Founder runway &amp; reserve</c:v>
                </c:pt>
              </c:strCache>
            </c:strRef>
          </c:cat>
          <c:val>
            <c:numRef>
              <c:f>Sheet1!$B$2:$B$6</c:f>
              <c:numCache>
                <c:ptCount val="5"/>
                <c:pt idx="0">
                  <c:v>100</c:v>
                </c:pt>
                <c:pt idx="1">
                  <c:v>75</c:v>
                </c:pt>
                <c:pt idx="2">
                  <c:v>25</c:v>
                </c:pt>
                <c:pt idx="3">
                  <c:v>25</c:v>
                </c:pt>
                <c:pt idx="4">
                  <c:v>25</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43D28"/>
                </a:solidFill>
                <a:latin typeface="Calibri"/>
              </a:defRPr>
            </a:pPr>
            <a:r>
              <a:rPr sz="1100" b="0" i="0" u="none" strike="noStrike">
                <a:solidFill>
                  <a:srgbClr val="143D28"/>
                </a:solidFill>
                <a:latin typeface="Calibri"/>
              </a:rPr>
              <a:t>Paying subscribers (target)</a:t>
            </a:r>
          </a:p>
        </c:rich>
      </c:tx>
      <c:layout/>
      <c:overlay val="0"/>
    </c:title>
    <c:autoTitleDeleted val="0"/>
    <c:plotArea>
      <c:layout/>
      <c:barChart>
        <c:barDir val="col"/>
        <c:grouping val="clustered"/>
        <c:varyColors val="0"/>
        <c:ser>
          <c:idx val="0"/>
          <c:order val="0"/>
          <c:tx>
            <c:strRef>
              <c:f>Sheet1!$B$1</c:f>
              <c:strCache>
                <c:ptCount val="1"/>
                <c:pt idx="0">
                  <c:v>Paying subscribers (target)</c:v>
                </c:pt>
              </c:strCache>
            </c:strRef>
          </c:tx>
          <c:spPr>
            <a:solidFill>
              <a:srgbClr val="143D28"/>
            </a:solidFill>
            <a:effectLst/>
          </c:spPr>
          <c:invertIfNegative val="0"/>
          <c:dLbls>
            <c:numFmt formatCode="#,##0" sourceLinked="0"/>
            <c:txPr>
              <a:bodyPr/>
              <a:lstStyle/>
              <a:p>
                <a:pPr>
                  <a:defRPr b="0" i="0" strike="noStrike" sz="1000" u="none">
                    <a:solidFill>
                      <a:srgbClr val="1B2A21"/>
                    </a:solidFill>
                    <a:latin typeface="Arial"/>
                  </a:defRPr>
                </a:pPr>
              </a:p>
            </c:txPr>
            <c:showLegendKey val="0"/>
            <c:showVal val="1"/>
            <c:showCatName val="0"/>
            <c:showSerName val="0"/>
            <c:showPercent val="0"/>
            <c:showBubbleSize val="0"/>
            <c:showLeaderLines val="0"/>
          </c:dLbls>
          <c:cat>
            <c:multiLvlStrRef>
              <c:f>Sheet1!$A$2:$A$6</c:f>
              <c:multiLvlStrCache>
                <c:ptCount val="5"/>
                <c:lvl>
                  <c:pt idx="0">
                    <c:v>M3</c:v>
                  </c:pt>
                  <c:pt idx="1">
                    <c:v>M6</c:v>
                  </c:pt>
                  <c:pt idx="2">
                    <c:v>M9</c:v>
                  </c:pt>
                  <c:pt idx="3">
                    <c:v>M12</c:v>
                  </c:pt>
                  <c:pt idx="4">
                    <c:v>M18</c:v>
                  </c:pt>
                </c:lvl>
              </c:multiLvlStrCache>
            </c:multiLvlStrRef>
          </c:cat>
          <c:val>
            <c:numRef>
              <c:f>Sheet1!$B$2:$B$6</c:f>
              <c:numCache>
                <c:formatCode>General</c:formatCode>
                <c:ptCount val="5"/>
                <c:pt idx="0">
                  <c:v>75</c:v>
                </c:pt>
                <c:pt idx="1">
                  <c:v>200</c:v>
                </c:pt>
                <c:pt idx="2">
                  <c:v>400</c:v>
                </c:pt>
                <c:pt idx="3">
                  <c:v>650</c:v>
                </c:pt>
                <c:pt idx="4">
                  <c:v>1000</c:v>
                </c:pt>
              </c:numCache>
            </c:numRef>
          </c:val>
        </c:ser>
        <c:dLbls>
          <c:numFmt formatCode="#,##0" sourceLinked="0"/>
          <c:txPr>
            <a:bodyPr/>
            <a:lstStyle/>
            <a:p>
              <a:pPr>
                <a:defRPr b="0" i="0" strike="noStrike" sz="1000" u="none">
                  <a:solidFill>
                    <a:srgbClr val="1B2A21"/>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B61"/>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DDC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6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Cedarworks Apps is a Springfield, Missouri AI app studio. We build focused, subscription AI apps for specific professions. Two are live in the Apple App Store and Google Play today. We're raising a $250K pre-seed round to market them and use our in-house AppForge engine to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customers are skilled professionals whose days are full of repeatable work that AI could help with. Generic AI tools make them do the translating. Pastors need ministry-shaped help. Sales reps need a safe place to practice before a real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try to build one app for everyone. We build many small apps that each serve one audience extremely well. That keeps each product simple and lets us reuse our tech across the whole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PastorAI puts the tools that fill a pastor's week in one place. It's live on iOS, Android and the web at $47 a month, with about 15 trial members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Ready Room lets sales reps rehearse on an AI prospect that talks back out loud. Reps practice discovery and objection-handling, then get graded by an AI coach. It's live on iOS, Android and the web at $29 a month, with about 15 trial members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AppForge is our proprietary engine. It analyzes the market to find which apps are the best fit right now, then we build on our existing stack. PastorAI and Ready Room prove the build side works. The next eight apps will be chosen by AppForge's market analysis, not by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Cedarworks Apps LLC was formed in 2026. In that time we've shipped two complete AI apps to both major app stores with subscription billing, and have about 30 trial members. The product risk is largely retired. This round is about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to cite if asked: the Hartford Institute for Religion Research and the U.S. Religion Census estimate roughly 300,000 to 380,000 U.S. congregations. The Bureau of Labor Statistics counts millions of U.S. workers in sales occupations. Revenue figures are simple math on our current prices, not forecasts. AppForge adds new markets with each of the next eight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core revenue is monthly subscriptions. Team and church plans raise the value of each sale. Custom app work for businesses is a secondary revenue line and a source of new app ideas. Because all the apps share infrastructure, margins improve as the portfolio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use of funds is customer acquisition. We'll start with small, measured ad tests on each channel, then double down on the ones with the best cost per paying subscriber. Free trials are already built into both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can use general chatbots, but they have to do all the prompting and still get generic output. Enterprise sales-training platforms are priced for large companies. We sit in between: purpose-built, affordable, and quick to launch in new niches.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goes to customer acquisition for PastorAI and Ready Room, the fastest path to revenue. 30% funds building eight new apps with AppForge, including contract development, design and QA. The rest covers AI compute and hosting, legal and operations, and a founder runway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18-month goal is ten live apps and about 1,000 paying subscribers across the portfolio. At a blended price near $38 that's roughly $38K a month in recurring revenue, which positions us for a seed round on proven traction. These are targets,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 solo founder who has already built and shipped two AI apps to both major app stores. This round lets me add contract development and part-time marketing help so I can go faster without a heavy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raising $250K pre-seed. It lets us scale the two apps already in market and launch eight more that AppForge identifies. Thank you. I'd love to show you a live demo of PastorAI and Ready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618134" y="663854"/>
            <a:ext cx="409651" cy="409651"/>
          </a:xfrm>
          <a:prstGeom prst="rect">
            <a:avLst/>
          </a:prstGeom>
        </p:spPr>
      </p:pic>
      <p:sp>
        <p:nvSpPr>
          <p:cNvPr id="4" name="Text 1"/>
          <p:cNvSpPr txBox="1"/>
          <p:nvPr/>
        </p:nvSpPr>
        <p:spPr>
          <a:xfrm>
            <a:off x="1371600" y="658368"/>
            <a:ext cx="4572000" cy="411480"/>
          </a:xfrm>
          <a:prstGeom prst="rect">
            <a:avLst/>
          </a:prstGeom>
          <a:noFill/>
          <a:ln/>
        </p:spPr>
        <p:txBody>
          <a:bodyPr wrap="square" lIns="0" tIns="0" rIns="0" bIns="0" rtlCol="0" anchor="ctr"/>
          <a:lstStyle/>
          <a:p>
            <a:pPr indent="0" marL="0">
              <a:buNone/>
            </a:pPr>
            <a:r>
              <a:rPr lang="en-US" sz="1400" b="1" spc="400" kern="0" dirty="0">
                <a:solidFill>
                  <a:srgbClr val="F4EBD5"/>
                </a:solidFill>
                <a:latin typeface="Calibri" pitchFamily="34" charset="0"/>
                <a:ea typeface="Calibri" pitchFamily="34" charset="-122"/>
                <a:cs typeface="Calibri" pitchFamily="34" charset="-120"/>
              </a:rPr>
              <a:t>CEDARWORKS APPS</a:t>
            </a:r>
            <a:endParaRPr lang="en-US" sz="1400" dirty="0"/>
          </a:p>
        </p:txBody>
      </p:sp>
      <p:sp>
        <p:nvSpPr>
          <p:cNvPr id="5" name="Text 2"/>
          <p:cNvSpPr txBox="1"/>
          <p:nvPr/>
        </p:nvSpPr>
        <p:spPr>
          <a:xfrm>
            <a:off x="457200" y="1508760"/>
            <a:ext cx="6035040" cy="1554480"/>
          </a:xfrm>
          <a:prstGeom prst="rect">
            <a:avLst/>
          </a:prstGeom>
          <a:noFill/>
          <a:ln/>
        </p:spPr>
        <p:txBody>
          <a:bodyPr wrap="square" lIns="0" tIns="0" rIns="0" bIns="0" rtlCol="0" anchor="t"/>
          <a:lstStyle/>
          <a:p>
            <a:pPr indent="0" marL="0">
              <a:buNone/>
            </a:pPr>
            <a:r>
              <a:rPr lang="en-US" sz="4000" b="1" dirty="0">
                <a:solidFill>
                  <a:srgbClr val="F4EBD5"/>
                </a:solidFill>
                <a:latin typeface="Cambria" pitchFamily="34" charset="0"/>
                <a:ea typeface="Cambria" pitchFamily="34" charset="-122"/>
                <a:cs typeface="Cambria" pitchFamily="34" charset="-120"/>
              </a:rPr>
              <a:t>Practical AI apps,</a:t>
            </a:r>
            <a:endParaRPr lang="en-US" sz="4000" dirty="0"/>
          </a:p>
          <a:p>
            <a:pPr indent="0" marL="0">
              <a:buNone/>
            </a:pPr>
            <a:r>
              <a:rPr lang="en-US" sz="4000" b="1" dirty="0">
                <a:solidFill>
                  <a:srgbClr val="F4EBD5"/>
                </a:solidFill>
                <a:latin typeface="Cambria" pitchFamily="34" charset="0"/>
                <a:ea typeface="Cambria" pitchFamily="34" charset="-122"/>
                <a:cs typeface="Cambria" pitchFamily="34" charset="-120"/>
              </a:rPr>
              <a:t>built to do real work.</a:t>
            </a:r>
            <a:endParaRPr lang="en-US" sz="4000" dirty="0"/>
          </a:p>
        </p:txBody>
      </p:sp>
      <p:sp>
        <p:nvSpPr>
          <p:cNvPr id="6" name="Text 3"/>
          <p:cNvSpPr txBox="1"/>
          <p:nvPr/>
        </p:nvSpPr>
        <p:spPr>
          <a:xfrm>
            <a:off x="457200" y="3154680"/>
            <a:ext cx="5669280" cy="685800"/>
          </a:xfrm>
          <a:prstGeom prst="rect">
            <a:avLst/>
          </a:prstGeom>
          <a:noFill/>
          <a:ln/>
        </p:spPr>
        <p:txBody>
          <a:bodyPr wrap="square" lIns="0" tIns="0" rIns="0" bIns="0" rtlCol="0" anchor="t"/>
          <a:lstStyle/>
          <a:p>
            <a:pPr indent="0" marL="0">
              <a:buNone/>
            </a:pPr>
            <a:r>
              <a:rPr lang="en-US" sz="1500" i="1" dirty="0">
                <a:solidFill>
                  <a:srgbClr val="A9C2A8"/>
                </a:solidFill>
                <a:latin typeface="Cambria" pitchFamily="34" charset="0"/>
                <a:ea typeface="Cambria" pitchFamily="34" charset="-122"/>
                <a:cs typeface="Cambria" pitchFamily="34" charset="-120"/>
              </a:rPr>
              <a:t>A small studio shipping focused, subscription AI apps: two live in the app stores today, and AppForge to build the next eight.</a:t>
            </a:r>
            <a:endParaRPr lang="en-US" sz="1500" dirty="0"/>
          </a:p>
        </p:txBody>
      </p:sp>
      <p:sp>
        <p:nvSpPr>
          <p:cNvPr id="7" name="Shape 4"/>
          <p:cNvSpPr/>
          <p:nvPr/>
        </p:nvSpPr>
        <p:spPr>
          <a:xfrm>
            <a:off x="6583680" y="1554480"/>
            <a:ext cx="2103120" cy="1417320"/>
          </a:xfrm>
          <a:prstGeom prst="roundRect">
            <a:avLst>
              <a:gd name="adj" fmla="val 6452"/>
            </a:avLst>
          </a:prstGeom>
          <a:solidFill>
            <a:srgbClr val="1E5238"/>
          </a:solidFill>
          <a:ln w="15875">
            <a:solidFill>
              <a:srgbClr val="D98B3C"/>
            </a:solidFill>
            <a:prstDash val="solid"/>
          </a:ln>
        </p:spPr>
      </p:sp>
      <p:sp>
        <p:nvSpPr>
          <p:cNvPr id="8" name="Text 5"/>
          <p:cNvSpPr txBox="1"/>
          <p:nvPr/>
        </p:nvSpPr>
        <p:spPr>
          <a:xfrm>
            <a:off x="6583680" y="1645920"/>
            <a:ext cx="2103120" cy="1234440"/>
          </a:xfrm>
          <a:prstGeom prst="rect">
            <a:avLst/>
          </a:prstGeom>
          <a:noFill/>
          <a:ln/>
        </p:spPr>
        <p:txBody>
          <a:bodyPr wrap="square" lIns="0" tIns="0" rIns="0" bIns="0" rtlCol="0" anchor="ctr"/>
          <a:lstStyle/>
          <a:p>
            <a:pPr algn="ctr" indent="0" marL="0">
              <a:buNone/>
            </a:pPr>
            <a:r>
              <a:rPr lang="en-US" sz="900" b="1" spc="200" kern="0" dirty="0">
                <a:solidFill>
                  <a:srgbClr val="D98B3C"/>
                </a:solidFill>
                <a:latin typeface="Calibri" pitchFamily="34" charset="0"/>
                <a:ea typeface="Calibri" pitchFamily="34" charset="-122"/>
                <a:cs typeface="Calibri" pitchFamily="34" charset="-120"/>
              </a:rPr>
              <a:t>PRE-SEED ROUND</a:t>
            </a:r>
            <a:endParaRPr lang="en-US" sz="900" dirty="0"/>
          </a:p>
          <a:p>
            <a:pPr algn="ctr" indent="0" marL="0">
              <a:buNone/>
            </a:pPr>
            <a:r>
              <a:rPr lang="en-US" sz="3600" b="1" dirty="0">
                <a:solidFill>
                  <a:srgbClr val="F4EBD5"/>
                </a:solidFill>
                <a:latin typeface="Cambria" pitchFamily="34" charset="0"/>
                <a:ea typeface="Cambria" pitchFamily="34" charset="-122"/>
                <a:cs typeface="Cambria" pitchFamily="34" charset="-120"/>
              </a:rPr>
              <a:t>$250K</a:t>
            </a:r>
            <a:endParaRPr lang="en-US" sz="900" dirty="0"/>
          </a:p>
          <a:p>
            <a:pPr algn="ctr" indent="0" marL="0">
              <a:buNone/>
            </a:pPr>
            <a:r>
              <a:rPr lang="en-US" sz="1100" dirty="0">
                <a:solidFill>
                  <a:srgbClr val="A9C2A8"/>
                </a:solidFill>
                <a:latin typeface="Calibri" pitchFamily="34" charset="0"/>
                <a:ea typeface="Calibri" pitchFamily="34" charset="-122"/>
                <a:cs typeface="Calibri" pitchFamily="34" charset="-120"/>
              </a:rPr>
              <a:t>Springfield, MO</a:t>
            </a:r>
            <a:endParaRPr lang="en-US" sz="900" dirty="0"/>
          </a:p>
        </p:txBody>
      </p:sp>
      <p:sp>
        <p:nvSpPr>
          <p:cNvPr id="9" name="Text 6"/>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James Chambers, Founder  ·  james@cedarworksapps.com  ·  417-370-2084  ·  cedarworksapps.com</a:t>
            </a:r>
            <a:endParaRPr lang="en-US" sz="1100" dirty="0"/>
          </a:p>
        </p:txBody>
      </p:sp>
      <p:sp>
        <p:nvSpPr>
          <p:cNvPr id="10" name="Text 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11" name="Text 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1 / 15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THE PROBLEM</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Busy professionals get generic AI, not tools built for their job</a:t>
            </a:r>
            <a:endParaRPr lang="en-US" sz="2600" dirty="0"/>
          </a:p>
        </p:txBody>
      </p:sp>
      <p:sp>
        <p:nvSpPr>
          <p:cNvPr id="4" name="Shape 2"/>
          <p:cNvSpPr/>
          <p:nvPr/>
        </p:nvSpPr>
        <p:spPr>
          <a:xfrm>
            <a:off x="457200" y="1600200"/>
            <a:ext cx="566928" cy="566928"/>
          </a:xfrm>
          <a:prstGeom prst="ellipse">
            <a:avLst/>
          </a:prstGeom>
          <a:solidFill>
            <a:srgbClr val="FFFFFF"/>
          </a:solidFill>
          <a:ln w="19050">
            <a:solidFill>
              <a:srgbClr val="D98B3C"/>
            </a:solidFill>
            <a:prstDash val="solid"/>
          </a:ln>
        </p:spPr>
      </p:sp>
      <p:pic>
        <p:nvPicPr>
          <p:cNvPr id="5" name="Image 0" descr="preencoded.png">    </p:cNvPr>
          <p:cNvPicPr>
            <a:picLocks noChangeAspect="1"/>
          </p:cNvPicPr>
          <p:nvPr/>
        </p:nvPicPr>
        <p:blipFill>
          <a:blip r:embed="rId1"/>
          <a:stretch>
            <a:fillRect/>
          </a:stretch>
        </p:blipFill>
        <p:spPr>
          <a:xfrm>
            <a:off x="604601" y="1747601"/>
            <a:ext cx="272125" cy="272125"/>
          </a:xfrm>
          <a:prstGeom prst="rect">
            <a:avLst/>
          </a:prstGeom>
        </p:spPr>
      </p:pic>
      <p:sp>
        <p:nvSpPr>
          <p:cNvPr id="6" name="Text 3"/>
          <p:cNvSpPr txBox="1"/>
          <p:nvPr/>
        </p:nvSpPr>
        <p:spPr>
          <a:xfrm>
            <a:off x="1234440" y="1581912"/>
            <a:ext cx="7223760" cy="292608"/>
          </a:xfrm>
          <a:prstGeom prst="rect">
            <a:avLst/>
          </a:prstGeom>
          <a:noFill/>
          <a:ln/>
        </p:spPr>
        <p:txBody>
          <a:bodyPr wrap="square" lIns="0" tIns="0" rIns="0" bIns="0" rtlCol="0" anchor="t"/>
          <a:lstStyle/>
          <a:p>
            <a:pPr indent="0" marL="0">
              <a:buNone/>
            </a:pPr>
            <a:r>
              <a:rPr lang="en-US" sz="1700" b="1" dirty="0">
                <a:solidFill>
                  <a:srgbClr val="143D28"/>
                </a:solidFill>
                <a:latin typeface="Cambria" pitchFamily="34" charset="0"/>
                <a:ea typeface="Cambria" pitchFamily="34" charset="-122"/>
                <a:cs typeface="Cambria" pitchFamily="34" charset="-120"/>
              </a:rPr>
              <a:t>Pastors are stretched thin</a:t>
            </a:r>
            <a:endParaRPr lang="en-US" sz="1700" dirty="0"/>
          </a:p>
        </p:txBody>
      </p:sp>
      <p:sp>
        <p:nvSpPr>
          <p:cNvPr id="7" name="Text 4"/>
          <p:cNvSpPr txBox="1"/>
          <p:nvPr/>
        </p:nvSpPr>
        <p:spPr>
          <a:xfrm>
            <a:off x="1234440" y="1901952"/>
            <a:ext cx="7223760" cy="548640"/>
          </a:xfrm>
          <a:prstGeom prst="rect">
            <a:avLst/>
          </a:prstGeom>
          <a:noFill/>
          <a:ln/>
        </p:spPr>
        <p:txBody>
          <a:bodyPr wrap="square" lIns="0" tIns="0" rIns="0" bIns="0" rtlCol="0" anchor="t"/>
          <a:lstStyle/>
          <a:p>
            <a:pPr indent="0" marL="0">
              <a:buNone/>
            </a:pPr>
            <a:r>
              <a:rPr lang="en-US" sz="1250" dirty="0">
                <a:solidFill>
                  <a:srgbClr val="5C6B61"/>
                </a:solidFill>
                <a:latin typeface="Calibri" pitchFamily="34" charset="0"/>
                <a:ea typeface="Calibri" pitchFamily="34" charset="-122"/>
                <a:cs typeface="Calibri" pitchFamily="34" charset="-120"/>
              </a:rPr>
              <a:t>Sermons, Bible studies, devotionals, kids' ministry, social posts and translation fill the week. Most of it starts from a blank page, spread across a dozen tabs.</a:t>
            </a:r>
            <a:endParaRPr lang="en-US" sz="1250" dirty="0"/>
          </a:p>
        </p:txBody>
      </p:sp>
      <p:sp>
        <p:nvSpPr>
          <p:cNvPr id="8" name="Shape 5"/>
          <p:cNvSpPr/>
          <p:nvPr/>
        </p:nvSpPr>
        <p:spPr>
          <a:xfrm>
            <a:off x="457200" y="2587752"/>
            <a:ext cx="566928" cy="566928"/>
          </a:xfrm>
          <a:prstGeom prst="ellipse">
            <a:avLst/>
          </a:prstGeom>
          <a:solidFill>
            <a:srgbClr val="FFFFFF"/>
          </a:solidFill>
          <a:ln w="19050">
            <a:solidFill>
              <a:srgbClr val="D98B3C"/>
            </a:solidFill>
            <a:prstDash val="solid"/>
          </a:ln>
        </p:spPr>
      </p:sp>
      <p:pic>
        <p:nvPicPr>
          <p:cNvPr id="9" name="Image 1" descr="preencoded.png">    </p:cNvPr>
          <p:cNvPicPr>
            <a:picLocks noChangeAspect="1"/>
          </p:cNvPicPr>
          <p:nvPr/>
        </p:nvPicPr>
        <p:blipFill>
          <a:blip r:embed="rId2"/>
          <a:stretch>
            <a:fillRect/>
          </a:stretch>
        </p:blipFill>
        <p:spPr>
          <a:xfrm>
            <a:off x="604601" y="2735153"/>
            <a:ext cx="272125" cy="272125"/>
          </a:xfrm>
          <a:prstGeom prst="rect">
            <a:avLst/>
          </a:prstGeom>
        </p:spPr>
      </p:pic>
      <p:sp>
        <p:nvSpPr>
          <p:cNvPr id="10" name="Text 6"/>
          <p:cNvSpPr txBox="1"/>
          <p:nvPr/>
        </p:nvSpPr>
        <p:spPr>
          <a:xfrm>
            <a:off x="1234440" y="2569464"/>
            <a:ext cx="7223760" cy="292608"/>
          </a:xfrm>
          <a:prstGeom prst="rect">
            <a:avLst/>
          </a:prstGeom>
          <a:noFill/>
          <a:ln/>
        </p:spPr>
        <p:txBody>
          <a:bodyPr wrap="square" lIns="0" tIns="0" rIns="0" bIns="0" rtlCol="0" anchor="t"/>
          <a:lstStyle/>
          <a:p>
            <a:pPr indent="0" marL="0">
              <a:buNone/>
            </a:pPr>
            <a:r>
              <a:rPr lang="en-US" sz="1700" b="1" dirty="0">
                <a:solidFill>
                  <a:srgbClr val="143D28"/>
                </a:solidFill>
                <a:latin typeface="Cambria" pitchFamily="34" charset="0"/>
                <a:ea typeface="Cambria" pitchFamily="34" charset="-122"/>
                <a:cs typeface="Cambria" pitchFamily="34" charset="-120"/>
              </a:rPr>
              <a:t>Sales reps practice on real prospects</a:t>
            </a:r>
            <a:endParaRPr lang="en-US" sz="1700" dirty="0"/>
          </a:p>
        </p:txBody>
      </p:sp>
      <p:sp>
        <p:nvSpPr>
          <p:cNvPr id="11" name="Text 7"/>
          <p:cNvSpPr txBox="1"/>
          <p:nvPr/>
        </p:nvSpPr>
        <p:spPr>
          <a:xfrm>
            <a:off x="1234440" y="2889504"/>
            <a:ext cx="7223760" cy="548640"/>
          </a:xfrm>
          <a:prstGeom prst="rect">
            <a:avLst/>
          </a:prstGeom>
          <a:noFill/>
          <a:ln/>
        </p:spPr>
        <p:txBody>
          <a:bodyPr wrap="square" lIns="0" tIns="0" rIns="0" bIns="0" rtlCol="0" anchor="t"/>
          <a:lstStyle/>
          <a:p>
            <a:pPr indent="0" marL="0">
              <a:buNone/>
            </a:pPr>
            <a:r>
              <a:rPr lang="en-US" sz="1250" dirty="0">
                <a:solidFill>
                  <a:srgbClr val="5C6B61"/>
                </a:solidFill>
                <a:latin typeface="Calibri" pitchFamily="34" charset="0"/>
                <a:ea typeface="Calibri" pitchFamily="34" charset="-122"/>
                <a:cs typeface="Calibri" pitchFamily="34" charset="-120"/>
              </a:rPr>
              <a:t>Discovery and objection-handling are learned live, on the calls that matter. Every fumbled objection is a lost deal and lost commission.</a:t>
            </a:r>
            <a:endParaRPr lang="en-US" sz="1250" dirty="0"/>
          </a:p>
        </p:txBody>
      </p:sp>
      <p:sp>
        <p:nvSpPr>
          <p:cNvPr id="12" name="Shape 8"/>
          <p:cNvSpPr/>
          <p:nvPr/>
        </p:nvSpPr>
        <p:spPr>
          <a:xfrm>
            <a:off x="457200" y="3575304"/>
            <a:ext cx="566928" cy="566928"/>
          </a:xfrm>
          <a:prstGeom prst="ellipse">
            <a:avLst/>
          </a:prstGeom>
          <a:solidFill>
            <a:srgbClr val="FFFFFF"/>
          </a:solidFill>
          <a:ln w="19050">
            <a:solidFill>
              <a:srgbClr val="D98B3C"/>
            </a:solidFill>
            <a:prstDash val="solid"/>
          </a:ln>
        </p:spPr>
      </p:sp>
      <p:pic>
        <p:nvPicPr>
          <p:cNvPr id="13" name="Image 2" descr="preencoded.png">    </p:cNvPr>
          <p:cNvPicPr>
            <a:picLocks noChangeAspect="1"/>
          </p:cNvPicPr>
          <p:nvPr/>
        </p:nvPicPr>
        <p:blipFill>
          <a:blip r:embed="rId3"/>
          <a:stretch>
            <a:fillRect/>
          </a:stretch>
        </p:blipFill>
        <p:spPr>
          <a:xfrm>
            <a:off x="604601" y="3722705"/>
            <a:ext cx="272125" cy="272125"/>
          </a:xfrm>
          <a:prstGeom prst="rect">
            <a:avLst/>
          </a:prstGeom>
        </p:spPr>
      </p:pic>
      <p:sp>
        <p:nvSpPr>
          <p:cNvPr id="14" name="Text 9"/>
          <p:cNvSpPr txBox="1"/>
          <p:nvPr/>
        </p:nvSpPr>
        <p:spPr>
          <a:xfrm>
            <a:off x="1234440" y="3557016"/>
            <a:ext cx="7223760" cy="292608"/>
          </a:xfrm>
          <a:prstGeom prst="rect">
            <a:avLst/>
          </a:prstGeom>
          <a:noFill/>
          <a:ln/>
        </p:spPr>
        <p:txBody>
          <a:bodyPr wrap="square" lIns="0" tIns="0" rIns="0" bIns="0" rtlCol="0" anchor="t"/>
          <a:lstStyle/>
          <a:p>
            <a:pPr indent="0" marL="0">
              <a:buNone/>
            </a:pPr>
            <a:r>
              <a:rPr lang="en-US" sz="1700" b="1" dirty="0">
                <a:solidFill>
                  <a:srgbClr val="143D28"/>
                </a:solidFill>
                <a:latin typeface="Cambria" pitchFamily="34" charset="0"/>
                <a:ea typeface="Cambria" pitchFamily="34" charset="-122"/>
                <a:cs typeface="Cambria" pitchFamily="34" charset="-120"/>
              </a:rPr>
              <a:t>General chatbots don't close the gap</a:t>
            </a:r>
            <a:endParaRPr lang="en-US" sz="1700" dirty="0"/>
          </a:p>
        </p:txBody>
      </p:sp>
      <p:sp>
        <p:nvSpPr>
          <p:cNvPr id="15" name="Text 10"/>
          <p:cNvSpPr txBox="1"/>
          <p:nvPr/>
        </p:nvSpPr>
        <p:spPr>
          <a:xfrm>
            <a:off x="1234440" y="3877056"/>
            <a:ext cx="7223760" cy="548640"/>
          </a:xfrm>
          <a:prstGeom prst="rect">
            <a:avLst/>
          </a:prstGeom>
          <a:noFill/>
          <a:ln/>
        </p:spPr>
        <p:txBody>
          <a:bodyPr wrap="square" lIns="0" tIns="0" rIns="0" bIns="0" rtlCol="0" anchor="t"/>
          <a:lstStyle/>
          <a:p>
            <a:pPr indent="0" marL="0">
              <a:buNone/>
            </a:pPr>
            <a:r>
              <a:rPr lang="en-US" sz="1250" dirty="0">
                <a:solidFill>
                  <a:srgbClr val="5C6B61"/>
                </a:solidFill>
                <a:latin typeface="Calibri" pitchFamily="34" charset="0"/>
                <a:ea typeface="Calibri" pitchFamily="34" charset="-122"/>
                <a:cs typeface="Calibri" pitchFamily="34" charset="-120"/>
              </a:rPr>
              <a:t>A blank chat box doesn't know the workflow, the vocabulary or what 'good' looks like. People give up or spend more time prompting than working.</a:t>
            </a:r>
            <a:endParaRPr lang="en-US" sz="1250" dirty="0"/>
          </a:p>
        </p:txBody>
      </p:sp>
      <p:sp>
        <p:nvSpPr>
          <p:cNvPr id="16" name="Text 11"/>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7" name="Text 12"/>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2 / 15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OUR SOLUTION</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Focused AI apps that each do one job really well</a:t>
            </a:r>
            <a:endParaRPr lang="en-US" sz="2600" dirty="0"/>
          </a:p>
        </p:txBody>
      </p:sp>
      <p:sp>
        <p:nvSpPr>
          <p:cNvPr id="4" name="Text 2"/>
          <p:cNvSpPr txBox="1"/>
          <p:nvPr/>
        </p:nvSpPr>
        <p:spPr>
          <a:xfrm>
            <a:off x="457200" y="1554480"/>
            <a:ext cx="3931920" cy="146304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Cedarworks Apps builds niche, subscription AI apps: one profession, one clear job, a running start in seconds. Each app has its own workflow, prompts and guardrails, so users get results instead of a blank chat box.</a:t>
            </a:r>
            <a:endParaRPr lang="en-US" sz="1400" dirty="0"/>
          </a:p>
        </p:txBody>
      </p:sp>
      <p:sp>
        <p:nvSpPr>
          <p:cNvPr id="5" name="Text 3"/>
          <p:cNvSpPr txBox="1"/>
          <p:nvPr/>
        </p:nvSpPr>
        <p:spPr>
          <a:xfrm>
            <a:off x="457200" y="3063240"/>
            <a:ext cx="3931920" cy="731520"/>
          </a:xfrm>
          <a:prstGeom prst="rect">
            <a:avLst/>
          </a:prstGeom>
          <a:noFill/>
          <a:ln/>
        </p:spPr>
        <p:txBody>
          <a:bodyPr wrap="square" lIns="0" tIns="0" rIns="0" bIns="0" rtlCol="0" anchor="t"/>
          <a:lstStyle/>
          <a:p>
            <a:pPr indent="0" marL="0">
              <a:buNone/>
            </a:pPr>
            <a:r>
              <a:rPr lang="en-US" sz="1400" i="1" dirty="0">
                <a:solidFill>
                  <a:srgbClr val="A9C2A8"/>
                </a:solidFill>
                <a:latin typeface="Cambria" pitchFamily="34" charset="0"/>
                <a:ea typeface="Cambria" pitchFamily="34" charset="-122"/>
                <a:cs typeface="Cambria" pitchFamily="34" charset="-120"/>
              </a:rPr>
              <a:t>One studio, many apps. Shared code, shared infrastructure, one founder-led team.</a:t>
            </a:r>
            <a:endParaRPr lang="en-US" sz="1400" dirty="0"/>
          </a:p>
        </p:txBody>
      </p:sp>
      <p:sp>
        <p:nvSpPr>
          <p:cNvPr id="6" name="Shape 4"/>
          <p:cNvSpPr/>
          <p:nvPr/>
        </p:nvSpPr>
        <p:spPr>
          <a:xfrm>
            <a:off x="4846320" y="1371600"/>
            <a:ext cx="502920" cy="50292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4977079" y="1502359"/>
            <a:ext cx="241402" cy="241402"/>
          </a:xfrm>
          <a:prstGeom prst="rect">
            <a:avLst/>
          </a:prstGeom>
        </p:spPr>
      </p:pic>
      <p:sp>
        <p:nvSpPr>
          <p:cNvPr id="8" name="Text 5"/>
          <p:cNvSpPr txBox="1"/>
          <p:nvPr/>
        </p:nvSpPr>
        <p:spPr>
          <a:xfrm>
            <a:off x="5532120" y="1371600"/>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Built for one job</a:t>
            </a:r>
            <a:endParaRPr lang="en-US" sz="1400" dirty="0"/>
          </a:p>
        </p:txBody>
      </p:sp>
      <p:sp>
        <p:nvSpPr>
          <p:cNvPr id="9" name="Text 6"/>
          <p:cNvSpPr txBox="1"/>
          <p:nvPr/>
        </p:nvSpPr>
        <p:spPr>
          <a:xfrm>
            <a:off x="5532120" y="1627632"/>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Purpose-built workflows, not generic chat</a:t>
            </a:r>
            <a:endParaRPr lang="en-US" sz="1150" dirty="0"/>
          </a:p>
        </p:txBody>
      </p:sp>
      <p:sp>
        <p:nvSpPr>
          <p:cNvPr id="10" name="Shape 7"/>
          <p:cNvSpPr/>
          <p:nvPr/>
        </p:nvSpPr>
        <p:spPr>
          <a:xfrm>
            <a:off x="4846320" y="2157984"/>
            <a:ext cx="502920" cy="502920"/>
          </a:xfrm>
          <a:prstGeom prst="ellipse">
            <a:avLst/>
          </a:prstGeom>
          <a:solidFill>
            <a:srgbClr val="1E5238"/>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4977079" y="2288743"/>
            <a:ext cx="241402" cy="241402"/>
          </a:xfrm>
          <a:prstGeom prst="rect">
            <a:avLst/>
          </a:prstGeom>
        </p:spPr>
      </p:pic>
      <p:sp>
        <p:nvSpPr>
          <p:cNvPr id="12" name="Text 8"/>
          <p:cNvSpPr txBox="1"/>
          <p:nvPr/>
        </p:nvSpPr>
        <p:spPr>
          <a:xfrm>
            <a:off x="5532120" y="2157984"/>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Everywhere users are</a:t>
            </a:r>
            <a:endParaRPr lang="en-US" sz="1400" dirty="0"/>
          </a:p>
        </p:txBody>
      </p:sp>
      <p:sp>
        <p:nvSpPr>
          <p:cNvPr id="13" name="Text 9"/>
          <p:cNvSpPr txBox="1"/>
          <p:nvPr/>
        </p:nvSpPr>
        <p:spPr>
          <a:xfrm>
            <a:off x="5532120" y="2414016"/>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iOS, Android and web</a:t>
            </a:r>
            <a:endParaRPr lang="en-US" sz="1150" dirty="0"/>
          </a:p>
        </p:txBody>
      </p:sp>
      <p:sp>
        <p:nvSpPr>
          <p:cNvPr id="14" name="Shape 10"/>
          <p:cNvSpPr/>
          <p:nvPr/>
        </p:nvSpPr>
        <p:spPr>
          <a:xfrm>
            <a:off x="4846320" y="2944368"/>
            <a:ext cx="502920" cy="502920"/>
          </a:xfrm>
          <a:prstGeom prst="ellipse">
            <a:avLst/>
          </a:prstGeom>
          <a:solidFill>
            <a:srgbClr val="1E5238"/>
          </a:solidFill>
          <a:ln w="19050">
            <a:solidFill>
              <a:srgbClr val="D98B3C"/>
            </a:solidFill>
            <a:prstDash val="solid"/>
          </a:ln>
        </p:spPr>
      </p:sp>
      <p:pic>
        <p:nvPicPr>
          <p:cNvPr id="15" name="Image 2" descr="preencoded.png">    </p:cNvPr>
          <p:cNvPicPr>
            <a:picLocks noChangeAspect="1"/>
          </p:cNvPicPr>
          <p:nvPr/>
        </p:nvPicPr>
        <p:blipFill>
          <a:blip r:embed="rId3"/>
          <a:stretch>
            <a:fillRect/>
          </a:stretch>
        </p:blipFill>
        <p:spPr>
          <a:xfrm>
            <a:off x="4977079" y="3075127"/>
            <a:ext cx="241402" cy="241402"/>
          </a:xfrm>
          <a:prstGeom prst="rect">
            <a:avLst/>
          </a:prstGeom>
        </p:spPr>
      </p:pic>
      <p:sp>
        <p:nvSpPr>
          <p:cNvPr id="16" name="Text 11"/>
          <p:cNvSpPr txBox="1"/>
          <p:nvPr/>
        </p:nvSpPr>
        <p:spPr>
          <a:xfrm>
            <a:off x="5532120" y="2944368"/>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Recurring revenue</a:t>
            </a:r>
            <a:endParaRPr lang="en-US" sz="1400" dirty="0"/>
          </a:p>
        </p:txBody>
      </p:sp>
      <p:sp>
        <p:nvSpPr>
          <p:cNvPr id="17" name="Text 12"/>
          <p:cNvSpPr txBox="1"/>
          <p:nvPr/>
        </p:nvSpPr>
        <p:spPr>
          <a:xfrm>
            <a:off x="5532120" y="3200400"/>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Monthly subscriptions with free trials</a:t>
            </a:r>
            <a:endParaRPr lang="en-US" sz="1150" dirty="0"/>
          </a:p>
        </p:txBody>
      </p:sp>
      <p:sp>
        <p:nvSpPr>
          <p:cNvPr id="18" name="Shape 13"/>
          <p:cNvSpPr/>
          <p:nvPr/>
        </p:nvSpPr>
        <p:spPr>
          <a:xfrm>
            <a:off x="4846320" y="3730752"/>
            <a:ext cx="502920" cy="502920"/>
          </a:xfrm>
          <a:prstGeom prst="ellipse">
            <a:avLst/>
          </a:prstGeom>
          <a:solidFill>
            <a:srgbClr val="1E5238"/>
          </a:solidFill>
          <a:ln w="19050">
            <a:solidFill>
              <a:srgbClr val="D98B3C"/>
            </a:solidFill>
            <a:prstDash val="solid"/>
          </a:ln>
        </p:spPr>
      </p:sp>
      <p:pic>
        <p:nvPicPr>
          <p:cNvPr id="19" name="Image 3" descr="preencoded.png">    </p:cNvPr>
          <p:cNvPicPr>
            <a:picLocks noChangeAspect="1"/>
          </p:cNvPicPr>
          <p:nvPr/>
        </p:nvPicPr>
        <p:blipFill>
          <a:blip r:embed="rId4"/>
          <a:stretch>
            <a:fillRect/>
          </a:stretch>
        </p:blipFill>
        <p:spPr>
          <a:xfrm>
            <a:off x="4977079" y="3861511"/>
            <a:ext cx="241402" cy="241402"/>
          </a:xfrm>
          <a:prstGeom prst="rect">
            <a:avLst/>
          </a:prstGeom>
        </p:spPr>
      </p:pic>
      <p:sp>
        <p:nvSpPr>
          <p:cNvPr id="20" name="Text 14"/>
          <p:cNvSpPr txBox="1"/>
          <p:nvPr/>
        </p:nvSpPr>
        <p:spPr>
          <a:xfrm>
            <a:off x="5532120" y="3730752"/>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A portfolio, not a bet</a:t>
            </a:r>
            <a:endParaRPr lang="en-US" sz="1400" dirty="0"/>
          </a:p>
        </p:txBody>
      </p:sp>
      <p:sp>
        <p:nvSpPr>
          <p:cNvPr id="21" name="Text 15"/>
          <p:cNvSpPr txBox="1"/>
          <p:nvPr/>
        </p:nvSpPr>
        <p:spPr>
          <a:xfrm>
            <a:off x="5532120" y="3986784"/>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Many apps spread the risk and share costs</a:t>
            </a:r>
            <a:endParaRPr lang="en-US" sz="1150" dirty="0"/>
          </a:p>
        </p:txBody>
      </p:sp>
      <p:sp>
        <p:nvSpPr>
          <p:cNvPr id="22"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3"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3 / 15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LIVE PRODUCT #1  ·  PASTORAI.IO</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PastorAI: an AI ministry assistant for the whole week</a:t>
            </a:r>
            <a:endParaRPr lang="en-US" sz="2600" dirty="0"/>
          </a:p>
        </p:txBody>
      </p:sp>
      <p:sp>
        <p:nvSpPr>
          <p:cNvPr id="4" name="Shape 2"/>
          <p:cNvSpPr/>
          <p:nvPr/>
        </p:nvSpPr>
        <p:spPr>
          <a:xfrm>
            <a:off x="457200" y="1463040"/>
            <a:ext cx="484632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31520" y="1645920"/>
            <a:ext cx="4389120" cy="274320"/>
          </a:xfrm>
          <a:prstGeom prst="rect">
            <a:avLst/>
          </a:prstGeom>
          <a:noFill/>
          <a:ln/>
        </p:spPr>
        <p:txBody>
          <a:bodyPr wrap="square" lIns="0" tIns="0" rIns="0" bIns="0" rtlCol="0" anchor="t"/>
          <a:lstStyle/>
          <a:p>
            <a:pPr indent="0" marL="0">
              <a:buNone/>
            </a:pPr>
            <a:r>
              <a:rPr lang="en-US" sz="1100" b="1" spc="200" kern="0" dirty="0">
                <a:solidFill>
                  <a:srgbClr val="D98B3C"/>
                </a:solidFill>
                <a:latin typeface="Calibri" pitchFamily="34" charset="0"/>
                <a:ea typeface="Calibri" pitchFamily="34" charset="-122"/>
                <a:cs typeface="Calibri" pitchFamily="34" charset="-120"/>
              </a:rPr>
              <a:t>Features</a:t>
            </a:r>
            <a:endParaRPr lang="en-US" sz="1100" dirty="0"/>
          </a:p>
        </p:txBody>
      </p:sp>
      <p:sp>
        <p:nvSpPr>
          <p:cNvPr id="6" name="Text 4"/>
          <p:cNvSpPr txBox="1"/>
          <p:nvPr/>
        </p:nvSpPr>
        <p:spPr>
          <a:xfrm>
            <a:off x="731520" y="1993392"/>
            <a:ext cx="4389120" cy="1920240"/>
          </a:xfrm>
          <a:prstGeom prst="rect">
            <a:avLst/>
          </a:prstGeom>
          <a:noFill/>
          <a:ln/>
        </p:spPr>
        <p:txBody>
          <a:bodyPr wrap="square" lIns="0" tIns="0" rIns="0" bIns="0" rtlCol="0" anchor="t"/>
          <a:lstStyle/>
          <a:p>
            <a:pPr marL="177800" indent="-177800">
              <a:spcAft>
                <a:spcPts val="500"/>
              </a:spcAft>
              <a:buSzPct val="100000"/>
              <a:buChar char="•"/>
            </a:pPr>
            <a:r>
              <a:rPr lang="en-US" sz="1350" dirty="0">
                <a:solidFill>
                  <a:srgbClr val="1B2A21"/>
                </a:solidFill>
                <a:latin typeface="Calibri" pitchFamily="34" charset="0"/>
                <a:ea typeface="Calibri" pitchFamily="34" charset="-122"/>
                <a:cs typeface="Calibri" pitchFamily="34" charset="-120"/>
              </a:rPr>
              <a:t>Sermon and sermon-series planning</a:t>
            </a:r>
            <a:endParaRPr lang="en-US" sz="1350" dirty="0"/>
          </a:p>
          <a:p>
            <a:pPr marL="177800" indent="-177800">
              <a:spcAft>
                <a:spcPts val="500"/>
              </a:spcAft>
              <a:buSzPct val="100000"/>
              <a:buChar char="•"/>
            </a:pPr>
            <a:r>
              <a:rPr lang="en-US" sz="1350" dirty="0">
                <a:solidFill>
                  <a:srgbClr val="1B2A21"/>
                </a:solidFill>
                <a:latin typeface="Calibri" pitchFamily="34" charset="0"/>
                <a:ea typeface="Calibri" pitchFamily="34" charset="-122"/>
                <a:cs typeface="Calibri" pitchFamily="34" charset="-120"/>
              </a:rPr>
              <a:t>Bible study and devotional writing</a:t>
            </a:r>
            <a:endParaRPr lang="en-US" sz="1350" dirty="0"/>
          </a:p>
          <a:p>
            <a:pPr marL="177800" indent="-177800">
              <a:spcAft>
                <a:spcPts val="500"/>
              </a:spcAft>
              <a:buSzPct val="100000"/>
              <a:buChar char="•"/>
            </a:pPr>
            <a:r>
              <a:rPr lang="en-US" sz="1350" dirty="0">
                <a:solidFill>
                  <a:srgbClr val="1B2A21"/>
                </a:solidFill>
                <a:latin typeface="Calibri" pitchFamily="34" charset="0"/>
                <a:ea typeface="Calibri" pitchFamily="34" charset="-122"/>
                <a:cs typeface="Calibri" pitchFamily="34" charset="-120"/>
              </a:rPr>
              <a:t>Children's ministry lessons</a:t>
            </a:r>
            <a:endParaRPr lang="en-US" sz="1350" dirty="0"/>
          </a:p>
          <a:p>
            <a:pPr marL="177800" indent="-177800">
              <a:spcAft>
                <a:spcPts val="500"/>
              </a:spcAft>
              <a:buSzPct val="100000"/>
              <a:buChar char="•"/>
            </a:pPr>
            <a:r>
              <a:rPr lang="en-US" sz="1350" dirty="0">
                <a:solidFill>
                  <a:srgbClr val="1B2A21"/>
                </a:solidFill>
                <a:latin typeface="Calibri" pitchFamily="34" charset="0"/>
                <a:ea typeface="Calibri" pitchFamily="34" charset="-122"/>
                <a:cs typeface="Calibri" pitchFamily="34" charset="-120"/>
              </a:rPr>
              <a:t>Church social media content</a:t>
            </a:r>
            <a:endParaRPr lang="en-US" sz="1350" dirty="0"/>
          </a:p>
          <a:p>
            <a:pPr marL="177800" indent="-177800">
              <a:spcAft>
                <a:spcPts val="500"/>
              </a:spcAft>
              <a:buSzPct val="100000"/>
              <a:buChar char="•"/>
            </a:pPr>
            <a:r>
              <a:rPr lang="en-US" sz="1350" dirty="0">
                <a:solidFill>
                  <a:srgbClr val="1B2A21"/>
                </a:solidFill>
                <a:latin typeface="Calibri" pitchFamily="34" charset="0"/>
                <a:ea typeface="Calibri" pitchFamily="34" charset="-122"/>
                <a:cs typeface="Calibri" pitchFamily="34" charset="-120"/>
              </a:rPr>
              <a:t>Translation for multilingual congregations</a:t>
            </a:r>
            <a:endParaRPr lang="en-US" sz="1350" dirty="0"/>
          </a:p>
          <a:p>
            <a:pPr marL="177800" indent="-177800">
              <a:spcAft>
                <a:spcPts val="500"/>
              </a:spcAft>
              <a:buSzPct val="100000"/>
              <a:buChar char="•"/>
            </a:pPr>
            <a:r>
              <a:rPr lang="en-US" sz="1350" dirty="0">
                <a:solidFill>
                  <a:srgbClr val="1B2A21"/>
                </a:solidFill>
                <a:latin typeface="Calibri" pitchFamily="34" charset="0"/>
                <a:ea typeface="Calibri" pitchFamily="34" charset="-122"/>
                <a:cs typeface="Calibri" pitchFamily="34" charset="-120"/>
              </a:rPr>
              <a:t>Output shaped to the pastor's own voice</a:t>
            </a:r>
            <a:endParaRPr lang="en-US" sz="1350" dirty="0"/>
          </a:p>
        </p:txBody>
      </p:sp>
      <p:sp>
        <p:nvSpPr>
          <p:cNvPr id="7" name="Text 5"/>
          <p:cNvSpPr txBox="1"/>
          <p:nvPr/>
        </p:nvSpPr>
        <p:spPr>
          <a:xfrm>
            <a:off x="731520" y="3931920"/>
            <a:ext cx="4389120" cy="502920"/>
          </a:xfrm>
          <a:prstGeom prst="rect">
            <a:avLst/>
          </a:prstGeom>
          <a:noFill/>
          <a:ln/>
        </p:spPr>
        <p:txBody>
          <a:bodyPr wrap="square" lIns="0" tIns="0" rIns="0" bIns="0" rtlCol="0" anchor="t"/>
          <a:lstStyle/>
          <a:p>
            <a:pPr indent="0" marL="0">
              <a:buNone/>
            </a:pPr>
            <a:r>
              <a:rPr lang="en-US" sz="1200" i="1" dirty="0">
                <a:solidFill>
                  <a:srgbClr val="143D28"/>
                </a:solidFill>
                <a:latin typeface="Cambria" pitchFamily="34" charset="0"/>
                <a:ea typeface="Cambria" pitchFamily="34" charset="-122"/>
                <a:cs typeface="Cambria" pitchFamily="34" charset="-120"/>
              </a:rPr>
              <a:t>Lightens the load without replacing the pastor: less busywork, more time with people.</a:t>
            </a:r>
            <a:endParaRPr lang="en-US" sz="1200" dirty="0"/>
          </a:p>
        </p:txBody>
      </p:sp>
      <p:sp>
        <p:nvSpPr>
          <p:cNvPr id="8" name="Shape 6"/>
          <p:cNvSpPr/>
          <p:nvPr/>
        </p:nvSpPr>
        <p:spPr>
          <a:xfrm>
            <a:off x="5577840" y="1463040"/>
            <a:ext cx="3108960" cy="914400"/>
          </a:xfrm>
          <a:prstGeom prst="roundRect">
            <a:avLst>
              <a:gd name="adj" fmla="val 8000"/>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5806440" y="1572768"/>
            <a:ext cx="2743200" cy="457200"/>
          </a:xfrm>
          <a:prstGeom prst="rect">
            <a:avLst/>
          </a:prstGeom>
          <a:noFill/>
          <a:ln/>
        </p:spPr>
        <p:txBody>
          <a:bodyPr wrap="square" lIns="0" tIns="0" rIns="0" bIns="0" rtlCol="0" anchor="ctr"/>
          <a:lstStyle/>
          <a:p>
            <a:pPr indent="0" marL="0">
              <a:buNone/>
            </a:pPr>
            <a:r>
              <a:rPr lang="en-US" sz="2800" b="1" dirty="0">
                <a:solidFill>
                  <a:srgbClr val="F4EBD5"/>
                </a:solidFill>
                <a:latin typeface="Cambria" pitchFamily="34" charset="0"/>
                <a:ea typeface="Cambria" pitchFamily="34" charset="-122"/>
                <a:cs typeface="Cambria" pitchFamily="34" charset="-120"/>
              </a:rPr>
              <a:t>$47</a:t>
            </a:r>
            <a:endParaRPr lang="en-US" sz="2800" dirty="0"/>
          </a:p>
        </p:txBody>
      </p:sp>
      <p:sp>
        <p:nvSpPr>
          <p:cNvPr id="10" name="Text 8"/>
          <p:cNvSpPr txBox="1"/>
          <p:nvPr/>
        </p:nvSpPr>
        <p:spPr>
          <a:xfrm>
            <a:off x="5806440" y="2039112"/>
            <a:ext cx="2743200" cy="256032"/>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per month subscription</a:t>
            </a:r>
            <a:endParaRPr lang="en-US" sz="1100" dirty="0"/>
          </a:p>
        </p:txBody>
      </p:sp>
      <p:sp>
        <p:nvSpPr>
          <p:cNvPr id="11" name="Shape 9"/>
          <p:cNvSpPr/>
          <p:nvPr/>
        </p:nvSpPr>
        <p:spPr>
          <a:xfrm>
            <a:off x="5577840" y="2532888"/>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2" name="Text 10"/>
          <p:cNvSpPr txBox="1"/>
          <p:nvPr/>
        </p:nvSpPr>
        <p:spPr>
          <a:xfrm>
            <a:off x="5806440" y="2642616"/>
            <a:ext cx="2743200" cy="457200"/>
          </a:xfrm>
          <a:prstGeom prst="rect">
            <a:avLst/>
          </a:prstGeom>
          <a:noFill/>
          <a:ln/>
        </p:spPr>
        <p:txBody>
          <a:bodyPr wrap="square" lIns="0" tIns="0" rIns="0" bIns="0" rtlCol="0" anchor="ctr"/>
          <a:lstStyle/>
          <a:p>
            <a:pPr indent="0" marL="0">
              <a:buNone/>
            </a:pPr>
            <a:r>
              <a:rPr lang="en-US" sz="2800" b="1" dirty="0">
                <a:solidFill>
                  <a:srgbClr val="143D28"/>
                </a:solidFill>
                <a:latin typeface="Cambria" pitchFamily="34" charset="0"/>
                <a:ea typeface="Cambria" pitchFamily="34" charset="-122"/>
                <a:cs typeface="Cambria" pitchFamily="34" charset="-120"/>
              </a:rPr>
              <a:t>~15</a:t>
            </a:r>
            <a:endParaRPr lang="en-US" sz="2800" dirty="0"/>
          </a:p>
        </p:txBody>
      </p:sp>
      <p:sp>
        <p:nvSpPr>
          <p:cNvPr id="13" name="Text 11"/>
          <p:cNvSpPr txBox="1"/>
          <p:nvPr/>
        </p:nvSpPr>
        <p:spPr>
          <a:xfrm>
            <a:off x="5806440" y="3108960"/>
            <a:ext cx="2743200" cy="256032"/>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 today</a:t>
            </a:r>
            <a:endParaRPr lang="en-US" sz="1100" dirty="0"/>
          </a:p>
        </p:txBody>
      </p:sp>
      <p:sp>
        <p:nvSpPr>
          <p:cNvPr id="14" name="Shape 12"/>
          <p:cNvSpPr/>
          <p:nvPr/>
        </p:nvSpPr>
        <p:spPr>
          <a:xfrm>
            <a:off x="5577840" y="3602736"/>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Text 13"/>
          <p:cNvSpPr txBox="1"/>
          <p:nvPr/>
        </p:nvSpPr>
        <p:spPr>
          <a:xfrm>
            <a:off x="5806440" y="3712464"/>
            <a:ext cx="2743200" cy="457200"/>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iOS · Android · Web</a:t>
            </a:r>
            <a:endParaRPr lang="en-US" sz="1700" dirty="0"/>
          </a:p>
        </p:txBody>
      </p:sp>
      <p:sp>
        <p:nvSpPr>
          <p:cNvPr id="16" name="Text 14"/>
          <p:cNvSpPr txBox="1"/>
          <p:nvPr/>
        </p:nvSpPr>
        <p:spPr>
          <a:xfrm>
            <a:off x="5806440" y="4178808"/>
            <a:ext cx="2743200" cy="256032"/>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live in both app stores</a:t>
            </a:r>
            <a:endParaRPr lang="en-US" sz="1100" dirty="0"/>
          </a:p>
        </p:txBody>
      </p:sp>
      <p:sp>
        <p:nvSpPr>
          <p:cNvPr id="17" name="Text 15"/>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8" name="Text 16"/>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4 / 15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LIVE PRODUCT #2  ·  TRYREADYROOM.COM</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Ready Room: a flight simulator for sales calls</a:t>
            </a:r>
            <a:endParaRPr lang="en-US" sz="2600" dirty="0"/>
          </a:p>
        </p:txBody>
      </p:sp>
      <p:sp>
        <p:nvSpPr>
          <p:cNvPr id="4" name="Shape 2"/>
          <p:cNvSpPr/>
          <p:nvPr/>
        </p:nvSpPr>
        <p:spPr>
          <a:xfrm>
            <a:off x="457200" y="1463040"/>
            <a:ext cx="3108960" cy="914400"/>
          </a:xfrm>
          <a:prstGeom prst="roundRect">
            <a:avLst>
              <a:gd name="adj" fmla="val 8000"/>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85800" y="1572768"/>
            <a:ext cx="2743200" cy="457200"/>
          </a:xfrm>
          <a:prstGeom prst="rect">
            <a:avLst/>
          </a:prstGeom>
          <a:noFill/>
          <a:ln/>
        </p:spPr>
        <p:txBody>
          <a:bodyPr wrap="square" lIns="0" tIns="0" rIns="0" bIns="0" rtlCol="0" anchor="ctr"/>
          <a:lstStyle/>
          <a:p>
            <a:pPr indent="0" marL="0">
              <a:buNone/>
            </a:pPr>
            <a:r>
              <a:rPr lang="en-US" sz="2800" b="1" dirty="0">
                <a:solidFill>
                  <a:srgbClr val="F4EBD5"/>
                </a:solidFill>
                <a:latin typeface="Cambria" pitchFamily="34" charset="0"/>
                <a:ea typeface="Cambria" pitchFamily="34" charset="-122"/>
                <a:cs typeface="Cambria" pitchFamily="34" charset="-120"/>
              </a:rPr>
              <a:t>$29</a:t>
            </a:r>
            <a:endParaRPr lang="en-US" sz="2800" dirty="0"/>
          </a:p>
        </p:txBody>
      </p:sp>
      <p:sp>
        <p:nvSpPr>
          <p:cNvPr id="6" name="Text 4"/>
          <p:cNvSpPr txBox="1"/>
          <p:nvPr/>
        </p:nvSpPr>
        <p:spPr>
          <a:xfrm>
            <a:off x="685800" y="2039112"/>
            <a:ext cx="2743200" cy="256032"/>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per month subscription</a:t>
            </a:r>
            <a:endParaRPr lang="en-US" sz="1100" dirty="0"/>
          </a:p>
        </p:txBody>
      </p:sp>
      <p:sp>
        <p:nvSpPr>
          <p:cNvPr id="7" name="Shape 5"/>
          <p:cNvSpPr/>
          <p:nvPr/>
        </p:nvSpPr>
        <p:spPr>
          <a:xfrm>
            <a:off x="457200" y="2532888"/>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685800" y="2642616"/>
            <a:ext cx="2743200" cy="457200"/>
          </a:xfrm>
          <a:prstGeom prst="rect">
            <a:avLst/>
          </a:prstGeom>
          <a:noFill/>
          <a:ln/>
        </p:spPr>
        <p:txBody>
          <a:bodyPr wrap="square" lIns="0" tIns="0" rIns="0" bIns="0" rtlCol="0" anchor="ctr"/>
          <a:lstStyle/>
          <a:p>
            <a:pPr indent="0" marL="0">
              <a:buNone/>
            </a:pPr>
            <a:r>
              <a:rPr lang="en-US" sz="2800" b="1" dirty="0">
                <a:solidFill>
                  <a:srgbClr val="143D28"/>
                </a:solidFill>
                <a:latin typeface="Cambria" pitchFamily="34" charset="0"/>
                <a:ea typeface="Cambria" pitchFamily="34" charset="-122"/>
                <a:cs typeface="Cambria" pitchFamily="34" charset="-120"/>
              </a:rPr>
              <a:t>~15</a:t>
            </a:r>
            <a:endParaRPr lang="en-US" sz="2800" dirty="0"/>
          </a:p>
        </p:txBody>
      </p:sp>
      <p:sp>
        <p:nvSpPr>
          <p:cNvPr id="9" name="Text 7"/>
          <p:cNvSpPr txBox="1"/>
          <p:nvPr/>
        </p:nvSpPr>
        <p:spPr>
          <a:xfrm>
            <a:off x="685800" y="3108960"/>
            <a:ext cx="2743200" cy="256032"/>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 today</a:t>
            </a:r>
            <a:endParaRPr lang="en-US" sz="1100" dirty="0"/>
          </a:p>
        </p:txBody>
      </p:sp>
      <p:sp>
        <p:nvSpPr>
          <p:cNvPr id="10" name="Shape 8"/>
          <p:cNvSpPr/>
          <p:nvPr/>
        </p:nvSpPr>
        <p:spPr>
          <a:xfrm>
            <a:off x="457200" y="3602736"/>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85800" y="3712464"/>
            <a:ext cx="2743200" cy="457200"/>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iOS · Android · Web</a:t>
            </a:r>
            <a:endParaRPr lang="en-US" sz="1700" dirty="0"/>
          </a:p>
        </p:txBody>
      </p:sp>
      <p:sp>
        <p:nvSpPr>
          <p:cNvPr id="12" name="Text 10"/>
          <p:cNvSpPr txBox="1"/>
          <p:nvPr/>
        </p:nvSpPr>
        <p:spPr>
          <a:xfrm>
            <a:off x="685800" y="4178808"/>
            <a:ext cx="2743200" cy="256032"/>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live in both app stores</a:t>
            </a:r>
            <a:endParaRPr lang="en-US" sz="1100" dirty="0"/>
          </a:p>
        </p:txBody>
      </p:sp>
      <p:sp>
        <p:nvSpPr>
          <p:cNvPr id="13" name="Shape 11"/>
          <p:cNvSpPr/>
          <p:nvPr/>
        </p:nvSpPr>
        <p:spPr>
          <a:xfrm>
            <a:off x="3840480" y="1463040"/>
            <a:ext cx="484632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114800" y="1645920"/>
            <a:ext cx="4389120" cy="274320"/>
          </a:xfrm>
          <a:prstGeom prst="rect">
            <a:avLst/>
          </a:prstGeom>
          <a:noFill/>
          <a:ln/>
        </p:spPr>
        <p:txBody>
          <a:bodyPr wrap="square" lIns="0" tIns="0" rIns="0" bIns="0" rtlCol="0" anchor="t"/>
          <a:lstStyle/>
          <a:p>
            <a:pPr indent="0" marL="0">
              <a:buNone/>
            </a:pPr>
            <a:r>
              <a:rPr lang="en-US" sz="1100" b="1" spc="200" kern="0" dirty="0">
                <a:solidFill>
                  <a:srgbClr val="D98B3C"/>
                </a:solidFill>
                <a:latin typeface="Calibri" pitchFamily="34" charset="0"/>
                <a:ea typeface="Calibri" pitchFamily="34" charset="-122"/>
                <a:cs typeface="Calibri" pitchFamily="34" charset="-120"/>
              </a:rPr>
              <a:t>How it works</a:t>
            </a:r>
            <a:endParaRPr lang="en-US" sz="1100" dirty="0"/>
          </a:p>
        </p:txBody>
      </p:sp>
      <p:sp>
        <p:nvSpPr>
          <p:cNvPr id="15" name="Text 13"/>
          <p:cNvSpPr txBox="1"/>
          <p:nvPr/>
        </p:nvSpPr>
        <p:spPr>
          <a:xfrm>
            <a:off x="4114800" y="1993392"/>
            <a:ext cx="4389120" cy="20116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A voice AI plays a realistic, often skeptical prospect</a:t>
            </a:r>
            <a:endParaRPr lang="en-US" sz="1300" dirty="0"/>
          </a:p>
          <a:p>
            <a:pPr marL="177800" indent="-1778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It reacts to how you sell: warms up to good questions, shuts down when pushed</a:t>
            </a:r>
            <a:endParaRPr lang="en-US" sz="1300" dirty="0"/>
          </a:p>
          <a:p>
            <a:pPr marL="177800" indent="-1778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Drills discovery and objections on price, timing and trust</a:t>
            </a:r>
            <a:endParaRPr lang="en-US" sz="1300" dirty="0"/>
          </a:p>
          <a:p>
            <a:pPr marL="177800" indent="-1778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Easy, medium and hard levels</a:t>
            </a:r>
            <a:endParaRPr lang="en-US" sz="1300" dirty="0"/>
          </a:p>
          <a:p>
            <a:pPr marL="177800" indent="-1778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An AI coach grades every session and says what to fix next</a:t>
            </a:r>
            <a:endParaRPr lang="en-US" sz="1300" dirty="0"/>
          </a:p>
        </p:txBody>
      </p:sp>
      <p:sp>
        <p:nvSpPr>
          <p:cNvPr id="16" name="Text 14"/>
          <p:cNvSpPr txBox="1"/>
          <p:nvPr/>
        </p:nvSpPr>
        <p:spPr>
          <a:xfrm>
            <a:off x="4114800" y="4069080"/>
            <a:ext cx="4389120" cy="36576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The best closers aren't born. They're rehearsed.</a:t>
            </a:r>
            <a:endParaRPr lang="en-US" sz="1250" dirty="0"/>
          </a:p>
        </p:txBody>
      </p:sp>
      <p:sp>
        <p:nvSpPr>
          <p:cNvPr id="17" name="Text 15"/>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8" name="Text 16"/>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5 / 15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OUR ENGINE</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AppForge: our in-house system for finding and building the next app</a:t>
            </a:r>
            <a:endParaRPr lang="en-US" sz="2600" dirty="0"/>
          </a:p>
        </p:txBody>
      </p:sp>
      <p:sp>
        <p:nvSpPr>
          <p:cNvPr id="4" name="Shape 2"/>
          <p:cNvSpPr/>
          <p:nvPr/>
        </p:nvSpPr>
        <p:spPr>
          <a:xfrm>
            <a:off x="457200" y="1600200"/>
            <a:ext cx="1874520" cy="2103120"/>
          </a:xfrm>
          <a:prstGeom prst="roundRect">
            <a:avLst>
              <a:gd name="adj" fmla="val 3902"/>
            </a:avLst>
          </a:prstGeom>
          <a:solidFill>
            <a:srgbClr val="1E5238"/>
          </a:solidFill>
          <a:ln w="12700">
            <a:solidFill>
              <a:srgbClr val="1E5238"/>
            </a:solidFill>
            <a:prstDash val="solid"/>
          </a:ln>
        </p:spPr>
      </p:sp>
      <p:sp>
        <p:nvSpPr>
          <p:cNvPr id="5" name="Shape 3"/>
          <p:cNvSpPr/>
          <p:nvPr/>
        </p:nvSpPr>
        <p:spPr>
          <a:xfrm>
            <a:off x="640080" y="1783080"/>
            <a:ext cx="548640" cy="548640"/>
          </a:xfrm>
          <a:prstGeom prst="ellipse">
            <a:avLst/>
          </a:prstGeom>
          <a:solidFill>
            <a:srgbClr val="1E5238"/>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782726" y="1925726"/>
            <a:ext cx="263347" cy="263347"/>
          </a:xfrm>
          <a:prstGeom prst="rect">
            <a:avLst/>
          </a:prstGeom>
        </p:spPr>
      </p:pic>
      <p:sp>
        <p:nvSpPr>
          <p:cNvPr id="7" name="Text 4"/>
          <p:cNvSpPr txBox="1"/>
          <p:nvPr/>
        </p:nvSpPr>
        <p:spPr>
          <a:xfrm>
            <a:off x="64008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1  Analyze</a:t>
            </a:r>
            <a:endParaRPr lang="en-US" sz="1500" dirty="0"/>
          </a:p>
        </p:txBody>
      </p:sp>
      <p:sp>
        <p:nvSpPr>
          <p:cNvPr id="8" name="Text 5"/>
          <p:cNvSpPr txBox="1"/>
          <p:nvPr/>
        </p:nvSpPr>
        <p:spPr>
          <a:xfrm>
            <a:off x="64008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Scans the market for underserved niches with real demand and willingness to pay</a:t>
            </a:r>
            <a:endParaRPr lang="en-US" sz="1100" dirty="0"/>
          </a:p>
        </p:txBody>
      </p:sp>
      <p:sp>
        <p:nvSpPr>
          <p:cNvPr id="9" name="Text 6"/>
          <p:cNvSpPr txBox="1"/>
          <p:nvPr/>
        </p:nvSpPr>
        <p:spPr>
          <a:xfrm>
            <a:off x="2331720" y="2423160"/>
            <a:ext cx="228600" cy="365760"/>
          </a:xfrm>
          <a:prstGeom prst="rect">
            <a:avLst/>
          </a:prstGeom>
          <a:noFill/>
          <a:ln/>
        </p:spPr>
        <p:txBody>
          <a:bodyPr wrap="square" lIns="0" tIns="0" rIns="0" bIns="0" rtlCol="0" anchor="ctr"/>
          <a:lstStyle/>
          <a:p>
            <a:pPr algn="ctr" indent="0" marL="0">
              <a:buNone/>
            </a:pPr>
            <a:r>
              <a:rPr lang="en-US" sz="2200" dirty="0">
                <a:solidFill>
                  <a:srgbClr val="D98B3C"/>
                </a:solidFill>
              </a:rPr>
              <a:t>›</a:t>
            </a:r>
            <a:endParaRPr lang="en-US" sz="2200" dirty="0"/>
          </a:p>
        </p:txBody>
      </p:sp>
      <p:sp>
        <p:nvSpPr>
          <p:cNvPr id="10" name="Shape 7"/>
          <p:cNvSpPr/>
          <p:nvPr/>
        </p:nvSpPr>
        <p:spPr>
          <a:xfrm>
            <a:off x="2560320" y="1600200"/>
            <a:ext cx="1874520" cy="2103120"/>
          </a:xfrm>
          <a:prstGeom prst="roundRect">
            <a:avLst>
              <a:gd name="adj" fmla="val 3902"/>
            </a:avLst>
          </a:prstGeom>
          <a:solidFill>
            <a:srgbClr val="1E5238"/>
          </a:solidFill>
          <a:ln w="12700">
            <a:solidFill>
              <a:srgbClr val="1E5238"/>
            </a:solidFill>
            <a:prstDash val="solid"/>
          </a:ln>
        </p:spPr>
      </p:sp>
      <p:sp>
        <p:nvSpPr>
          <p:cNvPr id="11" name="Shape 8"/>
          <p:cNvSpPr/>
          <p:nvPr/>
        </p:nvSpPr>
        <p:spPr>
          <a:xfrm>
            <a:off x="2743200" y="1783080"/>
            <a:ext cx="548640" cy="548640"/>
          </a:xfrm>
          <a:prstGeom prst="ellipse">
            <a:avLst/>
          </a:prstGeom>
          <a:solidFill>
            <a:srgbClr val="1E5238"/>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2885846" y="1925726"/>
            <a:ext cx="263347" cy="263347"/>
          </a:xfrm>
          <a:prstGeom prst="rect">
            <a:avLst/>
          </a:prstGeom>
        </p:spPr>
      </p:pic>
      <p:sp>
        <p:nvSpPr>
          <p:cNvPr id="13" name="Text 9"/>
          <p:cNvSpPr txBox="1"/>
          <p:nvPr/>
        </p:nvSpPr>
        <p:spPr>
          <a:xfrm>
            <a:off x="274320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2  Select</a:t>
            </a:r>
            <a:endParaRPr lang="en-US" sz="1500" dirty="0"/>
          </a:p>
        </p:txBody>
      </p:sp>
      <p:sp>
        <p:nvSpPr>
          <p:cNvPr id="14" name="Text 10"/>
          <p:cNvSpPr txBox="1"/>
          <p:nvPr/>
        </p:nvSpPr>
        <p:spPr>
          <a:xfrm>
            <a:off x="274320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Scores ideas on demand, competition and fit, and picks the strongest</a:t>
            </a:r>
            <a:endParaRPr lang="en-US" sz="1100" dirty="0"/>
          </a:p>
        </p:txBody>
      </p:sp>
      <p:sp>
        <p:nvSpPr>
          <p:cNvPr id="15" name="Text 11"/>
          <p:cNvSpPr txBox="1"/>
          <p:nvPr/>
        </p:nvSpPr>
        <p:spPr>
          <a:xfrm>
            <a:off x="4434840" y="2423160"/>
            <a:ext cx="228600" cy="365760"/>
          </a:xfrm>
          <a:prstGeom prst="rect">
            <a:avLst/>
          </a:prstGeom>
          <a:noFill/>
          <a:ln/>
        </p:spPr>
        <p:txBody>
          <a:bodyPr wrap="square" lIns="0" tIns="0" rIns="0" bIns="0" rtlCol="0" anchor="ctr"/>
          <a:lstStyle/>
          <a:p>
            <a:pPr algn="ctr" indent="0" marL="0">
              <a:buNone/>
            </a:pPr>
            <a:r>
              <a:rPr lang="en-US" sz="2200" dirty="0">
                <a:solidFill>
                  <a:srgbClr val="D98B3C"/>
                </a:solidFill>
              </a:rPr>
              <a:t>›</a:t>
            </a:r>
            <a:endParaRPr lang="en-US" sz="2200" dirty="0"/>
          </a:p>
        </p:txBody>
      </p:sp>
      <p:sp>
        <p:nvSpPr>
          <p:cNvPr id="16" name="Shape 12"/>
          <p:cNvSpPr/>
          <p:nvPr/>
        </p:nvSpPr>
        <p:spPr>
          <a:xfrm>
            <a:off x="4663440" y="1600200"/>
            <a:ext cx="1874520" cy="2103120"/>
          </a:xfrm>
          <a:prstGeom prst="roundRect">
            <a:avLst>
              <a:gd name="adj" fmla="val 3902"/>
            </a:avLst>
          </a:prstGeom>
          <a:solidFill>
            <a:srgbClr val="1E5238"/>
          </a:solidFill>
          <a:ln w="12700">
            <a:solidFill>
              <a:srgbClr val="1E5238"/>
            </a:solidFill>
            <a:prstDash val="solid"/>
          </a:ln>
        </p:spPr>
      </p:sp>
      <p:sp>
        <p:nvSpPr>
          <p:cNvPr id="17" name="Shape 13"/>
          <p:cNvSpPr/>
          <p:nvPr/>
        </p:nvSpPr>
        <p:spPr>
          <a:xfrm>
            <a:off x="4846320" y="1783080"/>
            <a:ext cx="548640" cy="548640"/>
          </a:xfrm>
          <a:prstGeom prst="ellipse">
            <a:avLst/>
          </a:prstGeom>
          <a:solidFill>
            <a:srgbClr val="1E5238"/>
          </a:solidFill>
          <a:ln w="19050">
            <a:solidFill>
              <a:srgbClr val="D98B3C"/>
            </a:solidFill>
            <a:prstDash val="solid"/>
          </a:ln>
        </p:spPr>
      </p:sp>
      <p:pic>
        <p:nvPicPr>
          <p:cNvPr id="18" name="Image 2" descr="preencoded.png">    </p:cNvPr>
          <p:cNvPicPr>
            <a:picLocks noChangeAspect="1"/>
          </p:cNvPicPr>
          <p:nvPr/>
        </p:nvPicPr>
        <p:blipFill>
          <a:blip r:embed="rId3"/>
          <a:stretch>
            <a:fillRect/>
          </a:stretch>
        </p:blipFill>
        <p:spPr>
          <a:xfrm>
            <a:off x="4988966" y="1925726"/>
            <a:ext cx="263347" cy="263347"/>
          </a:xfrm>
          <a:prstGeom prst="rect">
            <a:avLst/>
          </a:prstGeom>
        </p:spPr>
      </p:pic>
      <p:sp>
        <p:nvSpPr>
          <p:cNvPr id="19" name="Text 14"/>
          <p:cNvSpPr txBox="1"/>
          <p:nvPr/>
        </p:nvSpPr>
        <p:spPr>
          <a:xfrm>
            <a:off x="484632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3  Build</a:t>
            </a:r>
            <a:endParaRPr lang="en-US" sz="1500" dirty="0"/>
          </a:p>
        </p:txBody>
      </p:sp>
      <p:sp>
        <p:nvSpPr>
          <p:cNvPr id="20" name="Text 15"/>
          <p:cNvSpPr txBox="1"/>
          <p:nvPr/>
        </p:nvSpPr>
        <p:spPr>
          <a:xfrm>
            <a:off x="484632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Reuses the proven Cedarworks stack of AI, voice, billing and app-store shells</a:t>
            </a:r>
            <a:endParaRPr lang="en-US" sz="1100" dirty="0"/>
          </a:p>
        </p:txBody>
      </p:sp>
      <p:sp>
        <p:nvSpPr>
          <p:cNvPr id="21" name="Text 16"/>
          <p:cNvSpPr txBox="1"/>
          <p:nvPr/>
        </p:nvSpPr>
        <p:spPr>
          <a:xfrm>
            <a:off x="6537960" y="2423160"/>
            <a:ext cx="228600" cy="365760"/>
          </a:xfrm>
          <a:prstGeom prst="rect">
            <a:avLst/>
          </a:prstGeom>
          <a:noFill/>
          <a:ln/>
        </p:spPr>
        <p:txBody>
          <a:bodyPr wrap="square" lIns="0" tIns="0" rIns="0" bIns="0" rtlCol="0" anchor="ctr"/>
          <a:lstStyle/>
          <a:p>
            <a:pPr algn="ctr" indent="0" marL="0">
              <a:buNone/>
            </a:pPr>
            <a:r>
              <a:rPr lang="en-US" sz="2200" dirty="0">
                <a:solidFill>
                  <a:srgbClr val="D98B3C"/>
                </a:solidFill>
              </a:rPr>
              <a:t>›</a:t>
            </a:r>
            <a:endParaRPr lang="en-US" sz="2200" dirty="0"/>
          </a:p>
        </p:txBody>
      </p:sp>
      <p:sp>
        <p:nvSpPr>
          <p:cNvPr id="22" name="Shape 17"/>
          <p:cNvSpPr/>
          <p:nvPr/>
        </p:nvSpPr>
        <p:spPr>
          <a:xfrm>
            <a:off x="6766560" y="1600200"/>
            <a:ext cx="1874520" cy="2103120"/>
          </a:xfrm>
          <a:prstGeom prst="roundRect">
            <a:avLst>
              <a:gd name="adj" fmla="val 3902"/>
            </a:avLst>
          </a:prstGeom>
          <a:solidFill>
            <a:srgbClr val="1E5238"/>
          </a:solidFill>
          <a:ln w="12700">
            <a:solidFill>
              <a:srgbClr val="1E5238"/>
            </a:solidFill>
            <a:prstDash val="solid"/>
          </a:ln>
        </p:spPr>
      </p:sp>
      <p:sp>
        <p:nvSpPr>
          <p:cNvPr id="23" name="Shape 18"/>
          <p:cNvSpPr/>
          <p:nvPr/>
        </p:nvSpPr>
        <p:spPr>
          <a:xfrm>
            <a:off x="6949440" y="1783080"/>
            <a:ext cx="548640" cy="548640"/>
          </a:xfrm>
          <a:prstGeom prst="ellipse">
            <a:avLst/>
          </a:prstGeom>
          <a:solidFill>
            <a:srgbClr val="1E5238"/>
          </a:solidFill>
          <a:ln w="19050">
            <a:solidFill>
              <a:srgbClr val="D98B3C"/>
            </a:solidFill>
            <a:prstDash val="solid"/>
          </a:ln>
        </p:spPr>
      </p:sp>
      <p:pic>
        <p:nvPicPr>
          <p:cNvPr id="24" name="Image 3" descr="preencoded.png">    </p:cNvPr>
          <p:cNvPicPr>
            <a:picLocks noChangeAspect="1"/>
          </p:cNvPicPr>
          <p:nvPr/>
        </p:nvPicPr>
        <p:blipFill>
          <a:blip r:embed="rId4"/>
          <a:stretch>
            <a:fillRect/>
          </a:stretch>
        </p:blipFill>
        <p:spPr>
          <a:xfrm>
            <a:off x="7092086" y="1925726"/>
            <a:ext cx="263347" cy="263347"/>
          </a:xfrm>
          <a:prstGeom prst="rect">
            <a:avLst/>
          </a:prstGeom>
        </p:spPr>
      </p:pic>
      <p:sp>
        <p:nvSpPr>
          <p:cNvPr id="25" name="Text 19"/>
          <p:cNvSpPr txBox="1"/>
          <p:nvPr/>
        </p:nvSpPr>
        <p:spPr>
          <a:xfrm>
            <a:off x="694944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4  Launch</a:t>
            </a:r>
            <a:endParaRPr lang="en-US" sz="1500" dirty="0"/>
          </a:p>
        </p:txBody>
      </p:sp>
      <p:sp>
        <p:nvSpPr>
          <p:cNvPr id="26" name="Text 20"/>
          <p:cNvSpPr txBox="1"/>
          <p:nvPr/>
        </p:nvSpPr>
        <p:spPr>
          <a:xfrm>
            <a:off x="694944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Ships to iOS, Android and web with trials and subscriptions ready on day one</a:t>
            </a:r>
            <a:endParaRPr lang="en-US" sz="1100" dirty="0"/>
          </a:p>
        </p:txBody>
      </p:sp>
      <p:sp>
        <p:nvSpPr>
          <p:cNvPr id="27" name="Text 21"/>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350" i="1" dirty="0">
                <a:solidFill>
                  <a:srgbClr val="F4EBD5"/>
                </a:solidFill>
                <a:latin typeface="Cambria" pitchFamily="34" charset="0"/>
                <a:ea typeface="Cambria" pitchFamily="34" charset="-122"/>
                <a:cs typeface="Cambria" pitchFamily="34" charset="-120"/>
              </a:rPr>
              <a:t>Why it matters: each new app launches faster and cheaper than the last, and AppForge's market data picks where to build. Investor money goes into apps people already want.</a:t>
            </a:r>
            <a:endParaRPr lang="en-US" sz="1350" dirty="0"/>
          </a:p>
        </p:txBody>
      </p:sp>
      <p:sp>
        <p:nvSpPr>
          <p:cNvPr id="28" name="Text 22"/>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9" name="Text 23"/>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6 / 15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TRACTION</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Built, shipped and live, before raising a dollar</a:t>
            </a:r>
            <a:endParaRPr lang="en-US" sz="2600" dirty="0"/>
          </a:p>
        </p:txBody>
      </p:sp>
      <p:sp>
        <p:nvSpPr>
          <p:cNvPr id="4" name="Shape 2"/>
          <p:cNvSpPr/>
          <p:nvPr/>
        </p:nvSpPr>
        <p:spPr>
          <a:xfrm>
            <a:off x="457200" y="1508760"/>
            <a:ext cx="1874520" cy="1737360"/>
          </a:xfrm>
          <a:prstGeom prst="roundRect">
            <a:avLst>
              <a:gd name="adj" fmla="val 421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594360" y="1645920"/>
            <a:ext cx="1600200" cy="777240"/>
          </a:xfrm>
          <a:prstGeom prst="rect">
            <a:avLst/>
          </a:prstGeom>
          <a:noFill/>
          <a:ln/>
        </p:spPr>
        <p:txBody>
          <a:bodyPr wrap="square" lIns="0" tIns="0" rIns="0" bIns="0" rtlCol="0" anchor="ctr"/>
          <a:lstStyle/>
          <a:p>
            <a:pPr algn="ctr" indent="0" marL="0">
              <a:buNone/>
            </a:pPr>
            <a:r>
              <a:rPr lang="en-US" sz="4400" b="1" dirty="0">
                <a:solidFill>
                  <a:srgbClr val="143D28"/>
                </a:solidFill>
                <a:latin typeface="Cambria" pitchFamily="34" charset="0"/>
                <a:ea typeface="Cambria" pitchFamily="34" charset="-122"/>
                <a:cs typeface="Cambria" pitchFamily="34" charset="-120"/>
              </a:rPr>
              <a:t>2</a:t>
            </a:r>
            <a:endParaRPr lang="en-US" sz="4400" dirty="0"/>
          </a:p>
        </p:txBody>
      </p:sp>
      <p:sp>
        <p:nvSpPr>
          <p:cNvPr id="6" name="Text 4"/>
          <p:cNvSpPr txBox="1"/>
          <p:nvPr/>
        </p:nvSpPr>
        <p:spPr>
          <a:xfrm>
            <a:off x="594360" y="2468880"/>
            <a:ext cx="1600200" cy="640080"/>
          </a:xfrm>
          <a:prstGeom prst="rect">
            <a:avLst/>
          </a:prstGeom>
          <a:noFill/>
          <a:ln/>
        </p:spPr>
        <p:txBody>
          <a:bodyPr wrap="square" lIns="0" tIns="0" rIns="0" bIns="0" rtlCol="0" anchor="t"/>
          <a:lstStyle/>
          <a:p>
            <a:pPr algn="ctr" indent="0" marL="0">
              <a:buNone/>
            </a:pPr>
            <a:r>
              <a:rPr lang="en-US" sz="1150" dirty="0">
                <a:solidFill>
                  <a:srgbClr val="5C6B61"/>
                </a:solidFill>
                <a:latin typeface="Calibri" pitchFamily="34" charset="0"/>
                <a:ea typeface="Calibri" pitchFamily="34" charset="-122"/>
                <a:cs typeface="Calibri" pitchFamily="34" charset="-120"/>
              </a:rPr>
              <a:t>AI apps live on the</a:t>
            </a:r>
            <a:endParaRPr lang="en-US" sz="1150" dirty="0"/>
          </a:p>
          <a:p>
            <a:pPr algn="ctr" indent="0" marL="0">
              <a:buNone/>
            </a:pPr>
            <a:r>
              <a:rPr lang="en-US" sz="1150" dirty="0">
                <a:solidFill>
                  <a:srgbClr val="5C6B61"/>
                </a:solidFill>
                <a:latin typeface="Calibri" pitchFamily="34" charset="0"/>
                <a:ea typeface="Calibri" pitchFamily="34" charset="-122"/>
                <a:cs typeface="Calibri" pitchFamily="34" charset="-120"/>
              </a:rPr>
              <a:t>Apple App Store &amp; Google Play</a:t>
            </a:r>
            <a:endParaRPr lang="en-US" sz="1150" dirty="0"/>
          </a:p>
        </p:txBody>
      </p:sp>
      <p:sp>
        <p:nvSpPr>
          <p:cNvPr id="7" name="Shape 5"/>
          <p:cNvSpPr/>
          <p:nvPr/>
        </p:nvSpPr>
        <p:spPr>
          <a:xfrm>
            <a:off x="2560320" y="1508760"/>
            <a:ext cx="1874520" cy="1737360"/>
          </a:xfrm>
          <a:prstGeom prst="roundRect">
            <a:avLst>
              <a:gd name="adj" fmla="val 421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2697480" y="1645920"/>
            <a:ext cx="1600200" cy="777240"/>
          </a:xfrm>
          <a:prstGeom prst="rect">
            <a:avLst/>
          </a:prstGeom>
          <a:noFill/>
          <a:ln/>
        </p:spPr>
        <p:txBody>
          <a:bodyPr wrap="square" lIns="0" tIns="0" rIns="0" bIns="0" rtlCol="0" anchor="ctr"/>
          <a:lstStyle/>
          <a:p>
            <a:pPr algn="ctr" indent="0" marL="0">
              <a:buNone/>
            </a:pPr>
            <a:r>
              <a:rPr lang="en-US" sz="4400" b="1" dirty="0">
                <a:solidFill>
                  <a:srgbClr val="143D28"/>
                </a:solidFill>
                <a:latin typeface="Cambria" pitchFamily="34" charset="0"/>
                <a:ea typeface="Cambria" pitchFamily="34" charset="-122"/>
                <a:cs typeface="Cambria" pitchFamily="34" charset="-120"/>
              </a:rPr>
              <a:t>~30</a:t>
            </a:r>
            <a:endParaRPr lang="en-US" sz="4400" dirty="0"/>
          </a:p>
        </p:txBody>
      </p:sp>
      <p:sp>
        <p:nvSpPr>
          <p:cNvPr id="9" name="Text 7"/>
          <p:cNvSpPr txBox="1"/>
          <p:nvPr/>
        </p:nvSpPr>
        <p:spPr>
          <a:xfrm>
            <a:off x="2697480" y="2468880"/>
            <a:ext cx="1600200" cy="640080"/>
          </a:xfrm>
          <a:prstGeom prst="rect">
            <a:avLst/>
          </a:prstGeom>
          <a:noFill/>
          <a:ln/>
        </p:spPr>
        <p:txBody>
          <a:bodyPr wrap="square" lIns="0" tIns="0" rIns="0" bIns="0" rtlCol="0" anchor="t"/>
          <a:lstStyle/>
          <a:p>
            <a:pPr algn="ctr" indent="0" marL="0">
              <a:buNone/>
            </a:pPr>
            <a:r>
              <a:rPr lang="en-US" sz="1150" dirty="0">
                <a:solidFill>
                  <a:srgbClr val="5C6B61"/>
                </a:solidFill>
                <a:latin typeface="Calibri" pitchFamily="34" charset="0"/>
                <a:ea typeface="Calibri" pitchFamily="34" charset="-122"/>
                <a:cs typeface="Calibri" pitchFamily="34" charset="-120"/>
              </a:rPr>
              <a:t>trial members across</a:t>
            </a:r>
            <a:endParaRPr lang="en-US" sz="1150" dirty="0"/>
          </a:p>
          <a:p>
            <a:pPr algn="ctr" indent="0" marL="0">
              <a:buNone/>
            </a:pPr>
            <a:r>
              <a:rPr lang="en-US" sz="1150" dirty="0">
                <a:solidFill>
                  <a:srgbClr val="5C6B61"/>
                </a:solidFill>
                <a:latin typeface="Calibri" pitchFamily="34" charset="0"/>
                <a:ea typeface="Calibri" pitchFamily="34" charset="-122"/>
                <a:cs typeface="Calibri" pitchFamily="34" charset="-120"/>
              </a:rPr>
              <a:t>PastorAI &amp; Ready Room</a:t>
            </a:r>
            <a:endParaRPr lang="en-US" sz="1150" dirty="0"/>
          </a:p>
        </p:txBody>
      </p:sp>
      <p:sp>
        <p:nvSpPr>
          <p:cNvPr id="10" name="Shape 8"/>
          <p:cNvSpPr/>
          <p:nvPr/>
        </p:nvSpPr>
        <p:spPr>
          <a:xfrm>
            <a:off x="4663440" y="1508760"/>
            <a:ext cx="1874520" cy="1737360"/>
          </a:xfrm>
          <a:prstGeom prst="roundRect">
            <a:avLst>
              <a:gd name="adj" fmla="val 421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800600" y="1645920"/>
            <a:ext cx="1600200" cy="777240"/>
          </a:xfrm>
          <a:prstGeom prst="rect">
            <a:avLst/>
          </a:prstGeom>
          <a:noFill/>
          <a:ln/>
        </p:spPr>
        <p:txBody>
          <a:bodyPr wrap="square" lIns="0" tIns="0" rIns="0" bIns="0" rtlCol="0" anchor="ctr"/>
          <a:lstStyle/>
          <a:p>
            <a:pPr algn="ctr" indent="0" marL="0">
              <a:buNone/>
            </a:pPr>
            <a:r>
              <a:rPr lang="en-US" sz="4400" b="1" dirty="0">
                <a:solidFill>
                  <a:srgbClr val="143D28"/>
                </a:solidFill>
                <a:latin typeface="Cambria" pitchFamily="34" charset="0"/>
                <a:ea typeface="Cambria" pitchFamily="34" charset="-122"/>
                <a:cs typeface="Cambria" pitchFamily="34" charset="-120"/>
              </a:rPr>
              <a:t>2</a:t>
            </a:r>
            <a:endParaRPr lang="en-US" sz="4400" dirty="0"/>
          </a:p>
        </p:txBody>
      </p:sp>
      <p:sp>
        <p:nvSpPr>
          <p:cNvPr id="12" name="Text 10"/>
          <p:cNvSpPr txBox="1"/>
          <p:nvPr/>
        </p:nvSpPr>
        <p:spPr>
          <a:xfrm>
            <a:off x="4800600" y="2468880"/>
            <a:ext cx="1600200" cy="640080"/>
          </a:xfrm>
          <a:prstGeom prst="rect">
            <a:avLst/>
          </a:prstGeom>
          <a:noFill/>
          <a:ln/>
        </p:spPr>
        <p:txBody>
          <a:bodyPr wrap="square" lIns="0" tIns="0" rIns="0" bIns="0" rtlCol="0" anchor="t"/>
          <a:lstStyle/>
          <a:p>
            <a:pPr algn="ctr" indent="0" marL="0">
              <a:buNone/>
            </a:pPr>
            <a:r>
              <a:rPr lang="en-US" sz="1150" dirty="0">
                <a:solidFill>
                  <a:srgbClr val="5C6B61"/>
                </a:solidFill>
                <a:latin typeface="Calibri" pitchFamily="34" charset="0"/>
                <a:ea typeface="Calibri" pitchFamily="34" charset="-122"/>
                <a:cs typeface="Calibri" pitchFamily="34" charset="-120"/>
              </a:rPr>
              <a:t>subscription tiers</a:t>
            </a:r>
            <a:endParaRPr lang="en-US" sz="1150" dirty="0"/>
          </a:p>
          <a:p>
            <a:pPr algn="ctr" indent="0" marL="0">
              <a:buNone/>
            </a:pPr>
            <a:r>
              <a:rPr lang="en-US" sz="1150" dirty="0">
                <a:solidFill>
                  <a:srgbClr val="5C6B61"/>
                </a:solidFill>
                <a:latin typeface="Calibri" pitchFamily="34" charset="0"/>
                <a:ea typeface="Calibri" pitchFamily="34" charset="-122"/>
                <a:cs typeface="Calibri" pitchFamily="34" charset="-120"/>
              </a:rPr>
              <a:t>($47 and $29 per month)</a:t>
            </a:r>
            <a:endParaRPr lang="en-US" sz="1150" dirty="0"/>
          </a:p>
        </p:txBody>
      </p:sp>
      <p:sp>
        <p:nvSpPr>
          <p:cNvPr id="13" name="Shape 11"/>
          <p:cNvSpPr/>
          <p:nvPr/>
        </p:nvSpPr>
        <p:spPr>
          <a:xfrm>
            <a:off x="6766560" y="1508760"/>
            <a:ext cx="1874520" cy="1737360"/>
          </a:xfrm>
          <a:prstGeom prst="roundRect">
            <a:avLst>
              <a:gd name="adj" fmla="val 421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6903720" y="1645920"/>
            <a:ext cx="1600200" cy="777240"/>
          </a:xfrm>
          <a:prstGeom prst="rect">
            <a:avLst/>
          </a:prstGeom>
          <a:noFill/>
          <a:ln/>
        </p:spPr>
        <p:txBody>
          <a:bodyPr wrap="square" lIns="0" tIns="0" rIns="0" bIns="0" rtlCol="0" anchor="ctr"/>
          <a:lstStyle/>
          <a:p>
            <a:pPr algn="ctr" indent="0" marL="0">
              <a:buNone/>
            </a:pPr>
            <a:r>
              <a:rPr lang="en-US" sz="4400" b="1" dirty="0">
                <a:solidFill>
                  <a:srgbClr val="143D28"/>
                </a:solidFill>
                <a:latin typeface="Cambria" pitchFamily="34" charset="0"/>
                <a:ea typeface="Cambria" pitchFamily="34" charset="-122"/>
                <a:cs typeface="Cambria" pitchFamily="34" charset="-120"/>
              </a:rPr>
              <a:t>1</a:t>
            </a:r>
            <a:endParaRPr lang="en-US" sz="4400" dirty="0"/>
          </a:p>
        </p:txBody>
      </p:sp>
      <p:sp>
        <p:nvSpPr>
          <p:cNvPr id="15" name="Text 13"/>
          <p:cNvSpPr txBox="1"/>
          <p:nvPr/>
        </p:nvSpPr>
        <p:spPr>
          <a:xfrm>
            <a:off x="6903720" y="2468880"/>
            <a:ext cx="1600200" cy="640080"/>
          </a:xfrm>
          <a:prstGeom prst="rect">
            <a:avLst/>
          </a:prstGeom>
          <a:noFill/>
          <a:ln/>
        </p:spPr>
        <p:txBody>
          <a:bodyPr wrap="square" lIns="0" tIns="0" rIns="0" bIns="0" rtlCol="0" anchor="t"/>
          <a:lstStyle/>
          <a:p>
            <a:pPr algn="ctr" indent="0" marL="0">
              <a:buNone/>
            </a:pPr>
            <a:r>
              <a:rPr lang="en-US" sz="1150" dirty="0">
                <a:solidFill>
                  <a:srgbClr val="5C6B61"/>
                </a:solidFill>
                <a:latin typeface="Calibri" pitchFamily="34" charset="0"/>
                <a:ea typeface="Calibri" pitchFamily="34" charset="-122"/>
                <a:cs typeface="Calibri" pitchFamily="34" charset="-120"/>
              </a:rPr>
              <a:t>founder who built and</a:t>
            </a:r>
            <a:endParaRPr lang="en-US" sz="1150" dirty="0"/>
          </a:p>
          <a:p>
            <a:pPr algn="ctr" indent="0" marL="0">
              <a:buNone/>
            </a:pPr>
            <a:r>
              <a:rPr lang="en-US" sz="1150" dirty="0">
                <a:solidFill>
                  <a:srgbClr val="5C6B61"/>
                </a:solidFill>
                <a:latin typeface="Calibri" pitchFamily="34" charset="0"/>
                <a:ea typeface="Calibri" pitchFamily="34" charset="-122"/>
                <a:cs typeface="Calibri" pitchFamily="34" charset="-120"/>
              </a:rPr>
              <a:t>launched both apps</a:t>
            </a:r>
            <a:endParaRPr lang="en-US" sz="1150" dirty="0"/>
          </a:p>
        </p:txBody>
      </p:sp>
      <p:sp>
        <p:nvSpPr>
          <p:cNvPr id="16" name="Shape 14"/>
          <p:cNvSpPr/>
          <p:nvPr/>
        </p:nvSpPr>
        <p:spPr>
          <a:xfrm>
            <a:off x="457200" y="3611880"/>
            <a:ext cx="548640" cy="548640"/>
          </a:xfrm>
          <a:prstGeom prst="ellipse">
            <a:avLst/>
          </a:prstGeom>
          <a:solidFill>
            <a:srgbClr val="FFFFFF"/>
          </a:solidFill>
          <a:ln w="19050">
            <a:solidFill>
              <a:srgbClr val="D98B3C"/>
            </a:solidFill>
            <a:prstDash val="solid"/>
          </a:ln>
        </p:spPr>
      </p:sp>
      <p:pic>
        <p:nvPicPr>
          <p:cNvPr id="17" name="Image 0" descr="preencoded.png">    </p:cNvPr>
          <p:cNvPicPr>
            <a:picLocks noChangeAspect="1"/>
          </p:cNvPicPr>
          <p:nvPr/>
        </p:nvPicPr>
        <p:blipFill>
          <a:blip r:embed="rId1"/>
          <a:stretch>
            <a:fillRect/>
          </a:stretch>
        </p:blipFill>
        <p:spPr>
          <a:xfrm>
            <a:off x="599846" y="3754526"/>
            <a:ext cx="263347" cy="263347"/>
          </a:xfrm>
          <a:prstGeom prst="rect">
            <a:avLst/>
          </a:prstGeom>
        </p:spPr>
      </p:pic>
      <p:sp>
        <p:nvSpPr>
          <p:cNvPr id="18" name="Text 15"/>
          <p:cNvSpPr txBox="1"/>
          <p:nvPr/>
        </p:nvSpPr>
        <p:spPr>
          <a:xfrm>
            <a:off x="1188720" y="3584448"/>
            <a:ext cx="7498080" cy="868680"/>
          </a:xfrm>
          <a:prstGeom prst="rect">
            <a:avLst/>
          </a:prstGeom>
          <a:noFill/>
          <a:ln/>
        </p:spPr>
        <p:txBody>
          <a:bodyPr wrap="square" lIns="0" tIns="0" rIns="0" bIns="0" rtlCol="0" anchor="t"/>
          <a:lstStyle/>
          <a:p>
            <a:pPr indent="0" marL="0">
              <a:buNone/>
            </a:pPr>
            <a:r>
              <a:rPr lang="en-US" sz="1350" dirty="0">
                <a:solidFill>
                  <a:srgbClr val="1B2A21"/>
                </a:solidFill>
                <a:latin typeface="Calibri" pitchFamily="34" charset="0"/>
                <a:ea typeface="Calibri" pitchFamily="34" charset="-122"/>
                <a:cs typeface="Calibri" pitchFamily="34" charset="-120"/>
              </a:rPr>
              <a:t>What's next: convert today's trial members to paid, then scale with paid acquisition. The product, stores and billing are already in place; distribution is the missing piece this round funds.</a:t>
            </a:r>
            <a:endParaRPr lang="en-US" sz="1350" dirty="0"/>
          </a:p>
        </p:txBody>
      </p:sp>
      <p:sp>
        <p:nvSpPr>
          <p:cNvPr id="19"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7 / 15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MARKET OPPORTUNITY</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Two large markets to start, with room for eight more</a:t>
            </a:r>
            <a:endParaRPr lang="en-US" sz="2600" dirty="0"/>
          </a:p>
        </p:txBody>
      </p:sp>
      <p:sp>
        <p:nvSpPr>
          <p:cNvPr id="4" name="Shape 2"/>
          <p:cNvSpPr/>
          <p:nvPr/>
        </p:nvSpPr>
        <p:spPr>
          <a:xfrm>
            <a:off x="457200" y="1463040"/>
            <a:ext cx="3977640" cy="3063240"/>
          </a:xfrm>
          <a:prstGeom prst="roundRect">
            <a:avLst>
              <a:gd name="adj" fmla="val 238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664208"/>
            <a:ext cx="502920" cy="5029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16559" y="1794967"/>
            <a:ext cx="241402" cy="241402"/>
          </a:xfrm>
          <a:prstGeom prst="rect">
            <a:avLst/>
          </a:prstGeom>
        </p:spPr>
      </p:pic>
      <p:sp>
        <p:nvSpPr>
          <p:cNvPr id="7" name="Text 4"/>
          <p:cNvSpPr txBox="1"/>
          <p:nvPr/>
        </p:nvSpPr>
        <p:spPr>
          <a:xfrm>
            <a:off x="1325880" y="1737360"/>
            <a:ext cx="301752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PastorAI: churches</a:t>
            </a:r>
            <a:endParaRPr lang="en-US" sz="1600" dirty="0"/>
          </a:p>
        </p:txBody>
      </p:sp>
      <p:sp>
        <p:nvSpPr>
          <p:cNvPr id="8" name="Text 5"/>
          <p:cNvSpPr txBox="1"/>
          <p:nvPr/>
        </p:nvSpPr>
        <p:spPr>
          <a:xfrm>
            <a:off x="685800" y="2331720"/>
            <a:ext cx="3566160" cy="548640"/>
          </a:xfrm>
          <a:prstGeom prst="rect">
            <a:avLst/>
          </a:prstGeom>
          <a:noFill/>
          <a:ln/>
        </p:spPr>
        <p:txBody>
          <a:bodyPr wrap="square" lIns="0" tIns="0" rIns="0" bIns="0" rtlCol="0" anchor="t"/>
          <a:lstStyle/>
          <a:p>
            <a:pPr indent="0" marL="0">
              <a:buNone/>
            </a:pPr>
            <a:r>
              <a:rPr lang="en-US" sz="3400" b="1" dirty="0">
                <a:solidFill>
                  <a:srgbClr val="D98B3C"/>
                </a:solidFill>
                <a:latin typeface="Cambria" pitchFamily="34" charset="0"/>
                <a:ea typeface="Cambria" pitchFamily="34" charset="-122"/>
                <a:cs typeface="Cambria" pitchFamily="34" charset="-120"/>
              </a:rPr>
              <a:t>300,000+</a:t>
            </a:r>
            <a:endParaRPr lang="en-US" sz="3400" dirty="0"/>
          </a:p>
        </p:txBody>
      </p:sp>
      <p:sp>
        <p:nvSpPr>
          <p:cNvPr id="9" name="Text 6"/>
          <p:cNvSpPr txBox="1"/>
          <p:nvPr/>
        </p:nvSpPr>
        <p:spPr>
          <a:xfrm>
            <a:off x="685800" y="2907792"/>
            <a:ext cx="3566160" cy="502920"/>
          </a:xfrm>
          <a:prstGeom prst="rect">
            <a:avLst/>
          </a:prstGeom>
          <a:noFill/>
          <a:ln/>
        </p:spPr>
        <p:txBody>
          <a:bodyPr wrap="square" lIns="0" tIns="0" rIns="0" bIns="0" rtlCol="0" anchor="t"/>
          <a:lstStyle/>
          <a:p>
            <a:pPr indent="0" marL="0">
              <a:buNone/>
            </a:pPr>
            <a:r>
              <a:rPr lang="en-US" sz="1200" dirty="0">
                <a:solidFill>
                  <a:srgbClr val="5C6B61"/>
                </a:solidFill>
                <a:latin typeface="Calibri" pitchFamily="34" charset="0"/>
                <a:ea typeface="Calibri" pitchFamily="34" charset="-122"/>
                <a:cs typeface="Calibri" pitchFamily="34" charset="-120"/>
              </a:rPr>
              <a:t>Protestant and independent congregations in the U.S. alone, most of them small, with few staff.</a:t>
            </a:r>
            <a:endParaRPr lang="en-US" sz="1200" dirty="0"/>
          </a:p>
        </p:txBody>
      </p:sp>
      <p:sp>
        <p:nvSpPr>
          <p:cNvPr id="10" name="Text 7"/>
          <p:cNvSpPr txBox="1"/>
          <p:nvPr/>
        </p:nvSpPr>
        <p:spPr>
          <a:xfrm>
            <a:off x="685800" y="3520440"/>
            <a:ext cx="3566160" cy="822960"/>
          </a:xfrm>
          <a:prstGeom prst="rect">
            <a:avLst/>
          </a:prstGeom>
          <a:noFill/>
          <a:ln/>
        </p:spPr>
        <p:txBody>
          <a:bodyPr wrap="square" lIns="0" tIns="0" rIns="0" bIns="0" rtlCol="0" anchor="t"/>
          <a:lstStyle/>
          <a:p>
            <a:pPr indent="0" marL="0">
              <a:buNone/>
            </a:pPr>
            <a:r>
              <a:rPr lang="en-US" sz="1250" b="1" dirty="0">
                <a:solidFill>
                  <a:srgbClr val="1B2A21"/>
                </a:solidFill>
                <a:latin typeface="Calibri" pitchFamily="34" charset="0"/>
                <a:ea typeface="Calibri" pitchFamily="34" charset="-122"/>
                <a:cs typeface="Calibri" pitchFamily="34" charset="-120"/>
              </a:rPr>
              <a:t>At $47/mo ($564/yr), each 1% of U.S. churches is about $1.7M in annual recurring revenue.</a:t>
            </a:r>
            <a:endParaRPr lang="en-US" sz="1250" dirty="0"/>
          </a:p>
        </p:txBody>
      </p:sp>
      <p:sp>
        <p:nvSpPr>
          <p:cNvPr id="11" name="Shape 8"/>
          <p:cNvSpPr/>
          <p:nvPr/>
        </p:nvSpPr>
        <p:spPr>
          <a:xfrm>
            <a:off x="4709160" y="1463040"/>
            <a:ext cx="3977640" cy="3063240"/>
          </a:xfrm>
          <a:prstGeom prst="roundRect">
            <a:avLst>
              <a:gd name="adj" fmla="val 238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2" name="Shape 9"/>
          <p:cNvSpPr/>
          <p:nvPr/>
        </p:nvSpPr>
        <p:spPr>
          <a:xfrm>
            <a:off x="4937760" y="1664208"/>
            <a:ext cx="502920" cy="502920"/>
          </a:xfrm>
          <a:prstGeom prst="ellipse">
            <a:avLst/>
          </a:prstGeom>
          <a:solidFill>
            <a:srgbClr val="FFFFFF"/>
          </a:solidFill>
          <a:ln w="19050">
            <a:solidFill>
              <a:srgbClr val="D98B3C"/>
            </a:solidFill>
            <a:prstDash val="solid"/>
          </a:ln>
        </p:spPr>
      </p:sp>
      <p:pic>
        <p:nvPicPr>
          <p:cNvPr id="13" name="Image 1" descr="preencoded.png">    </p:cNvPr>
          <p:cNvPicPr>
            <a:picLocks noChangeAspect="1"/>
          </p:cNvPicPr>
          <p:nvPr/>
        </p:nvPicPr>
        <p:blipFill>
          <a:blip r:embed="rId2"/>
          <a:stretch>
            <a:fillRect/>
          </a:stretch>
        </p:blipFill>
        <p:spPr>
          <a:xfrm>
            <a:off x="5068519" y="1794967"/>
            <a:ext cx="241402" cy="241402"/>
          </a:xfrm>
          <a:prstGeom prst="rect">
            <a:avLst/>
          </a:prstGeom>
        </p:spPr>
      </p:pic>
      <p:sp>
        <p:nvSpPr>
          <p:cNvPr id="14" name="Text 10"/>
          <p:cNvSpPr txBox="1"/>
          <p:nvPr/>
        </p:nvSpPr>
        <p:spPr>
          <a:xfrm>
            <a:off x="5577840" y="1737360"/>
            <a:ext cx="301752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Ready Room: sales professionals</a:t>
            </a:r>
            <a:endParaRPr lang="en-US" sz="1600" dirty="0"/>
          </a:p>
        </p:txBody>
      </p:sp>
      <p:sp>
        <p:nvSpPr>
          <p:cNvPr id="15" name="Text 11"/>
          <p:cNvSpPr txBox="1"/>
          <p:nvPr/>
        </p:nvSpPr>
        <p:spPr>
          <a:xfrm>
            <a:off x="4937760" y="2331720"/>
            <a:ext cx="3566160" cy="548640"/>
          </a:xfrm>
          <a:prstGeom prst="rect">
            <a:avLst/>
          </a:prstGeom>
          <a:noFill/>
          <a:ln/>
        </p:spPr>
        <p:txBody>
          <a:bodyPr wrap="square" lIns="0" tIns="0" rIns="0" bIns="0" rtlCol="0" anchor="t"/>
          <a:lstStyle/>
          <a:p>
            <a:pPr indent="0" marL="0">
              <a:buNone/>
            </a:pPr>
            <a:r>
              <a:rPr lang="en-US" sz="3400" b="1" dirty="0">
                <a:solidFill>
                  <a:srgbClr val="D98B3C"/>
                </a:solidFill>
                <a:latin typeface="Cambria" pitchFamily="34" charset="0"/>
                <a:ea typeface="Cambria" pitchFamily="34" charset="-122"/>
                <a:cs typeface="Cambria" pitchFamily="34" charset="-120"/>
              </a:rPr>
              <a:t>Millions</a:t>
            </a:r>
            <a:endParaRPr lang="en-US" sz="3400" dirty="0"/>
          </a:p>
        </p:txBody>
      </p:sp>
      <p:sp>
        <p:nvSpPr>
          <p:cNvPr id="16" name="Text 12"/>
          <p:cNvSpPr txBox="1"/>
          <p:nvPr/>
        </p:nvSpPr>
        <p:spPr>
          <a:xfrm>
            <a:off x="4937760" y="2907792"/>
            <a:ext cx="3566160" cy="502920"/>
          </a:xfrm>
          <a:prstGeom prst="rect">
            <a:avLst/>
          </a:prstGeom>
          <a:noFill/>
          <a:ln/>
        </p:spPr>
        <p:txBody>
          <a:bodyPr wrap="square" lIns="0" tIns="0" rIns="0" bIns="0" rtlCol="0" anchor="t"/>
          <a:lstStyle/>
          <a:p>
            <a:pPr indent="0" marL="0">
              <a:buNone/>
            </a:pPr>
            <a:r>
              <a:rPr lang="en-US" sz="1200" dirty="0">
                <a:solidFill>
                  <a:srgbClr val="5C6B61"/>
                </a:solidFill>
                <a:latin typeface="Calibri" pitchFamily="34" charset="0"/>
                <a:ea typeface="Calibri" pitchFamily="34" charset="-122"/>
                <a:cs typeface="Calibri" pitchFamily="34" charset="-120"/>
              </a:rPr>
              <a:t>of U.S. workers hold sales jobs, and new reps and small teams rarely get structured call practice.</a:t>
            </a:r>
            <a:endParaRPr lang="en-US" sz="1200" dirty="0"/>
          </a:p>
        </p:txBody>
      </p:sp>
      <p:sp>
        <p:nvSpPr>
          <p:cNvPr id="17" name="Text 13"/>
          <p:cNvSpPr txBox="1"/>
          <p:nvPr/>
        </p:nvSpPr>
        <p:spPr>
          <a:xfrm>
            <a:off x="4937760" y="3520440"/>
            <a:ext cx="3566160" cy="822960"/>
          </a:xfrm>
          <a:prstGeom prst="rect">
            <a:avLst/>
          </a:prstGeom>
          <a:noFill/>
          <a:ln/>
        </p:spPr>
        <p:txBody>
          <a:bodyPr wrap="square" lIns="0" tIns="0" rIns="0" bIns="0" rtlCol="0" anchor="t"/>
          <a:lstStyle/>
          <a:p>
            <a:pPr indent="0" marL="0">
              <a:buNone/>
            </a:pPr>
            <a:r>
              <a:rPr lang="en-US" sz="1250" b="1" dirty="0">
                <a:solidFill>
                  <a:srgbClr val="1B2A21"/>
                </a:solidFill>
                <a:latin typeface="Calibri" pitchFamily="34" charset="0"/>
                <a:ea typeface="Calibri" pitchFamily="34" charset="-122"/>
                <a:cs typeface="Calibri" pitchFamily="34" charset="-120"/>
              </a:rPr>
              <a:t>At $29/mo ($348/yr), every 10,000 reps is about $3.5M in annual recurring revenue.</a:t>
            </a:r>
            <a:endParaRPr lang="en-US" sz="1250" dirty="0"/>
          </a:p>
        </p:txBody>
      </p:sp>
      <p:sp>
        <p:nvSpPr>
          <p:cNvPr id="18" name="Text 14"/>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9" name="Text 15"/>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8 / 15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BUSINESS MODEL</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Recurring subscriptions across a growing portfolio</a:t>
            </a:r>
            <a:endParaRPr lang="en-US" sz="2600" dirty="0"/>
          </a:p>
        </p:txBody>
      </p:sp>
      <p:sp>
        <p:nvSpPr>
          <p:cNvPr id="4" name="Shape 2"/>
          <p:cNvSpPr/>
          <p:nvPr/>
        </p:nvSpPr>
        <p:spPr>
          <a:xfrm>
            <a:off x="457200" y="1508760"/>
            <a:ext cx="2606040" cy="2148840"/>
          </a:xfrm>
          <a:prstGeom prst="roundRect">
            <a:avLst>
              <a:gd name="adj" fmla="val 3404"/>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691640"/>
            <a:ext cx="548640" cy="54864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28446" y="1834286"/>
            <a:ext cx="263347" cy="263347"/>
          </a:xfrm>
          <a:prstGeom prst="rect">
            <a:avLst/>
          </a:prstGeom>
        </p:spPr>
      </p:pic>
      <p:sp>
        <p:nvSpPr>
          <p:cNvPr id="7" name="Text 4"/>
          <p:cNvSpPr txBox="1"/>
          <p:nvPr/>
        </p:nvSpPr>
        <p:spPr>
          <a:xfrm>
            <a:off x="685800" y="23774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App subscriptions</a:t>
            </a:r>
            <a:endParaRPr lang="en-US" sz="1500" dirty="0"/>
          </a:p>
        </p:txBody>
      </p:sp>
      <p:sp>
        <p:nvSpPr>
          <p:cNvPr id="8" name="Text 5"/>
          <p:cNvSpPr txBox="1"/>
          <p:nvPr/>
        </p:nvSpPr>
        <p:spPr>
          <a:xfrm>
            <a:off x="685800" y="2697480"/>
            <a:ext cx="2194560" cy="9144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Monthly plans with free trials, billed through the App Store, Google Play and the web. PastorAI $47/mo · Ready Room $29/mo.</a:t>
            </a:r>
            <a:endParaRPr lang="en-US" sz="1150" dirty="0"/>
          </a:p>
        </p:txBody>
      </p:sp>
      <p:sp>
        <p:nvSpPr>
          <p:cNvPr id="9" name="Shape 6"/>
          <p:cNvSpPr/>
          <p:nvPr/>
        </p:nvSpPr>
        <p:spPr>
          <a:xfrm>
            <a:off x="3264408" y="1508760"/>
            <a:ext cx="2606040" cy="2148840"/>
          </a:xfrm>
          <a:prstGeom prst="roundRect">
            <a:avLst>
              <a:gd name="adj" fmla="val 3404"/>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493008" y="1691640"/>
            <a:ext cx="548640" cy="54864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3635654" y="1834286"/>
            <a:ext cx="263347" cy="263347"/>
          </a:xfrm>
          <a:prstGeom prst="rect">
            <a:avLst/>
          </a:prstGeom>
        </p:spPr>
      </p:pic>
      <p:sp>
        <p:nvSpPr>
          <p:cNvPr id="12" name="Text 8"/>
          <p:cNvSpPr txBox="1"/>
          <p:nvPr/>
        </p:nvSpPr>
        <p:spPr>
          <a:xfrm>
            <a:off x="3493008" y="23774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Group plans</a:t>
            </a:r>
            <a:endParaRPr lang="en-US" sz="1500" dirty="0"/>
          </a:p>
        </p:txBody>
      </p:sp>
      <p:sp>
        <p:nvSpPr>
          <p:cNvPr id="13" name="Text 9"/>
          <p:cNvSpPr txBox="1"/>
          <p:nvPr/>
        </p:nvSpPr>
        <p:spPr>
          <a:xfrm>
            <a:off x="3493008" y="2697480"/>
            <a:ext cx="2194560" cy="9144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Multi-seat plans for sales teams and church staffs: a higher contract value from one buyer.</a:t>
            </a:r>
            <a:endParaRPr lang="en-US" sz="1150" dirty="0"/>
          </a:p>
        </p:txBody>
      </p:sp>
      <p:sp>
        <p:nvSpPr>
          <p:cNvPr id="14" name="Shape 10"/>
          <p:cNvSpPr/>
          <p:nvPr/>
        </p:nvSpPr>
        <p:spPr>
          <a:xfrm>
            <a:off x="6071616" y="1508760"/>
            <a:ext cx="2606040" cy="2148840"/>
          </a:xfrm>
          <a:prstGeom prst="roundRect">
            <a:avLst>
              <a:gd name="adj" fmla="val 3404"/>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00216" y="1691640"/>
            <a:ext cx="548640" cy="54864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6442862" y="1834286"/>
            <a:ext cx="263347" cy="263347"/>
          </a:xfrm>
          <a:prstGeom prst="rect">
            <a:avLst/>
          </a:prstGeom>
        </p:spPr>
      </p:pic>
      <p:sp>
        <p:nvSpPr>
          <p:cNvPr id="17" name="Text 12"/>
          <p:cNvSpPr txBox="1"/>
          <p:nvPr/>
        </p:nvSpPr>
        <p:spPr>
          <a:xfrm>
            <a:off x="6300216" y="23774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Custom AI apps</a:t>
            </a:r>
            <a:endParaRPr lang="en-US" sz="1500" dirty="0"/>
          </a:p>
        </p:txBody>
      </p:sp>
      <p:sp>
        <p:nvSpPr>
          <p:cNvPr id="18" name="Text 13"/>
          <p:cNvSpPr txBox="1"/>
          <p:nvPr/>
        </p:nvSpPr>
        <p:spPr>
          <a:xfrm>
            <a:off x="6300216" y="2697480"/>
            <a:ext cx="2194560" cy="9144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Custom AI software built for local businesses: service revenue that helps fund the studio and brings in app ideas.</a:t>
            </a:r>
            <a:endParaRPr lang="en-US" sz="1150" dirty="0"/>
          </a:p>
        </p:txBody>
      </p:sp>
      <p:sp>
        <p:nvSpPr>
          <p:cNvPr id="19" name="Shape 14"/>
          <p:cNvSpPr/>
          <p:nvPr/>
        </p:nvSpPr>
        <p:spPr>
          <a:xfrm>
            <a:off x="457200" y="3840480"/>
            <a:ext cx="8229600" cy="713232"/>
          </a:xfrm>
          <a:prstGeom prst="roundRect">
            <a:avLst>
              <a:gd name="adj" fmla="val 10256"/>
            </a:avLst>
          </a:prstGeom>
          <a:solidFill>
            <a:srgbClr val="ECE1C7"/>
          </a:solidFill>
          <a:ln w="12700">
            <a:solidFill>
              <a:srgbClr val="ECE1C7"/>
            </a:solidFill>
            <a:prstDash val="solid"/>
          </a:ln>
        </p:spPr>
      </p:sp>
      <p:sp>
        <p:nvSpPr>
          <p:cNvPr id="20" name="Text 15"/>
          <p:cNvSpPr txBox="1"/>
          <p:nvPr/>
        </p:nvSpPr>
        <p:spPr>
          <a:xfrm>
            <a:off x="685800" y="3931920"/>
            <a:ext cx="7772400" cy="548640"/>
          </a:xfrm>
          <a:prstGeom prst="rect">
            <a:avLst/>
          </a:prstGeom>
          <a:noFill/>
          <a:ln/>
        </p:spPr>
        <p:txBody>
          <a:bodyPr wrap="square" lIns="0" tIns="0" rIns="0" bIns="0" rtlCol="0" anchor="ctr"/>
          <a:lstStyle/>
          <a:p>
            <a:pPr indent="0" marL="0">
              <a:buNone/>
            </a:pPr>
            <a:r>
              <a:rPr lang="en-US" sz="1250" dirty="0">
                <a:solidFill>
                  <a:srgbClr val="143D28"/>
                </a:solidFill>
                <a:latin typeface="Calibri" pitchFamily="34" charset="0"/>
                <a:ea typeface="Calibri" pitchFamily="34" charset="-122"/>
                <a:cs typeface="Calibri" pitchFamily="34" charset="-120"/>
              </a:rPr>
              <a:t>Portfolio effect: every app shares one codebase, one AI stack and one founder's overhead. Each new app adds revenue with little added fixed cost.</a:t>
            </a:r>
            <a:endParaRPr lang="en-US" sz="1250" dirty="0"/>
          </a:p>
        </p:txBody>
      </p:sp>
      <p:sp>
        <p:nvSpPr>
          <p:cNvPr id="21"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2"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9 / 15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GO-TO-MARKET</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How we'll turn trials into paying customers</a:t>
            </a:r>
            <a:endParaRPr lang="en-US" sz="2600" dirty="0"/>
          </a:p>
        </p:txBody>
      </p:sp>
      <p:sp>
        <p:nvSpPr>
          <p:cNvPr id="4" name="Shape 2"/>
          <p:cNvSpPr/>
          <p:nvPr/>
        </p:nvSpPr>
        <p:spPr>
          <a:xfrm>
            <a:off x="457200" y="1463040"/>
            <a:ext cx="397764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645920"/>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4672" y="1764792"/>
            <a:ext cx="219456" cy="219456"/>
          </a:xfrm>
          <a:prstGeom prst="rect">
            <a:avLst/>
          </a:prstGeom>
        </p:spPr>
      </p:pic>
      <p:sp>
        <p:nvSpPr>
          <p:cNvPr id="7" name="Text 4"/>
          <p:cNvSpPr txBox="1"/>
          <p:nvPr/>
        </p:nvSpPr>
        <p:spPr>
          <a:xfrm>
            <a:off x="1280160" y="1719072"/>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PastorAI</a:t>
            </a:r>
            <a:endParaRPr lang="en-US" sz="1600" dirty="0"/>
          </a:p>
        </p:txBody>
      </p:sp>
      <p:sp>
        <p:nvSpPr>
          <p:cNvPr id="8" name="Text 5"/>
          <p:cNvSpPr txBox="1"/>
          <p:nvPr/>
        </p:nvSpPr>
        <p:spPr>
          <a:xfrm>
            <a:off x="685800" y="2286000"/>
            <a:ext cx="3566160" cy="219456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Targeted Facebook &amp; YouTube ads to pastors and church staff</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LinkedIn outreach to ministry leaders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denominations, church networks &amp; seminaries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Pastor conferences, webinars and free sermon-prep resources</a:t>
            </a:r>
            <a:endParaRPr lang="en-US" sz="1250" dirty="0"/>
          </a:p>
        </p:txBody>
      </p:sp>
      <p:sp>
        <p:nvSpPr>
          <p:cNvPr id="9" name="Shape 6"/>
          <p:cNvSpPr/>
          <p:nvPr/>
        </p:nvSpPr>
        <p:spPr>
          <a:xfrm>
            <a:off x="4709160" y="1463040"/>
            <a:ext cx="397764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937760" y="1645920"/>
            <a:ext cx="457200" cy="45720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56632" y="1764792"/>
            <a:ext cx="219456" cy="219456"/>
          </a:xfrm>
          <a:prstGeom prst="rect">
            <a:avLst/>
          </a:prstGeom>
        </p:spPr>
      </p:pic>
      <p:sp>
        <p:nvSpPr>
          <p:cNvPr id="12" name="Text 8"/>
          <p:cNvSpPr txBox="1"/>
          <p:nvPr/>
        </p:nvSpPr>
        <p:spPr>
          <a:xfrm>
            <a:off x="5532120" y="1719072"/>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Ready Room</a:t>
            </a:r>
            <a:endParaRPr lang="en-US" sz="1600" dirty="0"/>
          </a:p>
        </p:txBody>
      </p:sp>
      <p:sp>
        <p:nvSpPr>
          <p:cNvPr id="13" name="Text 9"/>
          <p:cNvSpPr txBox="1"/>
          <p:nvPr/>
        </p:nvSpPr>
        <p:spPr>
          <a:xfrm>
            <a:off x="4937760" y="2286000"/>
            <a:ext cx="3566160" cy="219456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LinkedIn and short-form video ads showing live AI role-plays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Direct outreach to sales managers for team plans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Sales-trainer, coach and bootcamp affiliate partners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App Store search optimization and referral rewards</a:t>
            </a:r>
            <a:endParaRPr lang="en-US" sz="1250" dirty="0"/>
          </a:p>
        </p:txBody>
      </p:sp>
      <p:sp>
        <p:nvSpPr>
          <p:cNvPr id="14" name="Text 10"/>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5" name="Text 11"/>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10 / 15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COMPETITIVE LANDSCAPE</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Cedarworks wins</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3017520"/>
                <a:gridCol w="1645920"/>
                <a:gridCol w="1920240"/>
                <a:gridCol w="1645920"/>
              </a:tblGrid>
              <a:tr h="429768">
                <a:tc>
                  <a:txBody>
                    <a:bodyPr/>
                    <a:lstStyle/>
                    <a:p>
                      <a:pPr algn="l" indent="0" marL="0">
                        <a:buNone/>
                      </a:pP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Generic AI chatbots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Enterprise training / point tools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Cedarworks apps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42976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Built for one profession</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Partly</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42976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Ready to use with no prompting</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Partly</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42976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Voice role-play &amp; coaching (Ready Room)</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Often costly</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42976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Price for individuals &amp; small teams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Low ($29–$47)</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42976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New products launched quickly</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Slow</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AppForge</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bl>
          </a:graphicData>
        </a:graphic>
      </p:graphicFrame>
      <p:sp>
        <p:nvSpPr>
          <p:cNvPr id="5" name="Text 2"/>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300" i="1" dirty="0">
                <a:solidFill>
                  <a:srgbClr val="143D28"/>
                </a:solidFill>
                <a:latin typeface="Cambria" pitchFamily="34" charset="0"/>
                <a:ea typeface="Cambria" pitchFamily="34" charset="-122"/>
                <a:cs typeface="Cambria" pitchFamily="34" charset="-120"/>
              </a:rPr>
              <a:t>Our moat is speed and focus: a small, efficient studio that goes deep on niches the big platforms ignore.</a:t>
            </a:r>
            <a:endParaRPr lang="en-US" sz="1300" dirty="0"/>
          </a:p>
        </p:txBody>
      </p:sp>
      <p:sp>
        <p:nvSpPr>
          <p:cNvPr id="6" name="Text 3"/>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7" name="Text 4"/>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11 / 15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USE OF FUNDS</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$250K to scale two apps and launch eight more</a:t>
            </a:r>
            <a:endParaRPr lang="en-US" sz="2600" dirty="0"/>
          </a:p>
        </p:txBody>
      </p:sp>
      <p:graphicFrame>
        <p:nvGraphicFramePr>
          <p:cNvPr id="4" name="Chart 0" descr=""/>
          <p:cNvGraphicFramePr/>
          <p:nvPr/>
        </p:nvGraphicFramePr>
        <p:xfrm>
          <a:off x="365760" y="1325880"/>
          <a:ext cx="338328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114800" y="1545336"/>
            <a:ext cx="182880" cy="182880"/>
          </a:xfrm>
          <a:prstGeom prst="ellipse">
            <a:avLst/>
          </a:prstGeom>
          <a:solidFill>
            <a:srgbClr val="143D28"/>
          </a:solidFill>
          <a:ln w="12700">
            <a:solidFill>
              <a:srgbClr val="143D28"/>
            </a:solidFill>
            <a:prstDash val="solid"/>
          </a:ln>
        </p:spPr>
      </p:sp>
      <p:sp>
        <p:nvSpPr>
          <p:cNvPr id="6" name="Text 3"/>
          <p:cNvSpPr txBox="1"/>
          <p:nvPr/>
        </p:nvSpPr>
        <p:spPr>
          <a:xfrm>
            <a:off x="4434840" y="1463040"/>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$100K</a:t>
            </a:r>
            <a:endParaRPr lang="en-US" sz="1700" dirty="0"/>
          </a:p>
        </p:txBody>
      </p:sp>
      <p:sp>
        <p:nvSpPr>
          <p:cNvPr id="7" name="Text 4"/>
          <p:cNvSpPr txBox="1"/>
          <p:nvPr/>
        </p:nvSpPr>
        <p:spPr>
          <a:xfrm>
            <a:off x="5303520" y="1463040"/>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Customer acquisition: PastorAI &amp; Ready Room ads</a:t>
            </a:r>
            <a:endParaRPr lang="en-US" sz="1250" dirty="0"/>
          </a:p>
        </p:txBody>
      </p:sp>
      <p:sp>
        <p:nvSpPr>
          <p:cNvPr id="8" name="Shape 5"/>
          <p:cNvSpPr/>
          <p:nvPr/>
        </p:nvSpPr>
        <p:spPr>
          <a:xfrm>
            <a:off x="4114800" y="2148840"/>
            <a:ext cx="182880" cy="182880"/>
          </a:xfrm>
          <a:prstGeom prst="ellipse">
            <a:avLst/>
          </a:prstGeom>
          <a:solidFill>
            <a:srgbClr val="D98B3C"/>
          </a:solidFill>
          <a:ln w="12700">
            <a:solidFill>
              <a:srgbClr val="D98B3C"/>
            </a:solidFill>
            <a:prstDash val="solid"/>
          </a:ln>
        </p:spPr>
      </p:sp>
      <p:sp>
        <p:nvSpPr>
          <p:cNvPr id="9" name="Text 6"/>
          <p:cNvSpPr txBox="1"/>
          <p:nvPr/>
        </p:nvSpPr>
        <p:spPr>
          <a:xfrm>
            <a:off x="4434840" y="2066544"/>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$75K</a:t>
            </a:r>
            <a:endParaRPr lang="en-US" sz="1700" dirty="0"/>
          </a:p>
        </p:txBody>
      </p:sp>
      <p:sp>
        <p:nvSpPr>
          <p:cNvPr id="10" name="Text 7"/>
          <p:cNvSpPr txBox="1"/>
          <p:nvPr/>
        </p:nvSpPr>
        <p:spPr>
          <a:xfrm>
            <a:off x="5303520" y="2066544"/>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Build 8 new apps with AppForge</a:t>
            </a:r>
            <a:endParaRPr lang="en-US" sz="1250" dirty="0"/>
          </a:p>
        </p:txBody>
      </p:sp>
      <p:sp>
        <p:nvSpPr>
          <p:cNvPr id="11" name="Shape 8"/>
          <p:cNvSpPr/>
          <p:nvPr/>
        </p:nvSpPr>
        <p:spPr>
          <a:xfrm>
            <a:off x="4114800" y="2752344"/>
            <a:ext cx="182880" cy="182880"/>
          </a:xfrm>
          <a:prstGeom prst="ellipse">
            <a:avLst/>
          </a:prstGeom>
          <a:solidFill>
            <a:srgbClr val="4F7F63"/>
          </a:solidFill>
          <a:ln w="12700">
            <a:solidFill>
              <a:srgbClr val="4F7F63"/>
            </a:solidFill>
            <a:prstDash val="solid"/>
          </a:ln>
        </p:spPr>
      </p:sp>
      <p:sp>
        <p:nvSpPr>
          <p:cNvPr id="12" name="Text 9"/>
          <p:cNvSpPr txBox="1"/>
          <p:nvPr/>
        </p:nvSpPr>
        <p:spPr>
          <a:xfrm>
            <a:off x="4434840" y="2670048"/>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3" name="Text 10"/>
          <p:cNvSpPr txBox="1"/>
          <p:nvPr/>
        </p:nvSpPr>
        <p:spPr>
          <a:xfrm>
            <a:off x="5303520" y="2670048"/>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AI compute, hosting &amp; infrastructure</a:t>
            </a:r>
            <a:endParaRPr lang="en-US" sz="1250" dirty="0"/>
          </a:p>
        </p:txBody>
      </p:sp>
      <p:sp>
        <p:nvSpPr>
          <p:cNvPr id="14" name="Shape 11"/>
          <p:cNvSpPr/>
          <p:nvPr/>
        </p:nvSpPr>
        <p:spPr>
          <a:xfrm>
            <a:off x="4114800" y="3355848"/>
            <a:ext cx="182880" cy="182880"/>
          </a:xfrm>
          <a:prstGeom prst="ellipse">
            <a:avLst/>
          </a:prstGeom>
          <a:solidFill>
            <a:srgbClr val="B9A67A"/>
          </a:solidFill>
          <a:ln w="12700">
            <a:solidFill>
              <a:srgbClr val="B9A67A"/>
            </a:solidFill>
            <a:prstDash val="solid"/>
          </a:ln>
        </p:spPr>
      </p:sp>
      <p:sp>
        <p:nvSpPr>
          <p:cNvPr id="15" name="Text 12"/>
          <p:cNvSpPr txBox="1"/>
          <p:nvPr/>
        </p:nvSpPr>
        <p:spPr>
          <a:xfrm>
            <a:off x="4434840" y="3273552"/>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6" name="Text 13"/>
          <p:cNvSpPr txBox="1"/>
          <p:nvPr/>
        </p:nvSpPr>
        <p:spPr>
          <a:xfrm>
            <a:off x="5303520" y="3273552"/>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Legal, accounting &amp; app-store operations</a:t>
            </a:r>
            <a:endParaRPr lang="en-US" sz="1250" dirty="0"/>
          </a:p>
        </p:txBody>
      </p:sp>
      <p:sp>
        <p:nvSpPr>
          <p:cNvPr id="17" name="Shape 14"/>
          <p:cNvSpPr/>
          <p:nvPr/>
        </p:nvSpPr>
        <p:spPr>
          <a:xfrm>
            <a:off x="4114800" y="3959352"/>
            <a:ext cx="182880" cy="182880"/>
          </a:xfrm>
          <a:prstGeom prst="ellipse">
            <a:avLst/>
          </a:prstGeom>
          <a:solidFill>
            <a:srgbClr val="A9C2A8"/>
          </a:solidFill>
          <a:ln w="12700">
            <a:solidFill>
              <a:srgbClr val="A9C2A8"/>
            </a:solidFill>
            <a:prstDash val="solid"/>
          </a:ln>
        </p:spPr>
      </p:sp>
      <p:sp>
        <p:nvSpPr>
          <p:cNvPr id="18" name="Text 15"/>
          <p:cNvSpPr txBox="1"/>
          <p:nvPr/>
        </p:nvSpPr>
        <p:spPr>
          <a:xfrm>
            <a:off x="4434840" y="3877056"/>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9" name="Text 16"/>
          <p:cNvSpPr txBox="1"/>
          <p:nvPr/>
        </p:nvSpPr>
        <p:spPr>
          <a:xfrm>
            <a:off x="5303520" y="3877056"/>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Founder runway &amp; reserve</a:t>
            </a:r>
            <a:endParaRPr lang="en-US" sz="1250" dirty="0"/>
          </a:p>
        </p:txBody>
      </p:sp>
      <p:sp>
        <p:nvSpPr>
          <p:cNvPr id="20" name="Text 17"/>
          <p:cNvSpPr txBox="1"/>
          <p:nvPr/>
        </p:nvSpPr>
        <p:spPr>
          <a:xfrm>
            <a:off x="4114800" y="4297680"/>
            <a:ext cx="4572000" cy="274320"/>
          </a:xfrm>
          <a:prstGeom prst="rect">
            <a:avLst/>
          </a:prstGeom>
          <a:noFill/>
          <a:ln/>
        </p:spPr>
        <p:txBody>
          <a:bodyPr wrap="square" lIns="0" tIns="0" rIns="0" bIns="0" rtlCol="0" anchor="t"/>
          <a:lstStyle/>
          <a:p>
            <a:pPr indent="0" marL="0">
              <a:buNone/>
            </a:pPr>
            <a:r>
              <a:rPr lang="en-US" sz="1100" i="1" dirty="0">
                <a:solidFill>
                  <a:srgbClr val="5C6B61"/>
                </a:solidFill>
                <a:latin typeface="Calibri" pitchFamily="34" charset="0"/>
                <a:ea typeface="Calibri" pitchFamily="34" charset="-122"/>
                <a:cs typeface="Calibri" pitchFamily="34" charset="-120"/>
              </a:rPr>
              <a:t>About 18 months of runway on a lean, founder-led cost base.</a:t>
            </a:r>
            <a:endParaRPr lang="en-US" sz="1100" dirty="0"/>
          </a:p>
        </p:txBody>
      </p:sp>
      <p:sp>
        <p:nvSpPr>
          <p:cNvPr id="21" name="Text 18"/>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2" name="Text 19"/>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12 / 15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18-MONTH ROADMAP</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From 2 apps to 10: milestones this round unlocks</a:t>
            </a:r>
            <a:endParaRPr lang="en-US" sz="2600" dirty="0"/>
          </a:p>
        </p:txBody>
      </p:sp>
      <p:sp>
        <p:nvSpPr>
          <p:cNvPr id="4" name="Shape 2"/>
          <p:cNvSpPr/>
          <p:nvPr/>
        </p:nvSpPr>
        <p:spPr>
          <a:xfrm>
            <a:off x="731520" y="1691640"/>
            <a:ext cx="0" cy="2743200"/>
          </a:xfrm>
          <a:prstGeom prst="line">
            <a:avLst/>
          </a:prstGeom>
          <a:noFill/>
          <a:ln w="25400">
            <a:solidFill>
              <a:srgbClr val="ECE1C7"/>
            </a:solidFill>
            <a:prstDash val="solid"/>
          </a:ln>
        </p:spPr>
      </p:sp>
      <p:sp>
        <p:nvSpPr>
          <p:cNvPr id="5" name="Shape 3"/>
          <p:cNvSpPr/>
          <p:nvPr/>
        </p:nvSpPr>
        <p:spPr>
          <a:xfrm>
            <a:off x="566928" y="1527048"/>
            <a:ext cx="329184" cy="329184"/>
          </a:xfrm>
          <a:prstGeom prst="ellipse">
            <a:avLst/>
          </a:prstGeom>
          <a:solidFill>
            <a:srgbClr val="D98B3C"/>
          </a:solidFill>
          <a:ln w="19050">
            <a:solidFill>
              <a:srgbClr val="D98B3C"/>
            </a:solidFill>
            <a:prstDash val="solid"/>
          </a:ln>
        </p:spPr>
      </p:sp>
      <p:sp>
        <p:nvSpPr>
          <p:cNvPr id="6" name="Text 4"/>
          <p:cNvSpPr txBox="1"/>
          <p:nvPr/>
        </p:nvSpPr>
        <p:spPr>
          <a:xfrm>
            <a:off x="1097280" y="1481328"/>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0–3</a:t>
            </a:r>
            <a:endParaRPr lang="en-US" sz="1300" dirty="0"/>
          </a:p>
        </p:txBody>
      </p:sp>
      <p:sp>
        <p:nvSpPr>
          <p:cNvPr id="7" name="Text 5"/>
          <p:cNvSpPr txBox="1"/>
          <p:nvPr/>
        </p:nvSpPr>
        <p:spPr>
          <a:xfrm>
            <a:off x="2560320" y="1481328"/>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Convert trials to paid; launch measured ad tests; add team and church plans</a:t>
            </a:r>
            <a:endParaRPr lang="en-US" sz="1150" dirty="0"/>
          </a:p>
        </p:txBody>
      </p:sp>
      <p:sp>
        <p:nvSpPr>
          <p:cNvPr id="8" name="Shape 6"/>
          <p:cNvSpPr/>
          <p:nvPr/>
        </p:nvSpPr>
        <p:spPr>
          <a:xfrm>
            <a:off x="566928" y="2286000"/>
            <a:ext cx="329184" cy="329184"/>
          </a:xfrm>
          <a:prstGeom prst="ellipse">
            <a:avLst/>
          </a:prstGeom>
          <a:solidFill>
            <a:srgbClr val="FFFFFF"/>
          </a:solidFill>
          <a:ln w="19050">
            <a:solidFill>
              <a:srgbClr val="D98B3C"/>
            </a:solidFill>
            <a:prstDash val="solid"/>
          </a:ln>
        </p:spPr>
      </p:sp>
      <p:sp>
        <p:nvSpPr>
          <p:cNvPr id="9" name="Text 7"/>
          <p:cNvSpPr txBox="1"/>
          <p:nvPr/>
        </p:nvSpPr>
        <p:spPr>
          <a:xfrm>
            <a:off x="1097280" y="2240280"/>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4–6</a:t>
            </a:r>
            <a:endParaRPr lang="en-US" sz="1300" dirty="0"/>
          </a:p>
        </p:txBody>
      </p:sp>
      <p:sp>
        <p:nvSpPr>
          <p:cNvPr id="10" name="Text 8"/>
          <p:cNvSpPr txBox="1"/>
          <p:nvPr/>
        </p:nvSpPr>
        <p:spPr>
          <a:xfrm>
            <a:off x="2560320" y="2240280"/>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Scale winning ad channels; AppForge picks and launches apps #3 and #4</a:t>
            </a:r>
            <a:endParaRPr lang="en-US" sz="1150" dirty="0"/>
          </a:p>
        </p:txBody>
      </p:sp>
      <p:sp>
        <p:nvSpPr>
          <p:cNvPr id="11" name="Shape 9"/>
          <p:cNvSpPr/>
          <p:nvPr/>
        </p:nvSpPr>
        <p:spPr>
          <a:xfrm>
            <a:off x="566928" y="3044952"/>
            <a:ext cx="329184" cy="329184"/>
          </a:xfrm>
          <a:prstGeom prst="ellipse">
            <a:avLst/>
          </a:prstGeom>
          <a:solidFill>
            <a:srgbClr val="FFFFFF"/>
          </a:solidFill>
          <a:ln w="19050">
            <a:solidFill>
              <a:srgbClr val="D98B3C"/>
            </a:solidFill>
            <a:prstDash val="solid"/>
          </a:ln>
        </p:spPr>
      </p:sp>
      <p:sp>
        <p:nvSpPr>
          <p:cNvPr id="12" name="Text 10"/>
          <p:cNvSpPr txBox="1"/>
          <p:nvPr/>
        </p:nvSpPr>
        <p:spPr>
          <a:xfrm>
            <a:off x="1097280" y="2999232"/>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7–12</a:t>
            </a:r>
            <a:endParaRPr lang="en-US" sz="1300" dirty="0"/>
          </a:p>
        </p:txBody>
      </p:sp>
      <p:sp>
        <p:nvSpPr>
          <p:cNvPr id="13" name="Text 11"/>
          <p:cNvSpPr txBox="1"/>
          <p:nvPr/>
        </p:nvSpPr>
        <p:spPr>
          <a:xfrm>
            <a:off x="2560320" y="2999232"/>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Launch apps #5 to #7; cross-promote across the portfolio</a:t>
            </a:r>
            <a:endParaRPr lang="en-US" sz="1150" dirty="0"/>
          </a:p>
        </p:txBody>
      </p:sp>
      <p:sp>
        <p:nvSpPr>
          <p:cNvPr id="14" name="Shape 12"/>
          <p:cNvSpPr/>
          <p:nvPr/>
        </p:nvSpPr>
        <p:spPr>
          <a:xfrm>
            <a:off x="566928" y="3803904"/>
            <a:ext cx="329184" cy="329184"/>
          </a:xfrm>
          <a:prstGeom prst="ellipse">
            <a:avLst/>
          </a:prstGeom>
          <a:solidFill>
            <a:srgbClr val="FFFFFF"/>
          </a:solidFill>
          <a:ln w="19050">
            <a:solidFill>
              <a:srgbClr val="D98B3C"/>
            </a:solidFill>
            <a:prstDash val="solid"/>
          </a:ln>
        </p:spPr>
      </p:sp>
      <p:sp>
        <p:nvSpPr>
          <p:cNvPr id="15" name="Text 13"/>
          <p:cNvSpPr txBox="1"/>
          <p:nvPr/>
        </p:nvSpPr>
        <p:spPr>
          <a:xfrm>
            <a:off x="1097280" y="3758184"/>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13–18</a:t>
            </a:r>
            <a:endParaRPr lang="en-US" sz="1300" dirty="0"/>
          </a:p>
        </p:txBody>
      </p:sp>
      <p:sp>
        <p:nvSpPr>
          <p:cNvPr id="16" name="Text 14"/>
          <p:cNvSpPr txBox="1"/>
          <p:nvPr/>
        </p:nvSpPr>
        <p:spPr>
          <a:xfrm>
            <a:off x="2560320" y="3758184"/>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Launch apps #8 to #10; position for a seed round on proven revenue</a:t>
            </a:r>
            <a:endParaRPr lang="en-US" sz="1150" dirty="0"/>
          </a:p>
        </p:txBody>
      </p:sp>
      <p:graphicFrame>
        <p:nvGraphicFramePr>
          <p:cNvPr id="17" name="Chart 0" descr=""/>
          <p:cNvGraphicFramePr/>
          <p:nvPr/>
        </p:nvGraphicFramePr>
        <p:xfrm>
          <a:off x="5303520" y="1371600"/>
          <a:ext cx="3383280" cy="30632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303520" y="4434840"/>
            <a:ext cx="3383280" cy="320040"/>
          </a:xfrm>
          <a:prstGeom prst="rect">
            <a:avLst/>
          </a:prstGeom>
          <a:noFill/>
          <a:ln/>
        </p:spPr>
        <p:txBody>
          <a:bodyPr wrap="square" lIns="0" tIns="0" rIns="0" bIns="0" rtlCol="0" anchor="t"/>
          <a:lstStyle/>
          <a:p>
            <a:pPr indent="0" marL="0">
              <a:buNone/>
            </a:pPr>
            <a:r>
              <a:rPr lang="en-US" sz="950" i="1" dirty="0">
                <a:solidFill>
                  <a:srgbClr val="5C6B61"/>
                </a:solidFill>
                <a:latin typeface="Calibri" pitchFamily="34" charset="0"/>
                <a:ea typeface="Calibri" pitchFamily="34" charset="-122"/>
                <a:cs typeface="Calibri" pitchFamily="34" charset="-120"/>
              </a:rPr>
              <a:t>Targets, not forecasts: 1,000 subscribers at a ~$38 blended price ≈ $38K MRR (~$450K ARR).</a:t>
            </a:r>
            <a:endParaRPr lang="en-US" sz="950" dirty="0"/>
          </a:p>
        </p:txBody>
      </p:sp>
      <p:sp>
        <p:nvSpPr>
          <p:cNvPr id="19"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13 / 15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TEAM</a:t>
            </a:r>
            <a:endParaRPr lang="en-US" sz="10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Founder-led, with a proven ability to ship</a:t>
            </a:r>
            <a:endParaRPr lang="en-US" sz="2600" dirty="0"/>
          </a:p>
        </p:txBody>
      </p:sp>
      <p:sp>
        <p:nvSpPr>
          <p:cNvPr id="4" name="Shape 2"/>
          <p:cNvSpPr/>
          <p:nvPr/>
        </p:nvSpPr>
        <p:spPr>
          <a:xfrm>
            <a:off x="457200" y="1463040"/>
            <a:ext cx="4023360" cy="3063240"/>
          </a:xfrm>
          <a:prstGeom prst="roundRect">
            <a:avLst>
              <a:gd name="adj" fmla="val 238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731520" y="1691640"/>
            <a:ext cx="777240" cy="77724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933602" y="1893722"/>
            <a:ext cx="373075" cy="373075"/>
          </a:xfrm>
          <a:prstGeom prst="rect">
            <a:avLst/>
          </a:prstGeom>
        </p:spPr>
      </p:pic>
      <p:sp>
        <p:nvSpPr>
          <p:cNvPr id="7" name="Text 4"/>
          <p:cNvSpPr txBox="1"/>
          <p:nvPr/>
        </p:nvSpPr>
        <p:spPr>
          <a:xfrm>
            <a:off x="1691640" y="1783080"/>
            <a:ext cx="2651760" cy="347472"/>
          </a:xfrm>
          <a:prstGeom prst="rect">
            <a:avLst/>
          </a:prstGeom>
          <a:noFill/>
          <a:ln/>
        </p:spPr>
        <p:txBody>
          <a:bodyPr wrap="square" lIns="0" tIns="0" rIns="0" bIns="0" rtlCol="0" anchor="t"/>
          <a:lstStyle/>
          <a:p>
            <a:pPr indent="0" marL="0">
              <a:buNone/>
            </a:pPr>
            <a:r>
              <a:rPr lang="en-US" sz="1900" b="1" dirty="0">
                <a:solidFill>
                  <a:srgbClr val="143D28"/>
                </a:solidFill>
                <a:latin typeface="Cambria" pitchFamily="34" charset="0"/>
                <a:ea typeface="Cambria" pitchFamily="34" charset="-122"/>
                <a:cs typeface="Cambria" pitchFamily="34" charset="-120"/>
              </a:rPr>
              <a:t>James Chambers</a:t>
            </a:r>
            <a:endParaRPr lang="en-US" sz="1900" dirty="0"/>
          </a:p>
        </p:txBody>
      </p:sp>
      <p:sp>
        <p:nvSpPr>
          <p:cNvPr id="8" name="Text 5"/>
          <p:cNvSpPr txBox="1"/>
          <p:nvPr/>
        </p:nvSpPr>
        <p:spPr>
          <a:xfrm>
            <a:off x="1691640" y="2130552"/>
            <a:ext cx="2651760" cy="274320"/>
          </a:xfrm>
          <a:prstGeom prst="rect">
            <a:avLst/>
          </a:prstGeom>
          <a:noFill/>
          <a:ln/>
        </p:spPr>
        <p:txBody>
          <a:bodyPr wrap="square" lIns="0" tIns="0" rIns="0" bIns="0" rtlCol="0" anchor="t"/>
          <a:lstStyle/>
          <a:p>
            <a:pPr indent="0" marL="0">
              <a:buNone/>
            </a:pPr>
            <a:r>
              <a:rPr lang="en-US" sz="1200" b="1" dirty="0">
                <a:solidFill>
                  <a:srgbClr val="D98B3C"/>
                </a:solidFill>
                <a:latin typeface="Calibri" pitchFamily="34" charset="0"/>
                <a:ea typeface="Calibri" pitchFamily="34" charset="-122"/>
                <a:cs typeface="Calibri" pitchFamily="34" charset="-120"/>
              </a:rPr>
              <a:t>Founder &amp; CEO</a:t>
            </a:r>
            <a:endParaRPr lang="en-US" sz="1200" dirty="0"/>
          </a:p>
        </p:txBody>
      </p:sp>
      <p:sp>
        <p:nvSpPr>
          <p:cNvPr id="9" name="Text 6"/>
          <p:cNvSpPr txBox="1"/>
          <p:nvPr/>
        </p:nvSpPr>
        <p:spPr>
          <a:xfrm>
            <a:off x="731520" y="2697480"/>
            <a:ext cx="3566160" cy="173736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B2A21"/>
                </a:solidFill>
                <a:latin typeface="Calibri" pitchFamily="34" charset="0"/>
                <a:ea typeface="Calibri" pitchFamily="34" charset="-122"/>
                <a:cs typeface="Calibri" pitchFamily="34" charset="-120"/>
              </a:rPr>
              <a:t>Designed, built and launched PastorAI and Ready Room</a:t>
            </a:r>
            <a:endParaRPr lang="en-US" sz="1200" dirty="0"/>
          </a:p>
          <a:p>
            <a:pPr marL="177800" indent="-177800">
              <a:spcAft>
                <a:spcPts val="500"/>
              </a:spcAft>
              <a:buSzPct val="100000"/>
              <a:buChar char="•"/>
            </a:pPr>
            <a:r>
              <a:rPr lang="en-US" sz="1200" dirty="0">
                <a:solidFill>
                  <a:srgbClr val="1B2A21"/>
                </a:solidFill>
                <a:latin typeface="Calibri" pitchFamily="34" charset="0"/>
                <a:ea typeface="Calibri" pitchFamily="34" charset="-122"/>
                <a:cs typeface="Calibri" pitchFamily="34" charset="-120"/>
              </a:rPr>
              <a:t>Shipped both to the Apple App Store and Google Play</a:t>
            </a:r>
            <a:endParaRPr lang="en-US" sz="1200" dirty="0"/>
          </a:p>
          <a:p>
            <a:pPr marL="177800" indent="-177800">
              <a:spcAft>
                <a:spcPts val="500"/>
              </a:spcAft>
              <a:buSzPct val="100000"/>
              <a:buChar char="•"/>
            </a:pPr>
            <a:r>
              <a:rPr lang="en-US" sz="1200" dirty="0">
                <a:solidFill>
                  <a:srgbClr val="1B2A21"/>
                </a:solidFill>
                <a:latin typeface="Calibri" pitchFamily="34" charset="0"/>
                <a:ea typeface="Calibri" pitchFamily="34" charset="-122"/>
                <a:cs typeface="Calibri" pitchFamily="34" charset="-120"/>
              </a:rPr>
              <a:t>Created AppForge, the studio's market-analysis and build engine</a:t>
            </a:r>
            <a:endParaRPr lang="en-US" sz="1200" dirty="0"/>
          </a:p>
          <a:p>
            <a:pPr marL="177800" indent="-177800">
              <a:spcAft>
                <a:spcPts val="500"/>
              </a:spcAft>
              <a:buSzPct val="100000"/>
              <a:buChar char="•"/>
            </a:pPr>
            <a:r>
              <a:rPr lang="en-US" sz="1200" dirty="0">
                <a:solidFill>
                  <a:srgbClr val="1B2A21"/>
                </a:solidFill>
                <a:latin typeface="Calibri" pitchFamily="34" charset="0"/>
                <a:ea typeface="Calibri" pitchFamily="34" charset="-122"/>
                <a:cs typeface="Calibri" pitchFamily="34" charset="-120"/>
              </a:rPr>
              <a:t>Leads product, AI, marketing and customer relationships</a:t>
            </a:r>
            <a:endParaRPr lang="en-US" sz="1200" dirty="0"/>
          </a:p>
        </p:txBody>
      </p:sp>
      <p:sp>
        <p:nvSpPr>
          <p:cNvPr id="10" name="Text 7"/>
          <p:cNvSpPr txBox="1"/>
          <p:nvPr/>
        </p:nvSpPr>
        <p:spPr>
          <a:xfrm>
            <a:off x="4800600" y="1508760"/>
            <a:ext cx="3840480" cy="274320"/>
          </a:xfrm>
          <a:prstGeom prst="rect">
            <a:avLst/>
          </a:prstGeom>
          <a:noFill/>
          <a:ln/>
        </p:spPr>
        <p:txBody>
          <a:bodyPr wrap="square" lIns="0" tIns="0" rIns="0" bIns="0" rtlCol="0" anchor="t"/>
          <a:lstStyle/>
          <a:p>
            <a:pPr indent="0" marL="0">
              <a:buNone/>
            </a:pPr>
            <a:r>
              <a:rPr lang="en-US" sz="1100" b="1" spc="200" kern="0" dirty="0">
                <a:solidFill>
                  <a:srgbClr val="D98B3C"/>
                </a:solidFill>
                <a:latin typeface="Calibri" pitchFamily="34" charset="0"/>
                <a:ea typeface="Calibri" pitchFamily="34" charset="-122"/>
                <a:cs typeface="Calibri" pitchFamily="34" charset="-120"/>
              </a:rPr>
              <a:t>Hiring with this round</a:t>
            </a:r>
            <a:endParaRPr lang="en-US" sz="1100" dirty="0"/>
          </a:p>
        </p:txBody>
      </p:sp>
      <p:sp>
        <p:nvSpPr>
          <p:cNvPr id="11" name="Shape 8"/>
          <p:cNvSpPr/>
          <p:nvPr/>
        </p:nvSpPr>
        <p:spPr>
          <a:xfrm>
            <a:off x="4800600" y="1920240"/>
            <a:ext cx="502920" cy="502920"/>
          </a:xfrm>
          <a:prstGeom prst="ellipse">
            <a:avLst/>
          </a:prstGeom>
          <a:solidFill>
            <a:srgbClr val="FFFFFF"/>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4931359" y="2050999"/>
            <a:ext cx="241402" cy="241402"/>
          </a:xfrm>
          <a:prstGeom prst="rect">
            <a:avLst/>
          </a:prstGeom>
        </p:spPr>
      </p:pic>
      <p:sp>
        <p:nvSpPr>
          <p:cNvPr id="13" name="Text 9"/>
          <p:cNvSpPr txBox="1"/>
          <p:nvPr/>
        </p:nvSpPr>
        <p:spPr>
          <a:xfrm>
            <a:off x="5486400" y="192024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Contract developer</a:t>
            </a:r>
            <a:endParaRPr lang="en-US" sz="1400" dirty="0"/>
          </a:p>
        </p:txBody>
      </p:sp>
      <p:sp>
        <p:nvSpPr>
          <p:cNvPr id="14" name="Text 10"/>
          <p:cNvSpPr txBox="1"/>
          <p:nvPr/>
        </p:nvSpPr>
        <p:spPr>
          <a:xfrm>
            <a:off x="5486400" y="218541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Speeds up launches of the next eight apps</a:t>
            </a:r>
            <a:endParaRPr lang="en-US" sz="1150" dirty="0"/>
          </a:p>
        </p:txBody>
      </p:sp>
      <p:sp>
        <p:nvSpPr>
          <p:cNvPr id="15" name="Shape 11"/>
          <p:cNvSpPr/>
          <p:nvPr/>
        </p:nvSpPr>
        <p:spPr>
          <a:xfrm>
            <a:off x="4800600" y="2788920"/>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4931359" y="2919679"/>
            <a:ext cx="241402" cy="241402"/>
          </a:xfrm>
          <a:prstGeom prst="rect">
            <a:avLst/>
          </a:prstGeom>
        </p:spPr>
      </p:pic>
      <p:sp>
        <p:nvSpPr>
          <p:cNvPr id="17" name="Text 12"/>
          <p:cNvSpPr txBox="1"/>
          <p:nvPr/>
        </p:nvSpPr>
        <p:spPr>
          <a:xfrm>
            <a:off x="5486400" y="278892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Part-time growth marketer</a:t>
            </a:r>
            <a:endParaRPr lang="en-US" sz="1400" dirty="0"/>
          </a:p>
        </p:txBody>
      </p:sp>
      <p:sp>
        <p:nvSpPr>
          <p:cNvPr id="18" name="Text 13"/>
          <p:cNvSpPr txBox="1"/>
          <p:nvPr/>
        </p:nvSpPr>
        <p:spPr>
          <a:xfrm>
            <a:off x="5486400" y="305409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Runs paid acquisition and partnerships</a:t>
            </a:r>
            <a:endParaRPr lang="en-US" sz="1150" dirty="0"/>
          </a:p>
        </p:txBody>
      </p:sp>
      <p:sp>
        <p:nvSpPr>
          <p:cNvPr id="19" name="Shape 14"/>
          <p:cNvSpPr/>
          <p:nvPr/>
        </p:nvSpPr>
        <p:spPr>
          <a:xfrm>
            <a:off x="4800600" y="3657600"/>
            <a:ext cx="502920" cy="502920"/>
          </a:xfrm>
          <a:prstGeom prst="ellipse">
            <a:avLst/>
          </a:prstGeom>
          <a:solidFill>
            <a:srgbClr val="FFFFFF"/>
          </a:solidFill>
          <a:ln w="19050">
            <a:solidFill>
              <a:srgbClr val="D98B3C"/>
            </a:solidFill>
            <a:prstDash val="solid"/>
          </a:ln>
        </p:spPr>
      </p:sp>
      <p:pic>
        <p:nvPicPr>
          <p:cNvPr id="20" name="Image 3" descr="preencoded.png">    </p:cNvPr>
          <p:cNvPicPr>
            <a:picLocks noChangeAspect="1"/>
          </p:cNvPicPr>
          <p:nvPr/>
        </p:nvPicPr>
        <p:blipFill>
          <a:blip r:embed="rId4"/>
          <a:stretch>
            <a:fillRect/>
          </a:stretch>
        </p:blipFill>
        <p:spPr>
          <a:xfrm>
            <a:off x="4931359" y="3788359"/>
            <a:ext cx="241402" cy="241402"/>
          </a:xfrm>
          <a:prstGeom prst="rect">
            <a:avLst/>
          </a:prstGeom>
        </p:spPr>
      </p:pic>
      <p:sp>
        <p:nvSpPr>
          <p:cNvPr id="21" name="Text 15"/>
          <p:cNvSpPr txBox="1"/>
          <p:nvPr/>
        </p:nvSpPr>
        <p:spPr>
          <a:xfrm>
            <a:off x="5486400" y="365760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Advisors</a:t>
            </a:r>
            <a:endParaRPr lang="en-US" sz="1400" dirty="0"/>
          </a:p>
        </p:txBody>
      </p:sp>
      <p:sp>
        <p:nvSpPr>
          <p:cNvPr id="22" name="Text 16"/>
          <p:cNvSpPr txBox="1"/>
          <p:nvPr/>
        </p:nvSpPr>
        <p:spPr>
          <a:xfrm>
            <a:off x="5486400" y="392277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Ministry, sales-training and SaaS mentors</a:t>
            </a:r>
            <a:endParaRPr lang="en-US" sz="1150" dirty="0"/>
          </a:p>
        </p:txBody>
      </p:sp>
      <p:sp>
        <p:nvSpPr>
          <p:cNvPr id="23" name="Text 1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4" name="Text 1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14 / 15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457200"/>
            <a:ext cx="640080" cy="64008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598018" y="598018"/>
            <a:ext cx="358445" cy="358445"/>
          </a:xfrm>
          <a:prstGeom prst="rect">
            <a:avLst/>
          </a:prstGeom>
        </p:spPr>
      </p:pic>
      <p:sp>
        <p:nvSpPr>
          <p:cNvPr id="4" name="Text 1"/>
          <p:cNvSpPr txBox="1"/>
          <p:nvPr/>
        </p:nvSpPr>
        <p:spPr>
          <a:xfrm>
            <a:off x="457200" y="1325880"/>
            <a:ext cx="8229600" cy="237744"/>
          </a:xfrm>
          <a:prstGeom prst="rect">
            <a:avLst/>
          </a:prstGeom>
          <a:noFill/>
          <a:ln/>
        </p:spPr>
        <p:txBody>
          <a:bodyPr wrap="square" lIns="0" tIns="0" rIns="0" bIns="0" rtlCol="0" anchor="ctr"/>
          <a:lstStyle/>
          <a:p>
            <a:pPr indent="0" marL="0">
              <a:buNone/>
            </a:pPr>
            <a:r>
              <a:rPr lang="en-US" sz="1000" b="1" spc="300" kern="0" dirty="0">
                <a:solidFill>
                  <a:srgbClr val="D98B3C"/>
                </a:solidFill>
                <a:latin typeface="Calibri" pitchFamily="34" charset="0"/>
                <a:ea typeface="Calibri" pitchFamily="34" charset="-122"/>
                <a:cs typeface="Calibri" pitchFamily="34" charset="-120"/>
              </a:rPr>
              <a:t>THE ASK</a:t>
            </a:r>
            <a:endParaRPr lang="en-US" sz="1000" dirty="0"/>
          </a:p>
        </p:txBody>
      </p:sp>
      <p:sp>
        <p:nvSpPr>
          <p:cNvPr id="5" name="Text 2"/>
          <p:cNvSpPr txBox="1"/>
          <p:nvPr/>
        </p:nvSpPr>
        <p:spPr>
          <a:xfrm>
            <a:off x="457200" y="1600200"/>
            <a:ext cx="5120640" cy="1188720"/>
          </a:xfrm>
          <a:prstGeom prst="rect">
            <a:avLst/>
          </a:prstGeom>
          <a:noFill/>
          <a:ln/>
        </p:spPr>
        <p:txBody>
          <a:bodyPr wrap="square" lIns="0" tIns="0" rIns="0" bIns="0" rtlCol="0" anchor="t"/>
          <a:lstStyle/>
          <a:p>
            <a:pPr indent="0" marL="0">
              <a:buNone/>
            </a:pPr>
            <a:r>
              <a:rPr lang="en-US" sz="2800" b="1" dirty="0">
                <a:solidFill>
                  <a:srgbClr val="F4EBD5"/>
                </a:solidFill>
                <a:latin typeface="Cambria" pitchFamily="34" charset="0"/>
                <a:ea typeface="Cambria" pitchFamily="34" charset="-122"/>
                <a:cs typeface="Cambria" pitchFamily="34" charset="-120"/>
              </a:rPr>
              <a:t>Raising $250K to take Cedarworks from 2 apps to 10</a:t>
            </a:r>
            <a:endParaRPr lang="en-US" sz="2800" dirty="0"/>
          </a:p>
        </p:txBody>
      </p:sp>
      <p:sp>
        <p:nvSpPr>
          <p:cNvPr id="6" name="Text 3"/>
          <p:cNvSpPr txBox="1"/>
          <p:nvPr/>
        </p:nvSpPr>
        <p:spPr>
          <a:xfrm>
            <a:off x="457200" y="2880360"/>
            <a:ext cx="5120640" cy="10972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Scale PastorAI and Ready Room with paid acquisition</a:t>
            </a:r>
            <a:endParaRPr lang="en-US" sz="1400" dirty="0"/>
          </a:p>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Launch 8 new market-picked apps with AppForge</a:t>
            </a:r>
            <a:endParaRPr lang="en-US" sz="1400" dirty="0"/>
          </a:p>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Reach ~1,000 paying subscribers in 18 months</a:t>
            </a:r>
            <a:endParaRPr lang="en-US" sz="1400" dirty="0"/>
          </a:p>
        </p:txBody>
      </p:sp>
      <p:sp>
        <p:nvSpPr>
          <p:cNvPr id="7" name="Shape 4"/>
          <p:cNvSpPr/>
          <p:nvPr/>
        </p:nvSpPr>
        <p:spPr>
          <a:xfrm>
            <a:off x="5943600" y="1371600"/>
            <a:ext cx="2743200" cy="2926080"/>
          </a:xfrm>
          <a:prstGeom prst="roundRect">
            <a:avLst>
              <a:gd name="adj" fmla="val 3333"/>
            </a:avLst>
          </a:prstGeom>
          <a:solidFill>
            <a:srgbClr val="1E5238"/>
          </a:solidFill>
          <a:ln w="15875">
            <a:solidFill>
              <a:srgbClr val="D98B3C"/>
            </a:solidFill>
            <a:prstDash val="solid"/>
          </a:ln>
        </p:spPr>
      </p:sp>
      <p:sp>
        <p:nvSpPr>
          <p:cNvPr id="8" name="Text 5"/>
          <p:cNvSpPr txBox="1"/>
          <p:nvPr/>
        </p:nvSpPr>
        <p:spPr>
          <a:xfrm>
            <a:off x="6172200" y="1554480"/>
            <a:ext cx="2286000" cy="274320"/>
          </a:xfrm>
          <a:prstGeom prst="rect">
            <a:avLst/>
          </a:prstGeom>
          <a:noFill/>
          <a:ln/>
        </p:spPr>
        <p:txBody>
          <a:bodyPr wrap="square" lIns="0" tIns="0" rIns="0" bIns="0" rtlCol="0" anchor="t"/>
          <a:lstStyle/>
          <a:p>
            <a:pPr indent="0" marL="0">
              <a:buNone/>
            </a:pPr>
            <a:r>
              <a:rPr lang="en-US" sz="1000" b="1" spc="300" kern="0" dirty="0">
                <a:solidFill>
                  <a:srgbClr val="D98B3C"/>
                </a:solidFill>
                <a:latin typeface="Calibri" pitchFamily="34" charset="0"/>
                <a:ea typeface="Calibri" pitchFamily="34" charset="-122"/>
                <a:cs typeface="Calibri" pitchFamily="34" charset="-120"/>
              </a:rPr>
              <a:t>LET'S TALK</a:t>
            </a:r>
            <a:endParaRPr lang="en-US" sz="1000" dirty="0"/>
          </a:p>
        </p:txBody>
      </p:sp>
      <p:sp>
        <p:nvSpPr>
          <p:cNvPr id="9" name="Text 6"/>
          <p:cNvSpPr txBox="1"/>
          <p:nvPr/>
        </p:nvSpPr>
        <p:spPr>
          <a:xfrm>
            <a:off x="6172200" y="1874520"/>
            <a:ext cx="2286000" cy="365760"/>
          </a:xfrm>
          <a:prstGeom prst="rect">
            <a:avLst/>
          </a:prstGeom>
          <a:noFill/>
          <a:ln/>
        </p:spPr>
        <p:txBody>
          <a:bodyPr wrap="square" lIns="0" tIns="0" rIns="0" bIns="0" rtlCol="0" anchor="t"/>
          <a:lstStyle/>
          <a:p>
            <a:pPr indent="0" marL="0">
              <a:buNone/>
            </a:pPr>
            <a:r>
              <a:rPr lang="en-US" sz="1800" b="1" dirty="0">
                <a:solidFill>
                  <a:srgbClr val="F4EBD5"/>
                </a:solidFill>
                <a:latin typeface="Cambria" pitchFamily="34" charset="0"/>
                <a:ea typeface="Cambria" pitchFamily="34" charset="-122"/>
                <a:cs typeface="Cambria" pitchFamily="34" charset="-120"/>
              </a:rPr>
              <a:t>James Chambers</a:t>
            </a:r>
            <a:endParaRPr lang="en-US" sz="1800" dirty="0"/>
          </a:p>
        </p:txBody>
      </p:sp>
      <p:pic>
        <p:nvPicPr>
          <p:cNvPr id="10" name="Image 1" descr="preencoded.png">    </p:cNvPr>
          <p:cNvPicPr>
            <a:picLocks noChangeAspect="1"/>
          </p:cNvPicPr>
          <p:nvPr/>
        </p:nvPicPr>
        <p:blipFill>
          <a:blip r:embed="rId2"/>
          <a:stretch>
            <a:fillRect/>
          </a:stretch>
        </p:blipFill>
        <p:spPr>
          <a:xfrm>
            <a:off x="6172200" y="2459736"/>
            <a:ext cx="219456" cy="219456"/>
          </a:xfrm>
          <a:prstGeom prst="rect">
            <a:avLst/>
          </a:prstGeom>
        </p:spPr>
      </p:pic>
      <p:sp>
        <p:nvSpPr>
          <p:cNvPr id="11" name="Text 7"/>
          <p:cNvSpPr txBox="1"/>
          <p:nvPr/>
        </p:nvSpPr>
        <p:spPr>
          <a:xfrm>
            <a:off x="6492240" y="2423160"/>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james@cedarworksapps.com</a:t>
            </a:r>
            <a:endParaRPr lang="en-US" sz="1100" dirty="0"/>
          </a:p>
        </p:txBody>
      </p:sp>
      <p:pic>
        <p:nvPicPr>
          <p:cNvPr id="12" name="Image 2" descr="preencoded.png">    </p:cNvPr>
          <p:cNvPicPr>
            <a:picLocks noChangeAspect="1"/>
          </p:cNvPicPr>
          <p:nvPr/>
        </p:nvPicPr>
        <p:blipFill>
          <a:blip r:embed="rId3"/>
          <a:stretch>
            <a:fillRect/>
          </a:stretch>
        </p:blipFill>
        <p:spPr>
          <a:xfrm>
            <a:off x="6172200" y="2889504"/>
            <a:ext cx="219456" cy="219456"/>
          </a:xfrm>
          <a:prstGeom prst="rect">
            <a:avLst/>
          </a:prstGeom>
        </p:spPr>
      </p:pic>
      <p:sp>
        <p:nvSpPr>
          <p:cNvPr id="13" name="Text 8"/>
          <p:cNvSpPr txBox="1"/>
          <p:nvPr/>
        </p:nvSpPr>
        <p:spPr>
          <a:xfrm>
            <a:off x="6492240" y="2852928"/>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417-370-2084</a:t>
            </a:r>
            <a:endParaRPr lang="en-US" sz="1100" dirty="0"/>
          </a:p>
        </p:txBody>
      </p:sp>
      <p:pic>
        <p:nvPicPr>
          <p:cNvPr id="14" name="Image 3" descr="preencoded.png">    </p:cNvPr>
          <p:cNvPicPr>
            <a:picLocks noChangeAspect="1"/>
          </p:cNvPicPr>
          <p:nvPr/>
        </p:nvPicPr>
        <p:blipFill>
          <a:blip r:embed="rId4"/>
          <a:stretch>
            <a:fillRect/>
          </a:stretch>
        </p:blipFill>
        <p:spPr>
          <a:xfrm>
            <a:off x="6172200" y="3319272"/>
            <a:ext cx="219456" cy="219456"/>
          </a:xfrm>
          <a:prstGeom prst="rect">
            <a:avLst/>
          </a:prstGeom>
        </p:spPr>
      </p:pic>
      <p:sp>
        <p:nvSpPr>
          <p:cNvPr id="15" name="Text 9"/>
          <p:cNvSpPr txBox="1"/>
          <p:nvPr/>
        </p:nvSpPr>
        <p:spPr>
          <a:xfrm>
            <a:off x="6492240" y="3282696"/>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cedarworksapps.com</a:t>
            </a:r>
            <a:endParaRPr lang="en-US" sz="1100" dirty="0"/>
          </a:p>
        </p:txBody>
      </p:sp>
      <p:pic>
        <p:nvPicPr>
          <p:cNvPr id="16" name="Image 4" descr="preencoded.png">    </p:cNvPr>
          <p:cNvPicPr>
            <a:picLocks noChangeAspect="1"/>
          </p:cNvPicPr>
          <p:nvPr/>
        </p:nvPicPr>
        <p:blipFill>
          <a:blip r:embed="rId5"/>
          <a:stretch>
            <a:fillRect/>
          </a:stretch>
        </p:blipFill>
        <p:spPr>
          <a:xfrm>
            <a:off x="6172200" y="3749040"/>
            <a:ext cx="219456" cy="219456"/>
          </a:xfrm>
          <a:prstGeom prst="rect">
            <a:avLst/>
          </a:prstGeom>
        </p:spPr>
      </p:pic>
      <p:sp>
        <p:nvSpPr>
          <p:cNvPr id="17" name="Text 10"/>
          <p:cNvSpPr txBox="1"/>
          <p:nvPr/>
        </p:nvSpPr>
        <p:spPr>
          <a:xfrm>
            <a:off x="6492240" y="3712464"/>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pastorai.io · tryreadyroom.com</a:t>
            </a:r>
            <a:endParaRPr lang="en-US" sz="1100" dirty="0"/>
          </a:p>
        </p:txBody>
      </p:sp>
      <p:sp>
        <p:nvSpPr>
          <p:cNvPr id="18" name="Text 11"/>
          <p:cNvSpPr txBox="1"/>
          <p:nvPr/>
        </p:nvSpPr>
        <p:spPr>
          <a:xfrm>
            <a:off x="457200" y="4160520"/>
            <a:ext cx="5120640" cy="274320"/>
          </a:xfrm>
          <a:prstGeom prst="rect">
            <a:avLst/>
          </a:prstGeom>
          <a:noFill/>
          <a:ln/>
        </p:spPr>
        <p:txBody>
          <a:bodyPr wrap="square" lIns="0" tIns="0" rIns="0" bIns="0" rtlCol="0" anchor="t"/>
          <a:lstStyle/>
          <a:p>
            <a:pPr indent="0" marL="0">
              <a:buNone/>
            </a:pPr>
            <a:r>
              <a:rPr lang="en-US" sz="1100" i="1" dirty="0">
                <a:solidFill>
                  <a:srgbClr val="A9C2A8"/>
                </a:solidFill>
                <a:latin typeface="Calibri" pitchFamily="34" charset="0"/>
                <a:ea typeface="Calibri" pitchFamily="34" charset="-122"/>
                <a:cs typeface="Calibri" pitchFamily="34" charset="-120"/>
              </a:rPr>
              <a:t>Pre-seed · Terms open to discussion (SAFE or priced)</a:t>
            </a:r>
            <a:endParaRPr lang="en-US" sz="1100" dirty="0"/>
          </a:p>
        </p:txBody>
      </p:sp>
      <p:sp>
        <p:nvSpPr>
          <p:cNvPr id="19" name="Text 12"/>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spc="200" kern="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0" name="Text 13"/>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15 / 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Cedarworks Apps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Cedarworks Apps — Investor Pitch Deck</dc:title>
  <dc:subject>PptxGenJS Presentation</dc:subject>
  <dc:creator>James Chambers</dc:creator>
  <cp:lastModifiedBy>James Chambers</cp:lastModifiedBy>
  <cp:revision>1</cp:revision>
  <dcterms:created xsi:type="dcterms:W3CDTF">2026-09-26T20:55:24Z</dcterms:created>
  <dcterms:modified xsi:type="dcterms:W3CDTF">2026-09-26T20:55:24Z</dcterms:modified>
</cp:coreProperties>
</file>
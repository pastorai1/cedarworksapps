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143D28"/>
              </a:solidFill>
              <a:effectLst/>
            </c:spPr>
          </c:dPt>
          <c:dPt>
            <c:idx val="1"/>
            <c:bubble3D val="0"/>
            <c:spPr>
              <a:solidFill>
                <a:srgbClr val="D98B3C"/>
              </a:solidFill>
              <a:effectLst/>
            </c:spPr>
          </c:dPt>
          <c:dPt>
            <c:idx val="2"/>
            <c:bubble3D val="0"/>
            <c:spPr>
              <a:solidFill>
                <a:srgbClr val="4F7F63"/>
              </a:solidFill>
              <a:effectLst/>
            </c:spPr>
          </c:dPt>
          <c:dPt>
            <c:idx val="3"/>
            <c:bubble3D val="0"/>
            <c:spPr>
              <a:solidFill>
                <a:srgbClr val="8FA98E"/>
              </a:solidFill>
              <a:effectLst/>
            </c:spPr>
          </c:dPt>
          <c:dPt>
            <c:idx val="4"/>
            <c:bubble3D val="0"/>
            <c:spPr>
              <a:solidFill>
                <a:srgbClr val="B9A67A"/>
              </a:solidFill>
              <a:effectLst/>
            </c:spPr>
          </c:dPt>
          <c:dPt>
            <c:idx val="5"/>
            <c:bubble3D val="0"/>
            <c:spPr>
              <a:solidFill>
                <a:srgbClr val="D9CBA6"/>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Marketing: cold email, ads and outreach</c:v>
                </c:pt>
                <c:pt idx="1">
                  <c:v>Founder salary: 18 months full-time</c:v>
                </c:pt>
                <c:pt idx="2">
                  <c:v>Apps 3–10 with AppForge (Phase 2 only)</c:v>
                </c:pt>
                <c:pt idx="3">
                  <c:v>AI, hosting and infrastructure</c:v>
                </c:pt>
                <c:pt idx="4">
                  <c:v>Legal, accounting and operations</c:v>
                </c:pt>
                <c:pt idx="5">
                  <c:v>Reserve</c:v>
                </c:pt>
              </c:strCache>
            </c:strRef>
          </c:cat>
          <c:val>
            <c:numRef>
              <c:f>Sheet1!$B$2:$B$7</c:f>
              <c:numCache>
                <c:ptCount val="6"/>
                <c:pt idx="0">
                  <c:v>160</c:v>
                </c:pt>
                <c:pt idx="1">
                  <c:v>120</c:v>
                </c:pt>
                <c:pt idx="2">
                  <c:v>90</c:v>
                </c:pt>
                <c:pt idx="3">
                  <c:v>30</c:v>
                </c:pt>
                <c:pt idx="4">
                  <c:v>25</c:v>
                </c:pt>
                <c:pt idx="5">
                  <c:v>25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Cedarworks Apps is a Springfield, Missouri AI app studio. We build focused, subscription AI apps for specific professions. Two are live in the Apple App Store and Google Play today. We also built AppForge, our in-house app factory, which finds proven app ideas, writes the code and builds the marketing. We're raising a $450K pre-seed round so I can build full-time, market our two apps and launch eight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story in one slide. We build focused AI apps for specific professions. Two are live. For the next six months we focus on proving those two apps can win paying customers; new apps built with AppForge, our in-house app factory, unlock only after we reach 150 paying subscribers. We're raising $450,000 to make that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skilled professionals spend hours every week on repeatable work that AI could speed up, but generic AI makes them do the translating. Pastors carry a week of writing and teaching prep, often alone, which leaves less time for their people. Sales reps have nowhere affordable to practice before a real call. I've seen both first-hand: my bishop's workload, and 40 years of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platform for focused apps. Each app does one job for one profession, and they all share our code, AI stack, operating system and sales model, so each new app is cheaper to launch and run. Two are live. Apps 3 to 10 are planned, but they only unlock after the first two reach 150 paying subscribers.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PastorAI puts the tools that fill a pastor's week in one place: sermons, series planning, Bible studies, social media, devotionals, children's lessons, translation into 10 languages and sermon rehearsal. It's live on iOS, Android and the web at $47 a month after a 14-day free trial, with about 15 trial users. One of them, Pastor Dennis, told us: 'This will save me so much time. It's a great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Room lets sales reps rehearse on an AI prospect that talks back out loud. Reps choose a drill, a difficulty and a prospect from 18+ industries, then get graded by an AI coach. They can also upload their real calls for the same scorecard. It's $29 a month or $249 a year, live on iOS, Android and the web, with about 15 trial users. It's built on what I learned in 40 years of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AppForge is the engine behind the plan to go from 2 apps to 10. It works in four steps. Know: it learns about the business and the owner. Find: it finds app ideas with proven demand. Build: it plans the app and writes the code. Market: it builds the marketing funnel. The next four slides walk through each step. AppForge is internal only: it's our competitive advantage, not something we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where we are: the products are built, live on three platforms, with subscriptions and free trials working, and about 30 people on trials. We don't have paying customers yet. Proving people will pay is the first job of this round: in the next 90 days we're aiming for 75 paying subscribers, about $2,850 a month in revenue, at least 20% of trials converting and fewer than 6% of subscribers cancelling each month. We'll report these to investors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stay focused. Phase one, the first six months, is only about proving PastorAI and Ready Room: cold email and marketing to win paying customers, learning which channels work, and adding team plans. Only when the two apps reach 150 paying subscribers do we unlock phase two, launching apps 3 to 10 with AppForge, about one every six weeks, each using the sales playbook we proved in phase one. The money for new apps is held until that milestone. It's one company because every app shares the same platform, pipeline and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market stands on its own. PastorAI: roughly 300,000+ U.S. congregations at $564 a year is about $169 million, before larger deals. The path grows from individual pastors to church-staff plans to denominations and church networks buying for hundreds of churches at once. Ready Room: about 1.5 million U.S. B2B sales reps at $348 a year is about $522 million, growing from individual reps to team plans to company-wide sales training. About 30% of these markets is reachable online, and our three-year goal is about $2 million a year in revenue, with organization plans and new apps as 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PastorAI's competitors. General AI like ChatGPT is the main indirect competitor, but pastors have to do all the prompting. Logos is a Bible study and research library. Pulpit AI turns a recorded sermon into clips and posts after Sunday. Gloo is a church engagement and growth platform. PastorAI's edge is one simple dashboard that creates the whole week's content, before and after the sermon, for $47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Room's competitors. Second Nature and Hyperbound offer AI role-play, sold mainly to company sales teams. Gong analyzes recorded calls for large sales organizations. And many reps simply practice with a manager when someone has time. Ready Room serves the individual reps and small teams the big players skip, at $29 a month, then grows into team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make money from subscriptions: monthly or annual plans after a free trial. Next come per-seat team plans for church staffs and sales teams, and then organization plans, where a denomination, church network or company buys for many users at once. After app-store fees and AI costs we expect to keep 68 to 77% of revenue, and each subscriber should be worth about three times what it costs to win them. The appendix has the full unit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channel is cold email, starting immediately: targeted campaigns to pastors and church leaders for PastorAI, and to sales reps and sales managers for Ready Room. It's low-cost and fast, and AppForge's One-to-Many Emails tool writes the campaigns. The biggest use of funds is winning customers. Alongside cold email we'll run small, measured tests on each channel, then put more money into whichever channels win paying subscribers most cheaply. AppForge writes the emails, posts, ads and presentations, so marketing each app takes far less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the founder. I have a degree in computer science and more than 40 years in sales across different industries, so I can build the products and sell them. I designed and shipped PastorAI and Ready Room, including Ready Room's voice AI, on iOS, Android and the web by myself, and built AppForge and Business HQ so one small team can run many apps. I've lived both problems: I saw my bishop's workload, and I spent decades selling. With this round I go full-time, add a part-time growth marketer for cold email and ads, and in phase two a contract developer. I'm recruiting advisors in ministry, sales training and software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three-year model, built up from subscriber numbers. Paying subscribers grow from 650 at the end of year 1 to 4,500 at the end of year 3, which is an annual revenue run-rate of about $2 million. After app-store fees, AI and hosting we keep about 73% of revenue. We lose money in years 1 and 2, burning about $21,000 a month in year 1 and $13,000 in year 2, and break even in year 3. The $450,000 covers about 18 months with roughly $120,000 left when we raise a seed round. These are projections, not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$450,000 goes and what it buys. $160,000 goes to marketing, led by cold email. $120,000 is my salary for 18 months so I can work full-time. $90,000 builds apps 3 to 10 with AppForge, but it's only spent after phase one hits 150 paying subscribers. The rest covers AI and hosting, legal and operations, and a reserve. Milestones: 75 paying subscribers by month 3, 150 by month 6, 650 and four new apps by month 12, and about 1,000 paying subscribers across 10 apps by month 18, when we raise a seed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raising $450,000 pre-seed. It puts me on Cedarworks full-time, funds cold email and marketing to win paying users, and, once we hit 150 paying subscribers, funds AppForge apps 3 to 10. The goal is about 1,000 paying subscribers by month 18, then a seed round. The appendix that follows has the app screens, AppForge in detail, unit economics and key terms. Thank you. I'd love to show you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has more detail for anyone who wants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PastorAI home screen. Every tool is one click away. A pastor picks a tool, answers a few questions, and gets a finished draft in their own voice. The free trial and upgrade are built in, so trials turn into subscriptions inside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Ready Room's practice screen. A rep picks a drill and a difficulty, then picks a prospect, like a homeowner considering a new roof. The AI prospect talks back, and an AI coach scores the call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Know. The Brain stores what the AI should know about the owner and the business, in seven areas: business, offers and products, audience, brand voice, story, goals and competitors. Everything else in AppForge starts from it, so app ideas fit the owner's strengths and marketing sounds like them. The Chief of Staff is an AI business partner grounded in the Brain: you ask it questions, it researches the answers and helps decide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Find. Instead of guessing, AppForge starts from apps people already pay for. The Top 100 Apps Explorer ranks top-grossing apps by category and business model. One click on 'Build a better version' starts a new project aimed at a niche the big apps don't serve well, the way PastorAI focuses on pastors. App Types and Opportunities suggest scored ideas, and Market Analysis and the Viability Scorer check demand, competition and fit before we build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Build. Each app gets a project workspace. AppForge picks the tech stack, reusing the AI, voice and billing setup we already proved in PastorAI and Ready Room, then generates the working app code and writes the app store listing. Every new app also plugs into Business HQ, our shared operating system of dashboards, goals, key metrics and procedures, which is how one small team can run ten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is Market. AppForge builds a funnel for each app: ads and social posts attract people, cold emails and presentations engage them, the free trial converts them, and they subscribe. Attractive Character builds the brand persona and story, Framework Extractor turns know-how into frameworks the content is built on, and the One-to-Many tools write the emails, social posts, ads and presentations. All of it comes from the Brain, so it sounds like the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AppForge turns building apps into a repeatable process. New apps start from proven demand, take less time because AppForge writes the code, cost less because everything is shared, and launch with marketing ready. To be clear, PastorAI and Ready Room were built before AppForge; everything we learned building them went into it. Apps 3 through 10 will be the first built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AI costs have dropped enough to support affordable subscription apps; professionals have tried generic AI and want tools built for their work; and app stores plus AppForge let a small studio launch quickly. Our customers start with pastors, church staff and individual sales reps, expand to group plans, then to new niches AppForge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in plain terms. After the app-store fee and AI costs, we keep roughly 77% of PastorAI revenue and 68% of Ready Room revenue. If the average subscriber stays about 20 months, a PastorAI subscriber is worth about $720 in profit and a Ready Room subscriber about $390. We'll spend no more than a third of that to win each customer, so we earn the cost back in about seven months. These are assumptions until we have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for the business terms used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D28"/>
        </a:solidFill>
      </p:bgPr>
    </p:bg>
    <p:spTree>
      <p:nvGrpSpPr>
        <p:cNvPr id="1" name=""/>
        <p:cNvGrpSpPr/>
        <p:nvPr/>
      </p:nvGrpSpPr>
      <p:grpSpPr>
        <a:xfrm>
          <a:off x="0" y="0"/>
          <a:ext cx="0" cy="0"/>
          <a:chOff x="0" y="0"/>
          <a:chExt cx="0" cy="0"/>
        </a:xfrm>
      </p:grpSpPr>
      <p:sp>
        <p:nvSpPr>
          <p:cNvPr id="2" name="Shape 0"/>
          <p:cNvSpPr/>
          <p:nvPr/>
        </p:nvSpPr>
        <p:spPr>
          <a:xfrm>
            <a:off x="457200" y="502920"/>
            <a:ext cx="731520" cy="731520"/>
          </a:xfrm>
          <a:prstGeom prst="ellipse">
            <a:avLst/>
          </a:prstGeom>
          <a:solidFill>
            <a:srgbClr val="143D28"/>
          </a:solidFill>
          <a:ln w="19050">
            <a:solidFill>
              <a:srgbClr val="D98B3C"/>
            </a:solidFill>
            <a:prstDash val="solid"/>
          </a:ln>
        </p:spPr>
      </p:sp>
      <p:pic>
        <p:nvPicPr>
          <p:cNvPr id="3" name="Image 0" descr="preencoded.png">    </p:cNvPr>
          <p:cNvPicPr>
            <a:picLocks noChangeAspect="1"/>
          </p:cNvPicPr>
          <p:nvPr/>
        </p:nvPicPr>
        <p:blipFill>
          <a:blip r:embed="rId1"/>
          <a:stretch>
            <a:fillRect/>
          </a:stretch>
        </p:blipFill>
        <p:spPr>
          <a:xfrm>
            <a:off x="618134" y="663854"/>
            <a:ext cx="409651" cy="409651"/>
          </a:xfrm>
          <a:prstGeom prst="rect">
            <a:avLst/>
          </a:prstGeom>
        </p:spPr>
      </p:pic>
      <p:sp>
        <p:nvSpPr>
          <p:cNvPr id="4" name="Text 1"/>
          <p:cNvSpPr txBox="1"/>
          <p:nvPr/>
        </p:nvSpPr>
        <p:spPr>
          <a:xfrm>
            <a:off x="1371600" y="658368"/>
            <a:ext cx="4572000" cy="411480"/>
          </a:xfrm>
          <a:prstGeom prst="rect">
            <a:avLst/>
          </a:prstGeom>
          <a:noFill/>
          <a:ln/>
        </p:spPr>
        <p:txBody>
          <a:bodyPr wrap="square" lIns="0" tIns="0" rIns="0" bIns="0" rtlCol="0" anchor="ctr"/>
          <a:lstStyle/>
          <a:p>
            <a:pPr indent="0" marL="0">
              <a:buNone/>
            </a:pPr>
            <a:r>
              <a:rPr lang="en-US" sz="1600" b="1" dirty="0">
                <a:solidFill>
                  <a:srgbClr val="F4EBD5"/>
                </a:solidFill>
                <a:latin typeface="Calibri" pitchFamily="34" charset="0"/>
                <a:ea typeface="Calibri" pitchFamily="34" charset="-122"/>
                <a:cs typeface="Calibri" pitchFamily="34" charset="-120"/>
              </a:rPr>
              <a:t>CEDARWORKS APPS</a:t>
            </a:r>
            <a:endParaRPr lang="en-US" sz="1600" dirty="0"/>
          </a:p>
        </p:txBody>
      </p:sp>
      <p:sp>
        <p:nvSpPr>
          <p:cNvPr id="5" name="Text 2"/>
          <p:cNvSpPr txBox="1"/>
          <p:nvPr/>
        </p:nvSpPr>
        <p:spPr>
          <a:xfrm>
            <a:off x="457200" y="1463040"/>
            <a:ext cx="6035040" cy="1554480"/>
          </a:xfrm>
          <a:prstGeom prst="rect">
            <a:avLst/>
          </a:prstGeom>
          <a:noFill/>
          <a:ln/>
        </p:spPr>
        <p:txBody>
          <a:bodyPr wrap="square" lIns="0" tIns="0" rIns="0" bIns="0" rtlCol="0" anchor="t"/>
          <a:lstStyle/>
          <a:p>
            <a:pPr indent="0" marL="0">
              <a:buNone/>
            </a:pPr>
            <a:r>
              <a:rPr lang="en-US" sz="4000" b="1" dirty="0">
                <a:solidFill>
                  <a:srgbClr val="F4EBD5"/>
                </a:solidFill>
                <a:latin typeface="Cambria" pitchFamily="34" charset="0"/>
                <a:ea typeface="Cambria" pitchFamily="34" charset="-122"/>
                <a:cs typeface="Cambria" pitchFamily="34" charset="-120"/>
              </a:rPr>
              <a:t>Practical AI apps,</a:t>
            </a:r>
            <a:endParaRPr lang="en-US" sz="4000" dirty="0"/>
          </a:p>
          <a:p>
            <a:pPr indent="0" marL="0">
              <a:buNone/>
            </a:pPr>
            <a:r>
              <a:rPr lang="en-US" sz="4000" b="1" dirty="0">
                <a:solidFill>
                  <a:srgbClr val="F4EBD5"/>
                </a:solidFill>
                <a:latin typeface="Cambria" pitchFamily="34" charset="0"/>
                <a:ea typeface="Cambria" pitchFamily="34" charset="-122"/>
                <a:cs typeface="Cambria" pitchFamily="34" charset="-120"/>
              </a:rPr>
              <a:t>built to do real work.</a:t>
            </a:r>
            <a:endParaRPr lang="en-US" sz="4000" dirty="0"/>
          </a:p>
        </p:txBody>
      </p:sp>
      <p:sp>
        <p:nvSpPr>
          <p:cNvPr id="6" name="Text 3"/>
          <p:cNvSpPr txBox="1"/>
          <p:nvPr/>
        </p:nvSpPr>
        <p:spPr>
          <a:xfrm>
            <a:off x="457200" y="3108960"/>
            <a:ext cx="5760720" cy="822960"/>
          </a:xfrm>
          <a:prstGeom prst="rect">
            <a:avLst/>
          </a:prstGeom>
          <a:noFill/>
          <a:ln/>
        </p:spPr>
        <p:txBody>
          <a:bodyPr wrap="square" lIns="0" tIns="0" rIns="0" bIns="0" rtlCol="0" anchor="t"/>
          <a:lstStyle/>
          <a:p>
            <a:pPr indent="0" marL="0">
              <a:buNone/>
            </a:pPr>
            <a:r>
              <a:rPr lang="en-US" sz="1600" i="1" dirty="0">
                <a:solidFill>
                  <a:srgbClr val="B7CDB6"/>
                </a:solidFill>
                <a:latin typeface="Cambria" pitchFamily="34" charset="0"/>
                <a:ea typeface="Cambria" pitchFamily="34" charset="-122"/>
                <a:cs typeface="Cambria" pitchFamily="34" charset="-120"/>
              </a:rPr>
              <a:t>An AI app studio with two apps live in the app stores today, and AppForge, our in-house app factory, to build the next eight.</a:t>
            </a:r>
            <a:endParaRPr lang="en-US" sz="1600" dirty="0"/>
          </a:p>
        </p:txBody>
      </p:sp>
      <p:sp>
        <p:nvSpPr>
          <p:cNvPr id="7" name="Shape 4"/>
          <p:cNvSpPr/>
          <p:nvPr/>
        </p:nvSpPr>
        <p:spPr>
          <a:xfrm>
            <a:off x="6583680" y="1554480"/>
            <a:ext cx="2103120" cy="1463040"/>
          </a:xfrm>
          <a:prstGeom prst="roundRect">
            <a:avLst>
              <a:gd name="adj" fmla="val 6250"/>
            </a:avLst>
          </a:prstGeom>
          <a:solidFill>
            <a:srgbClr val="1E5238"/>
          </a:solidFill>
          <a:ln w="15875">
            <a:solidFill>
              <a:srgbClr val="D98B3C"/>
            </a:solidFill>
            <a:prstDash val="solid"/>
          </a:ln>
        </p:spPr>
      </p:sp>
      <p:sp>
        <p:nvSpPr>
          <p:cNvPr id="8" name="Text 5"/>
          <p:cNvSpPr txBox="1"/>
          <p:nvPr/>
        </p:nvSpPr>
        <p:spPr>
          <a:xfrm>
            <a:off x="6583680" y="1627632"/>
            <a:ext cx="2103120" cy="1325880"/>
          </a:xfrm>
          <a:prstGeom prst="rect">
            <a:avLst/>
          </a:prstGeom>
          <a:noFill/>
          <a:ln/>
        </p:spPr>
        <p:txBody>
          <a:bodyPr wrap="square" lIns="0" tIns="0" rIns="0" bIns="0" rtlCol="0" anchor="ctr"/>
          <a:lstStyle/>
          <a:p>
            <a:pPr algn="ctr" indent="0" marL="0">
              <a:buNone/>
            </a:pPr>
            <a:r>
              <a:rPr lang="en-US" sz="1200" b="1" dirty="0">
                <a:solidFill>
                  <a:srgbClr val="D98B3C"/>
                </a:solidFill>
                <a:latin typeface="Calibri" pitchFamily="34" charset="0"/>
                <a:ea typeface="Calibri" pitchFamily="34" charset="-122"/>
                <a:cs typeface="Calibri" pitchFamily="34" charset="-120"/>
              </a:rPr>
              <a:t>Pre-seed round</a:t>
            </a:r>
            <a:endParaRPr lang="en-US" sz="1200" dirty="0"/>
          </a:p>
          <a:p>
            <a:pPr algn="ctr" indent="0" marL="0">
              <a:buNone/>
            </a:pPr>
            <a:r>
              <a:rPr lang="en-US" sz="3800" b="1" dirty="0">
                <a:solidFill>
                  <a:srgbClr val="F4EBD5"/>
                </a:solidFill>
                <a:latin typeface="Cambria" pitchFamily="34" charset="0"/>
                <a:ea typeface="Cambria" pitchFamily="34" charset="-122"/>
                <a:cs typeface="Cambria" pitchFamily="34" charset="-120"/>
              </a:rPr>
              <a:t>$450K</a:t>
            </a:r>
            <a:endParaRPr lang="en-US" sz="1200" dirty="0"/>
          </a:p>
          <a:p>
            <a:pPr algn="ctr" indent="0" marL="0">
              <a:buNone/>
            </a:pPr>
            <a:r>
              <a:rPr lang="en-US" sz="1200" dirty="0">
                <a:solidFill>
                  <a:srgbClr val="B7CDB6"/>
                </a:solidFill>
                <a:latin typeface="Calibri" pitchFamily="34" charset="0"/>
                <a:ea typeface="Calibri" pitchFamily="34" charset="-122"/>
                <a:cs typeface="Calibri" pitchFamily="34" charset="-120"/>
              </a:rPr>
              <a:t>Springfield, MO</a:t>
            </a:r>
            <a:endParaRPr lang="en-US" sz="1200" dirty="0"/>
          </a:p>
        </p:txBody>
      </p:sp>
      <p:sp>
        <p:nvSpPr>
          <p:cNvPr id="9" name="Text 6"/>
          <p:cNvSpPr txBox="1"/>
          <p:nvPr/>
        </p:nvSpPr>
        <p:spPr>
          <a:xfrm>
            <a:off x="457200" y="4069080"/>
            <a:ext cx="8229600" cy="502920"/>
          </a:xfrm>
          <a:prstGeom prst="rect">
            <a:avLst/>
          </a:prstGeom>
          <a:noFill/>
          <a:ln/>
        </p:spPr>
        <p:txBody>
          <a:bodyPr wrap="square" lIns="0" tIns="0" rIns="0" bIns="0" rtlCol="0" anchor="t"/>
          <a:lstStyle/>
          <a:p>
            <a:pPr indent="0" marL="0">
              <a:lnSpc>
                <a:spcPct val="115000"/>
              </a:lnSpc>
              <a:buNone/>
            </a:pPr>
            <a:r>
              <a:rPr lang="en-US" sz="1200" dirty="0">
                <a:solidFill>
                  <a:srgbClr val="F4EBD5"/>
                </a:solidFill>
                <a:latin typeface="Calibri" pitchFamily="34" charset="0"/>
                <a:ea typeface="Calibri" pitchFamily="34" charset="-122"/>
                <a:cs typeface="Calibri" pitchFamily="34" charset="-120"/>
              </a:rPr>
              <a:t>James Chambers, Founder  ·  James@cedarworksapps.com  ·  cedarworksapps.com</a:t>
            </a:r>
            <a:endParaRPr lang="en-US" sz="1200" dirty="0"/>
          </a:p>
          <a:p>
            <a:pPr indent="0" marL="0">
              <a:lnSpc>
                <a:spcPct val="115000"/>
              </a:lnSpc>
              <a:buNone/>
            </a:pPr>
            <a:r>
              <a:rPr lang="en-US" sz="1200" dirty="0">
                <a:solidFill>
                  <a:srgbClr val="F4EBD5"/>
                </a:solidFill>
                <a:latin typeface="Calibri" pitchFamily="34" charset="0"/>
                <a:ea typeface="Calibri" pitchFamily="34" charset="-122"/>
                <a:cs typeface="Calibri" pitchFamily="34" charset="-120"/>
              </a:rPr>
              <a:t>Office 417-370-2084</a:t>
            </a:r>
            <a:endParaRPr lang="en-US" sz="1200" dirty="0"/>
          </a:p>
        </p:txBody>
      </p:sp>
      <p:sp>
        <p:nvSpPr>
          <p:cNvPr id="11" name="Text 7"/>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B7CDB6"/>
                </a:solidFill>
                <a:latin typeface="Calibri" pitchFamily="34" charset="0"/>
                <a:ea typeface="Calibri" pitchFamily="34" charset="-122"/>
                <a:cs typeface="Calibri" pitchFamily="34" charset="-120"/>
              </a:rPr>
              <a:t>Cedarworks Apps  ·  Confidential</a:t>
            </a:r>
            <a:endParaRPr lang="en-US" sz="900" dirty="0"/>
          </a:p>
        </p:txBody>
      </p:sp>
      <p:sp>
        <p:nvSpPr>
          <p:cNvPr id="12" name="Text 8"/>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B7CDB6"/>
                </a:solidFill>
                <a:latin typeface="Calibri" pitchFamily="34" charset="0"/>
                <a:ea typeface="Calibri" pitchFamily="34" charset="-122"/>
                <a:cs typeface="Calibri" pitchFamily="34" charset="-120"/>
              </a:rPr>
              <a:t>1 / 29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Executive Summary</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Cedarworks Apps in one minute</a:t>
            </a:r>
            <a:endParaRPr lang="en-US" sz="2600" dirty="0"/>
          </a:p>
        </p:txBody>
      </p:sp>
      <p:sp>
        <p:nvSpPr>
          <p:cNvPr id="4" name="Shape 2"/>
          <p:cNvSpPr/>
          <p:nvPr/>
        </p:nvSpPr>
        <p:spPr>
          <a:xfrm>
            <a:off x="457200" y="1417320"/>
            <a:ext cx="4023360" cy="1417320"/>
          </a:xfrm>
          <a:prstGeom prst="roundRect">
            <a:avLst>
              <a:gd name="adj" fmla="val 5161"/>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58368" y="1645920"/>
            <a:ext cx="548640" cy="548640"/>
          </a:xfrm>
          <a:prstGeom prst="ellipse">
            <a:avLst/>
          </a:prstGeom>
          <a:solidFill>
            <a:srgbClr val="FFFFFF"/>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801014" y="1788566"/>
            <a:ext cx="263347" cy="263347"/>
          </a:xfrm>
          <a:prstGeom prst="rect">
            <a:avLst/>
          </a:prstGeom>
        </p:spPr>
      </p:pic>
      <p:sp>
        <p:nvSpPr>
          <p:cNvPr id="7" name="Text 4"/>
          <p:cNvSpPr txBox="1"/>
          <p:nvPr/>
        </p:nvSpPr>
        <p:spPr>
          <a:xfrm>
            <a:off x="1371600" y="1618488"/>
            <a:ext cx="292608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What we do</a:t>
            </a:r>
            <a:endParaRPr lang="en-US" sz="1600" dirty="0"/>
          </a:p>
        </p:txBody>
      </p:sp>
      <p:sp>
        <p:nvSpPr>
          <p:cNvPr id="8" name="Text 5"/>
          <p:cNvSpPr txBox="1"/>
          <p:nvPr/>
        </p:nvSpPr>
        <p:spPr>
          <a:xfrm>
            <a:off x="1371600" y="1947672"/>
            <a:ext cx="2971800" cy="82296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We build focused AI apps for specific professions and sell them as subscriptions.</a:t>
            </a:r>
            <a:endParaRPr lang="en-US" sz="1300" dirty="0"/>
          </a:p>
        </p:txBody>
      </p:sp>
      <p:sp>
        <p:nvSpPr>
          <p:cNvPr id="9" name="Shape 6"/>
          <p:cNvSpPr/>
          <p:nvPr/>
        </p:nvSpPr>
        <p:spPr>
          <a:xfrm>
            <a:off x="4663440" y="1417320"/>
            <a:ext cx="4023360" cy="1417320"/>
          </a:xfrm>
          <a:prstGeom prst="roundRect">
            <a:avLst>
              <a:gd name="adj" fmla="val 5161"/>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4864608" y="1645920"/>
            <a:ext cx="548640" cy="548640"/>
          </a:xfrm>
          <a:prstGeom prst="ellipse">
            <a:avLst/>
          </a:prstGeom>
          <a:solidFill>
            <a:srgbClr val="FFFFFF"/>
          </a:solidFill>
          <a:ln w="19050">
            <a:solidFill>
              <a:srgbClr val="D98B3C"/>
            </a:solidFill>
            <a:prstDash val="solid"/>
          </a:ln>
        </p:spPr>
      </p:sp>
      <p:pic>
        <p:nvPicPr>
          <p:cNvPr id="11" name="Image 1" descr="preencoded.png">    </p:cNvPr>
          <p:cNvPicPr>
            <a:picLocks noChangeAspect="1"/>
          </p:cNvPicPr>
          <p:nvPr/>
        </p:nvPicPr>
        <p:blipFill>
          <a:blip r:embed="rId2"/>
          <a:stretch>
            <a:fillRect/>
          </a:stretch>
        </p:blipFill>
        <p:spPr>
          <a:xfrm>
            <a:off x="5007254" y="1788566"/>
            <a:ext cx="263347" cy="263347"/>
          </a:xfrm>
          <a:prstGeom prst="rect">
            <a:avLst/>
          </a:prstGeom>
        </p:spPr>
      </p:pic>
      <p:sp>
        <p:nvSpPr>
          <p:cNvPr id="12" name="Text 8"/>
          <p:cNvSpPr txBox="1"/>
          <p:nvPr/>
        </p:nvSpPr>
        <p:spPr>
          <a:xfrm>
            <a:off x="5577840" y="1618488"/>
            <a:ext cx="292608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Live today</a:t>
            </a:r>
            <a:endParaRPr lang="en-US" sz="1600" dirty="0"/>
          </a:p>
        </p:txBody>
      </p:sp>
      <p:sp>
        <p:nvSpPr>
          <p:cNvPr id="13" name="Text 9"/>
          <p:cNvSpPr txBox="1"/>
          <p:nvPr/>
        </p:nvSpPr>
        <p:spPr>
          <a:xfrm>
            <a:off x="5577840" y="1947672"/>
            <a:ext cx="2971800" cy="82296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PastorAI ($47/mo) for pastors and Ready Room ($29/mo) for sales reps, on iOS, Android and web.</a:t>
            </a:r>
            <a:endParaRPr lang="en-US" sz="1300" dirty="0"/>
          </a:p>
        </p:txBody>
      </p:sp>
      <p:sp>
        <p:nvSpPr>
          <p:cNvPr id="14" name="Shape 10"/>
          <p:cNvSpPr/>
          <p:nvPr/>
        </p:nvSpPr>
        <p:spPr>
          <a:xfrm>
            <a:off x="457200" y="3017520"/>
            <a:ext cx="4023360" cy="1417320"/>
          </a:xfrm>
          <a:prstGeom prst="roundRect">
            <a:avLst>
              <a:gd name="adj" fmla="val 5161"/>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5" name="Shape 11"/>
          <p:cNvSpPr/>
          <p:nvPr/>
        </p:nvSpPr>
        <p:spPr>
          <a:xfrm>
            <a:off x="658368" y="3246120"/>
            <a:ext cx="548640" cy="548640"/>
          </a:xfrm>
          <a:prstGeom prst="ellipse">
            <a:avLst/>
          </a:prstGeom>
          <a:solidFill>
            <a:srgbClr val="FFFFFF"/>
          </a:solidFill>
          <a:ln w="19050">
            <a:solidFill>
              <a:srgbClr val="D98B3C"/>
            </a:solidFill>
            <a:prstDash val="solid"/>
          </a:ln>
        </p:spPr>
      </p:sp>
      <p:pic>
        <p:nvPicPr>
          <p:cNvPr id="16" name="Image 2" descr="preencoded.png">    </p:cNvPr>
          <p:cNvPicPr>
            <a:picLocks noChangeAspect="1"/>
          </p:cNvPicPr>
          <p:nvPr/>
        </p:nvPicPr>
        <p:blipFill>
          <a:blip r:embed="rId3"/>
          <a:stretch>
            <a:fillRect/>
          </a:stretch>
        </p:blipFill>
        <p:spPr>
          <a:xfrm>
            <a:off x="801014" y="3388766"/>
            <a:ext cx="263347" cy="263347"/>
          </a:xfrm>
          <a:prstGeom prst="rect">
            <a:avLst/>
          </a:prstGeom>
        </p:spPr>
      </p:pic>
      <p:sp>
        <p:nvSpPr>
          <p:cNvPr id="17" name="Text 12"/>
          <p:cNvSpPr txBox="1"/>
          <p:nvPr/>
        </p:nvSpPr>
        <p:spPr>
          <a:xfrm>
            <a:off x="1371600" y="3218688"/>
            <a:ext cx="292608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Focus first</a:t>
            </a:r>
            <a:endParaRPr lang="en-US" sz="1600" dirty="0"/>
          </a:p>
        </p:txBody>
      </p:sp>
      <p:sp>
        <p:nvSpPr>
          <p:cNvPr id="18" name="Text 13"/>
          <p:cNvSpPr txBox="1"/>
          <p:nvPr/>
        </p:nvSpPr>
        <p:spPr>
          <a:xfrm>
            <a:off x="1371600" y="3547872"/>
            <a:ext cx="2971800" cy="82296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The next 6 months prove these two apps. New apps unlock only after we hit 150 paying subscribers.</a:t>
            </a:r>
            <a:endParaRPr lang="en-US" sz="1300" dirty="0"/>
          </a:p>
        </p:txBody>
      </p:sp>
      <p:sp>
        <p:nvSpPr>
          <p:cNvPr id="19" name="Shape 14"/>
          <p:cNvSpPr/>
          <p:nvPr/>
        </p:nvSpPr>
        <p:spPr>
          <a:xfrm>
            <a:off x="4663440" y="3017520"/>
            <a:ext cx="4023360" cy="1417320"/>
          </a:xfrm>
          <a:prstGeom prst="roundRect">
            <a:avLst>
              <a:gd name="adj" fmla="val 5161"/>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20" name="Shape 15"/>
          <p:cNvSpPr/>
          <p:nvPr/>
        </p:nvSpPr>
        <p:spPr>
          <a:xfrm>
            <a:off x="4864608" y="3246120"/>
            <a:ext cx="548640" cy="548640"/>
          </a:xfrm>
          <a:prstGeom prst="ellipse">
            <a:avLst/>
          </a:prstGeom>
          <a:solidFill>
            <a:srgbClr val="FFFFFF"/>
          </a:solidFill>
          <a:ln w="19050">
            <a:solidFill>
              <a:srgbClr val="D98B3C"/>
            </a:solidFill>
            <a:prstDash val="solid"/>
          </a:ln>
        </p:spPr>
      </p:sp>
      <p:pic>
        <p:nvPicPr>
          <p:cNvPr id="21" name="Image 3" descr="preencoded.png">    </p:cNvPr>
          <p:cNvPicPr>
            <a:picLocks noChangeAspect="1"/>
          </p:cNvPicPr>
          <p:nvPr/>
        </p:nvPicPr>
        <p:blipFill>
          <a:blip r:embed="rId4"/>
          <a:stretch>
            <a:fillRect/>
          </a:stretch>
        </p:blipFill>
        <p:spPr>
          <a:xfrm>
            <a:off x="5007254" y="3388766"/>
            <a:ext cx="263347" cy="263347"/>
          </a:xfrm>
          <a:prstGeom prst="rect">
            <a:avLst/>
          </a:prstGeom>
        </p:spPr>
      </p:pic>
      <p:sp>
        <p:nvSpPr>
          <p:cNvPr id="22" name="Text 16"/>
          <p:cNvSpPr txBox="1"/>
          <p:nvPr/>
        </p:nvSpPr>
        <p:spPr>
          <a:xfrm>
            <a:off x="5577840" y="3218688"/>
            <a:ext cx="292608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The ask</a:t>
            </a:r>
            <a:endParaRPr lang="en-US" sz="1600" dirty="0"/>
          </a:p>
        </p:txBody>
      </p:sp>
      <p:sp>
        <p:nvSpPr>
          <p:cNvPr id="23" name="Text 17"/>
          <p:cNvSpPr txBox="1"/>
          <p:nvPr/>
        </p:nvSpPr>
        <p:spPr>
          <a:xfrm>
            <a:off x="5577840" y="3547872"/>
            <a:ext cx="2971800" cy="82296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$450,000 pre-seed: founder full-time, cold email and marketing, then AppForge apps 3–10.</a:t>
            </a:r>
            <a:endParaRPr lang="en-US" sz="1300" dirty="0"/>
          </a:p>
        </p:txBody>
      </p:sp>
      <p:sp>
        <p:nvSpPr>
          <p:cNvPr id="25" name="Text 18"/>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6" name="Text 19"/>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 / 29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Problem Statement  ·  Customer pain points</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Generic AI doesn't fit how pastors and reps work</a:t>
            </a:r>
            <a:endParaRPr lang="en-US" sz="2600" dirty="0"/>
          </a:p>
        </p:txBody>
      </p:sp>
      <p:sp>
        <p:nvSpPr>
          <p:cNvPr id="4" name="Shape 2"/>
          <p:cNvSpPr/>
          <p:nvPr/>
        </p:nvSpPr>
        <p:spPr>
          <a:xfrm>
            <a:off x="457200" y="1417320"/>
            <a:ext cx="530352" cy="530352"/>
          </a:xfrm>
          <a:prstGeom prst="ellipse">
            <a:avLst/>
          </a:prstGeom>
          <a:solidFill>
            <a:srgbClr val="FFFFFF"/>
          </a:solidFill>
          <a:ln w="19050">
            <a:solidFill>
              <a:srgbClr val="D98B3C"/>
            </a:solidFill>
            <a:prstDash val="solid"/>
          </a:ln>
        </p:spPr>
      </p:sp>
      <p:pic>
        <p:nvPicPr>
          <p:cNvPr id="5" name="Image 0" descr="preencoded.png">    </p:cNvPr>
          <p:cNvPicPr>
            <a:picLocks noChangeAspect="1"/>
          </p:cNvPicPr>
          <p:nvPr/>
        </p:nvPicPr>
        <p:blipFill>
          <a:blip r:embed="rId1"/>
          <a:stretch>
            <a:fillRect/>
          </a:stretch>
        </p:blipFill>
        <p:spPr>
          <a:xfrm>
            <a:off x="595092" y="1555212"/>
            <a:ext cx="254569" cy="254569"/>
          </a:xfrm>
          <a:prstGeom prst="rect">
            <a:avLst/>
          </a:prstGeom>
        </p:spPr>
      </p:pic>
      <p:sp>
        <p:nvSpPr>
          <p:cNvPr id="6" name="Text 3"/>
          <p:cNvSpPr txBox="1"/>
          <p:nvPr/>
        </p:nvSpPr>
        <p:spPr>
          <a:xfrm>
            <a:off x="1188720" y="1399032"/>
            <a:ext cx="749808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Pastors are overloaded</a:t>
            </a:r>
            <a:endParaRPr lang="en-US" sz="1600" dirty="0"/>
          </a:p>
        </p:txBody>
      </p:sp>
      <p:sp>
        <p:nvSpPr>
          <p:cNvPr id="7" name="Text 4"/>
          <p:cNvSpPr txBox="1"/>
          <p:nvPr/>
        </p:nvSpPr>
        <p:spPr>
          <a:xfrm>
            <a:off x="1188720" y="1709928"/>
            <a:ext cx="7498080" cy="640080"/>
          </a:xfrm>
          <a:prstGeom prst="rect">
            <a:avLst/>
          </a:prstGeom>
          <a:noFill/>
          <a:ln/>
        </p:spPr>
        <p:txBody>
          <a:bodyPr wrap="square" lIns="0" tIns="0" rIns="0" bIns="0" rtlCol="0" anchor="t"/>
          <a:lstStyle/>
          <a:p>
            <a:pPr indent="0" marL="0">
              <a:buNone/>
            </a:pPr>
            <a:r>
              <a:rPr lang="en-US" sz="1300" dirty="0">
                <a:solidFill>
                  <a:srgbClr val="4E5D53"/>
                </a:solidFill>
                <a:latin typeface="Calibri" pitchFamily="34" charset="0"/>
                <a:ea typeface="Calibri" pitchFamily="34" charset="-122"/>
                <a:cs typeface="Calibri" pitchFamily="34" charset="-120"/>
              </a:rPr>
              <a:t>Sermons, Bible studies, devotionals, kids' lessons and social posts fill every week, often with little or no staff. Most of it starts from a blank page, and it leaves little time for people.</a:t>
            </a:r>
            <a:endParaRPr lang="en-US" sz="1300" dirty="0"/>
          </a:p>
        </p:txBody>
      </p:sp>
      <p:sp>
        <p:nvSpPr>
          <p:cNvPr id="8" name="Shape 5"/>
          <p:cNvSpPr/>
          <p:nvPr/>
        </p:nvSpPr>
        <p:spPr>
          <a:xfrm>
            <a:off x="457200" y="2404872"/>
            <a:ext cx="530352" cy="530352"/>
          </a:xfrm>
          <a:prstGeom prst="ellipse">
            <a:avLst/>
          </a:prstGeom>
          <a:solidFill>
            <a:srgbClr val="FFFFFF"/>
          </a:solidFill>
          <a:ln w="19050">
            <a:solidFill>
              <a:srgbClr val="D98B3C"/>
            </a:solidFill>
            <a:prstDash val="solid"/>
          </a:ln>
        </p:spPr>
      </p:sp>
      <p:pic>
        <p:nvPicPr>
          <p:cNvPr id="9" name="Image 1" descr="preencoded.png">    </p:cNvPr>
          <p:cNvPicPr>
            <a:picLocks noChangeAspect="1"/>
          </p:cNvPicPr>
          <p:nvPr/>
        </p:nvPicPr>
        <p:blipFill>
          <a:blip r:embed="rId2"/>
          <a:stretch>
            <a:fillRect/>
          </a:stretch>
        </p:blipFill>
        <p:spPr>
          <a:xfrm>
            <a:off x="595092" y="2542764"/>
            <a:ext cx="254569" cy="254569"/>
          </a:xfrm>
          <a:prstGeom prst="rect">
            <a:avLst/>
          </a:prstGeom>
        </p:spPr>
      </p:pic>
      <p:sp>
        <p:nvSpPr>
          <p:cNvPr id="10" name="Text 6"/>
          <p:cNvSpPr txBox="1"/>
          <p:nvPr/>
        </p:nvSpPr>
        <p:spPr>
          <a:xfrm>
            <a:off x="1188720" y="2386584"/>
            <a:ext cx="749808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Sales reps practice on real prospects</a:t>
            </a:r>
            <a:endParaRPr lang="en-US" sz="1600" dirty="0"/>
          </a:p>
        </p:txBody>
      </p:sp>
      <p:sp>
        <p:nvSpPr>
          <p:cNvPr id="11" name="Text 7"/>
          <p:cNvSpPr txBox="1"/>
          <p:nvPr/>
        </p:nvSpPr>
        <p:spPr>
          <a:xfrm>
            <a:off x="1188720" y="2697480"/>
            <a:ext cx="7498080" cy="640080"/>
          </a:xfrm>
          <a:prstGeom prst="rect">
            <a:avLst/>
          </a:prstGeom>
          <a:noFill/>
          <a:ln/>
        </p:spPr>
        <p:txBody>
          <a:bodyPr wrap="square" lIns="0" tIns="0" rIns="0" bIns="0" rtlCol="0" anchor="t"/>
          <a:lstStyle/>
          <a:p>
            <a:pPr indent="0" marL="0">
              <a:buNone/>
            </a:pPr>
            <a:r>
              <a:rPr lang="en-US" sz="1300" dirty="0">
                <a:solidFill>
                  <a:srgbClr val="4E5D53"/>
                </a:solidFill>
                <a:latin typeface="Calibri" pitchFamily="34" charset="0"/>
                <a:ea typeface="Calibri" pitchFamily="34" charset="-122"/>
                <a:cs typeface="Calibri" pitchFamily="34" charset="-120"/>
              </a:rPr>
              <a:t>Reps learn to handle objections on live calls. One fumbled objection can cost a deal worth thousands in commission, and practice tools are mostly built for big companies.</a:t>
            </a:r>
            <a:endParaRPr lang="en-US" sz="1300" dirty="0"/>
          </a:p>
        </p:txBody>
      </p:sp>
      <p:sp>
        <p:nvSpPr>
          <p:cNvPr id="12" name="Shape 8"/>
          <p:cNvSpPr/>
          <p:nvPr/>
        </p:nvSpPr>
        <p:spPr>
          <a:xfrm>
            <a:off x="457200" y="3392424"/>
            <a:ext cx="530352" cy="530352"/>
          </a:xfrm>
          <a:prstGeom prst="ellipse">
            <a:avLst/>
          </a:prstGeom>
          <a:solidFill>
            <a:srgbClr val="FFFFFF"/>
          </a:solidFill>
          <a:ln w="19050">
            <a:solidFill>
              <a:srgbClr val="D98B3C"/>
            </a:solidFill>
            <a:prstDash val="solid"/>
          </a:ln>
        </p:spPr>
      </p:sp>
      <p:pic>
        <p:nvPicPr>
          <p:cNvPr id="13" name="Image 2" descr="preencoded.png">    </p:cNvPr>
          <p:cNvPicPr>
            <a:picLocks noChangeAspect="1"/>
          </p:cNvPicPr>
          <p:nvPr/>
        </p:nvPicPr>
        <p:blipFill>
          <a:blip r:embed="rId3"/>
          <a:stretch>
            <a:fillRect/>
          </a:stretch>
        </p:blipFill>
        <p:spPr>
          <a:xfrm>
            <a:off x="595092" y="3530316"/>
            <a:ext cx="254569" cy="254569"/>
          </a:xfrm>
          <a:prstGeom prst="rect">
            <a:avLst/>
          </a:prstGeom>
        </p:spPr>
      </p:pic>
      <p:sp>
        <p:nvSpPr>
          <p:cNvPr id="14" name="Text 9"/>
          <p:cNvSpPr txBox="1"/>
          <p:nvPr/>
        </p:nvSpPr>
        <p:spPr>
          <a:xfrm>
            <a:off x="1188720" y="3374136"/>
            <a:ext cx="749808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General chatbots don't close the gap</a:t>
            </a:r>
            <a:endParaRPr lang="en-US" sz="1600" dirty="0"/>
          </a:p>
        </p:txBody>
      </p:sp>
      <p:sp>
        <p:nvSpPr>
          <p:cNvPr id="15" name="Text 10"/>
          <p:cNvSpPr txBox="1"/>
          <p:nvPr/>
        </p:nvSpPr>
        <p:spPr>
          <a:xfrm>
            <a:off x="1188720" y="3685032"/>
            <a:ext cx="7498080" cy="640080"/>
          </a:xfrm>
          <a:prstGeom prst="rect">
            <a:avLst/>
          </a:prstGeom>
          <a:noFill/>
          <a:ln/>
        </p:spPr>
        <p:txBody>
          <a:bodyPr wrap="square" lIns="0" tIns="0" rIns="0" bIns="0" rtlCol="0" anchor="t"/>
          <a:lstStyle/>
          <a:p>
            <a:pPr indent="0" marL="0">
              <a:buNone/>
            </a:pPr>
            <a:r>
              <a:rPr lang="en-US" sz="1300" dirty="0">
                <a:solidFill>
                  <a:srgbClr val="4E5D53"/>
                </a:solidFill>
                <a:latin typeface="Calibri" pitchFamily="34" charset="0"/>
                <a:ea typeface="Calibri" pitchFamily="34" charset="-122"/>
                <a:cs typeface="Calibri" pitchFamily="34" charset="-120"/>
              </a:rPr>
              <a:t>Tools like ChatGPT don't know these jobs. People spend more time writing prompts than getting their work done.</a:t>
            </a:r>
            <a:endParaRPr lang="en-US" sz="1300" dirty="0"/>
          </a:p>
        </p:txBody>
      </p:sp>
      <p:sp>
        <p:nvSpPr>
          <p:cNvPr id="16" name="Text 11"/>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250" b="1" dirty="0">
                <a:solidFill>
                  <a:srgbClr val="143D28"/>
                </a:solidFill>
                <a:latin typeface="Calibri" pitchFamily="34" charset="0"/>
                <a:ea typeface="Calibri" pitchFamily="34" charset="-122"/>
                <a:cs typeface="Calibri" pitchFamily="34" charset="-120"/>
              </a:rPr>
              <a:t>Why we know: </a:t>
            </a:r>
            <a:pPr indent="0" marL="0">
              <a:buNone/>
            </a:pPr>
            <a:r>
              <a:rPr lang="en-US" sz="1250" dirty="0">
                <a:solidFill>
                  <a:srgbClr val="143D28"/>
                </a:solidFill>
                <a:latin typeface="Calibri" pitchFamily="34" charset="0"/>
                <a:ea typeface="Calibri" pitchFamily="34" charset="-122"/>
                <a:cs typeface="Calibri" pitchFamily="34" charset="-120"/>
              </a:rPr>
              <a:t>founder James Chambers watched his bishop's weekly workload, and spent 40+ years in sales.</a:t>
            </a:r>
            <a:endParaRPr lang="en-US" sz="1250" dirty="0"/>
          </a:p>
        </p:txBody>
      </p:sp>
      <p:sp>
        <p:nvSpPr>
          <p:cNvPr id="18" name="Text 12"/>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19" name="Text 13"/>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3 / 29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D28"/>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Solution &amp; Product  ·  What Cedarworks offers</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F4EBD5"/>
                </a:solidFill>
                <a:latin typeface="Cambria" pitchFamily="34" charset="0"/>
                <a:ea typeface="Cambria" pitchFamily="34" charset="-122"/>
                <a:cs typeface="Cambria" pitchFamily="34" charset="-120"/>
              </a:rPr>
              <a:t>One platform, focused AI apps</a:t>
            </a:r>
            <a:endParaRPr lang="en-US" sz="2600" dirty="0"/>
          </a:p>
        </p:txBody>
      </p:sp>
      <p:sp>
        <p:nvSpPr>
          <p:cNvPr id="4" name="Text 2"/>
          <p:cNvSpPr txBox="1"/>
          <p:nvPr/>
        </p:nvSpPr>
        <p:spPr>
          <a:xfrm>
            <a:off x="457200" y="1280160"/>
            <a:ext cx="8229600" cy="685800"/>
          </a:xfrm>
          <a:prstGeom prst="rect">
            <a:avLst/>
          </a:prstGeom>
          <a:noFill/>
          <a:ln/>
        </p:spPr>
        <p:txBody>
          <a:bodyPr wrap="square" lIns="0" tIns="0" rIns="0" bIns="0" rtlCol="0" anchor="t"/>
          <a:lstStyle/>
          <a:p>
            <a:pPr indent="0" marL="0">
              <a:buNone/>
            </a:pPr>
            <a:r>
              <a:rPr lang="en-US" sz="1400" dirty="0">
                <a:solidFill>
                  <a:srgbClr val="F4EBD5"/>
                </a:solidFill>
                <a:latin typeface="Calibri" pitchFamily="34" charset="0"/>
                <a:ea typeface="Calibri" pitchFamily="34" charset="-122"/>
                <a:cs typeface="Calibri" pitchFamily="34" charset="-120"/>
              </a:rPr>
              <a:t>Each app does one job for one profession, with no prompting needed. Every app runs on the same code, AI stack and operating system, and is sold the same way: a self-serve subscription with a free trial.</a:t>
            </a:r>
            <a:endParaRPr lang="en-US" sz="1400" dirty="0"/>
          </a:p>
        </p:txBody>
      </p:sp>
      <p:sp>
        <p:nvSpPr>
          <p:cNvPr id="5" name="Shape 3"/>
          <p:cNvSpPr/>
          <p:nvPr/>
        </p:nvSpPr>
        <p:spPr>
          <a:xfrm>
            <a:off x="457200" y="2148840"/>
            <a:ext cx="2148840" cy="2148840"/>
          </a:xfrm>
          <a:prstGeom prst="roundRect">
            <a:avLst>
              <a:gd name="adj" fmla="val 4255"/>
            </a:avLst>
          </a:prstGeom>
          <a:solidFill>
            <a:srgbClr val="1E5238"/>
          </a:solidFill>
          <a:ln w="19050">
            <a:solidFill>
              <a:srgbClr val="D98B3C"/>
            </a:solidFill>
            <a:prstDash val="solid"/>
          </a:ln>
        </p:spPr>
      </p:sp>
      <p:sp>
        <p:nvSpPr>
          <p:cNvPr id="6" name="Shape 4"/>
          <p:cNvSpPr/>
          <p:nvPr/>
        </p:nvSpPr>
        <p:spPr>
          <a:xfrm>
            <a:off x="1234440" y="2331720"/>
            <a:ext cx="594360" cy="594360"/>
          </a:xfrm>
          <a:prstGeom prst="ellipse">
            <a:avLst/>
          </a:prstGeom>
          <a:solidFill>
            <a:srgbClr val="1E5238"/>
          </a:solidFill>
          <a:ln w="19050">
            <a:solidFill>
              <a:srgbClr val="D98B3C"/>
            </a:solidFill>
            <a:prstDash val="solid"/>
          </a:ln>
        </p:spPr>
      </p:sp>
      <p:pic>
        <p:nvPicPr>
          <p:cNvPr id="7" name="Image 0" descr="preencoded.png">    </p:cNvPr>
          <p:cNvPicPr>
            <a:picLocks noChangeAspect="1"/>
          </p:cNvPicPr>
          <p:nvPr/>
        </p:nvPicPr>
        <p:blipFill>
          <a:blip r:embed="rId1"/>
          <a:stretch>
            <a:fillRect/>
          </a:stretch>
        </p:blipFill>
        <p:spPr>
          <a:xfrm>
            <a:off x="1388974" y="2486254"/>
            <a:ext cx="285293" cy="285293"/>
          </a:xfrm>
          <a:prstGeom prst="rect">
            <a:avLst/>
          </a:prstGeom>
        </p:spPr>
      </p:pic>
      <p:sp>
        <p:nvSpPr>
          <p:cNvPr id="8" name="Text 5"/>
          <p:cNvSpPr txBox="1"/>
          <p:nvPr/>
        </p:nvSpPr>
        <p:spPr>
          <a:xfrm>
            <a:off x="548640" y="3017520"/>
            <a:ext cx="1965960" cy="320040"/>
          </a:xfrm>
          <a:prstGeom prst="rect">
            <a:avLst/>
          </a:prstGeom>
          <a:noFill/>
          <a:ln/>
        </p:spPr>
        <p:txBody>
          <a:bodyPr wrap="square" lIns="0" tIns="0" rIns="0" bIns="0" rtlCol="0" anchor="t"/>
          <a:lstStyle/>
          <a:p>
            <a:pPr algn="ctr" indent="0" marL="0">
              <a:buNone/>
            </a:pPr>
            <a:r>
              <a:rPr lang="en-US" sz="1800" b="1" dirty="0">
                <a:solidFill>
                  <a:srgbClr val="F4EBD5"/>
                </a:solidFill>
                <a:latin typeface="Cambria" pitchFamily="34" charset="0"/>
                <a:ea typeface="Cambria" pitchFamily="34" charset="-122"/>
                <a:cs typeface="Cambria" pitchFamily="34" charset="-120"/>
              </a:rPr>
              <a:t>AppForge</a:t>
            </a:r>
            <a:endParaRPr lang="en-US" sz="1800" dirty="0"/>
          </a:p>
        </p:txBody>
      </p:sp>
      <p:sp>
        <p:nvSpPr>
          <p:cNvPr id="9" name="Text 6"/>
          <p:cNvSpPr txBox="1"/>
          <p:nvPr/>
        </p:nvSpPr>
        <p:spPr>
          <a:xfrm>
            <a:off x="548640" y="3364992"/>
            <a:ext cx="1965960" cy="548640"/>
          </a:xfrm>
          <a:prstGeom prst="rect">
            <a:avLst/>
          </a:prstGeom>
          <a:noFill/>
          <a:ln/>
        </p:spPr>
        <p:txBody>
          <a:bodyPr wrap="square" lIns="0" tIns="0" rIns="0" bIns="0" rtlCol="0" anchor="t"/>
          <a:lstStyle/>
          <a:p>
            <a:pPr algn="ctr" indent="0" marL="0">
              <a:buNone/>
            </a:pPr>
            <a:r>
              <a:rPr lang="en-US" sz="1250" dirty="0">
                <a:solidFill>
                  <a:srgbClr val="B7CDB6"/>
                </a:solidFill>
                <a:latin typeface="Calibri" pitchFamily="34" charset="0"/>
                <a:ea typeface="Calibri" pitchFamily="34" charset="-122"/>
                <a:cs typeface="Calibri" pitchFamily="34" charset="-120"/>
              </a:rPr>
              <a:t>our in-house app factory</a:t>
            </a:r>
            <a:endParaRPr lang="en-US" sz="1250" dirty="0"/>
          </a:p>
        </p:txBody>
      </p:sp>
      <p:sp>
        <p:nvSpPr>
          <p:cNvPr id="10" name="Text 7"/>
          <p:cNvSpPr txBox="1"/>
          <p:nvPr/>
        </p:nvSpPr>
        <p:spPr>
          <a:xfrm>
            <a:off x="2651760" y="2926080"/>
            <a:ext cx="411480" cy="457200"/>
          </a:xfrm>
          <a:prstGeom prst="rect">
            <a:avLst/>
          </a:prstGeom>
          <a:noFill/>
          <a:ln/>
        </p:spPr>
        <p:txBody>
          <a:bodyPr wrap="square" lIns="0" tIns="0" rIns="0" bIns="0" rtlCol="0" anchor="ctr"/>
          <a:lstStyle/>
          <a:p>
            <a:pPr algn="ctr" indent="0" marL="0">
              <a:buNone/>
            </a:pPr>
            <a:r>
              <a:rPr lang="en-US" sz="2800" dirty="0">
                <a:solidFill>
                  <a:srgbClr val="D98B3C"/>
                </a:solidFill>
                <a:latin typeface="Calibri" pitchFamily="34" charset="0"/>
                <a:ea typeface="Calibri" pitchFamily="34" charset="-122"/>
                <a:cs typeface="Calibri" pitchFamily="34" charset="-120"/>
              </a:rPr>
              <a:t>→</a:t>
            </a:r>
            <a:endParaRPr lang="en-US" sz="2800" dirty="0"/>
          </a:p>
        </p:txBody>
      </p:sp>
      <p:sp>
        <p:nvSpPr>
          <p:cNvPr id="11" name="Shape 8"/>
          <p:cNvSpPr/>
          <p:nvPr/>
        </p:nvSpPr>
        <p:spPr>
          <a:xfrm>
            <a:off x="3154680" y="2148840"/>
            <a:ext cx="1005840" cy="1005840"/>
          </a:xfrm>
          <a:prstGeom prst="roundRect">
            <a:avLst>
              <a:gd name="adj" fmla="val 7273"/>
            </a:avLst>
          </a:prstGeom>
          <a:solidFill>
            <a:srgbClr val="D98B3C"/>
          </a:solidFill>
          <a:ln w="12700">
            <a:solidFill>
              <a:srgbClr val="D98B3C"/>
            </a:solidFill>
            <a:prstDash val="solid"/>
          </a:ln>
        </p:spPr>
      </p:sp>
      <p:sp>
        <p:nvSpPr>
          <p:cNvPr id="12" name="Text 9"/>
          <p:cNvSpPr txBox="1"/>
          <p:nvPr/>
        </p:nvSpPr>
        <p:spPr>
          <a:xfrm>
            <a:off x="3200400" y="2350008"/>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PastorAI</a:t>
            </a:r>
            <a:endParaRPr lang="en-US" sz="1300" dirty="0"/>
          </a:p>
        </p:txBody>
      </p:sp>
      <p:sp>
        <p:nvSpPr>
          <p:cNvPr id="13" name="Text 10"/>
          <p:cNvSpPr txBox="1"/>
          <p:nvPr/>
        </p:nvSpPr>
        <p:spPr>
          <a:xfrm>
            <a:off x="3200400" y="2715768"/>
            <a:ext cx="914400" cy="27432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live now</a:t>
            </a:r>
            <a:endParaRPr lang="en-US" sz="1050" dirty="0"/>
          </a:p>
        </p:txBody>
      </p:sp>
      <p:sp>
        <p:nvSpPr>
          <p:cNvPr id="14" name="Shape 11"/>
          <p:cNvSpPr/>
          <p:nvPr/>
        </p:nvSpPr>
        <p:spPr>
          <a:xfrm>
            <a:off x="4270248" y="2148840"/>
            <a:ext cx="1005840" cy="1005840"/>
          </a:xfrm>
          <a:prstGeom prst="roundRect">
            <a:avLst>
              <a:gd name="adj" fmla="val 7273"/>
            </a:avLst>
          </a:prstGeom>
          <a:solidFill>
            <a:srgbClr val="D98B3C"/>
          </a:solidFill>
          <a:ln w="12700">
            <a:solidFill>
              <a:srgbClr val="D98B3C"/>
            </a:solidFill>
            <a:prstDash val="solid"/>
          </a:ln>
        </p:spPr>
      </p:sp>
      <p:sp>
        <p:nvSpPr>
          <p:cNvPr id="15" name="Text 12"/>
          <p:cNvSpPr txBox="1"/>
          <p:nvPr/>
        </p:nvSpPr>
        <p:spPr>
          <a:xfrm>
            <a:off x="4315968" y="2350008"/>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Ready Room</a:t>
            </a:r>
            <a:endParaRPr lang="en-US" sz="1300" dirty="0"/>
          </a:p>
        </p:txBody>
      </p:sp>
      <p:sp>
        <p:nvSpPr>
          <p:cNvPr id="16" name="Text 13"/>
          <p:cNvSpPr txBox="1"/>
          <p:nvPr/>
        </p:nvSpPr>
        <p:spPr>
          <a:xfrm>
            <a:off x="4315968" y="2715768"/>
            <a:ext cx="914400" cy="27432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live now</a:t>
            </a:r>
            <a:endParaRPr lang="en-US" sz="1050" dirty="0"/>
          </a:p>
        </p:txBody>
      </p:sp>
      <p:sp>
        <p:nvSpPr>
          <p:cNvPr id="17" name="Shape 14"/>
          <p:cNvSpPr/>
          <p:nvPr/>
        </p:nvSpPr>
        <p:spPr>
          <a:xfrm>
            <a:off x="5385816" y="2148840"/>
            <a:ext cx="1005840" cy="1005840"/>
          </a:xfrm>
          <a:prstGeom prst="roundRect">
            <a:avLst>
              <a:gd name="adj" fmla="val 7273"/>
            </a:avLst>
          </a:prstGeom>
          <a:solidFill>
            <a:srgbClr val="143D28"/>
          </a:solidFill>
          <a:ln w="12700">
            <a:solidFill>
              <a:srgbClr val="B7CDB6"/>
            </a:solidFill>
            <a:prstDash val="dash"/>
          </a:ln>
        </p:spPr>
      </p:sp>
      <p:sp>
        <p:nvSpPr>
          <p:cNvPr id="18" name="Text 15"/>
          <p:cNvSpPr txBox="1"/>
          <p:nvPr/>
        </p:nvSpPr>
        <p:spPr>
          <a:xfrm>
            <a:off x="5431536" y="2350008"/>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3</a:t>
            </a:r>
            <a:endParaRPr lang="en-US" sz="1300" dirty="0"/>
          </a:p>
        </p:txBody>
      </p:sp>
      <p:sp>
        <p:nvSpPr>
          <p:cNvPr id="19" name="Text 16"/>
          <p:cNvSpPr txBox="1"/>
          <p:nvPr/>
        </p:nvSpPr>
        <p:spPr>
          <a:xfrm>
            <a:off x="5431536" y="2715768"/>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20" name="Shape 17"/>
          <p:cNvSpPr/>
          <p:nvPr/>
        </p:nvSpPr>
        <p:spPr>
          <a:xfrm>
            <a:off x="6501384" y="2148840"/>
            <a:ext cx="1005840" cy="1005840"/>
          </a:xfrm>
          <a:prstGeom prst="roundRect">
            <a:avLst>
              <a:gd name="adj" fmla="val 7273"/>
            </a:avLst>
          </a:prstGeom>
          <a:solidFill>
            <a:srgbClr val="143D28"/>
          </a:solidFill>
          <a:ln w="12700">
            <a:solidFill>
              <a:srgbClr val="B7CDB6"/>
            </a:solidFill>
            <a:prstDash val="dash"/>
          </a:ln>
        </p:spPr>
      </p:sp>
      <p:sp>
        <p:nvSpPr>
          <p:cNvPr id="21" name="Text 18"/>
          <p:cNvSpPr txBox="1"/>
          <p:nvPr/>
        </p:nvSpPr>
        <p:spPr>
          <a:xfrm>
            <a:off x="6547104" y="2350008"/>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4</a:t>
            </a:r>
            <a:endParaRPr lang="en-US" sz="1300" dirty="0"/>
          </a:p>
        </p:txBody>
      </p:sp>
      <p:sp>
        <p:nvSpPr>
          <p:cNvPr id="22" name="Text 19"/>
          <p:cNvSpPr txBox="1"/>
          <p:nvPr/>
        </p:nvSpPr>
        <p:spPr>
          <a:xfrm>
            <a:off x="6547104" y="2715768"/>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23" name="Shape 20"/>
          <p:cNvSpPr/>
          <p:nvPr/>
        </p:nvSpPr>
        <p:spPr>
          <a:xfrm>
            <a:off x="7616952" y="2148840"/>
            <a:ext cx="1005840" cy="1005840"/>
          </a:xfrm>
          <a:prstGeom prst="roundRect">
            <a:avLst>
              <a:gd name="adj" fmla="val 7273"/>
            </a:avLst>
          </a:prstGeom>
          <a:solidFill>
            <a:srgbClr val="143D28"/>
          </a:solidFill>
          <a:ln w="12700">
            <a:solidFill>
              <a:srgbClr val="B7CDB6"/>
            </a:solidFill>
            <a:prstDash val="dash"/>
          </a:ln>
        </p:spPr>
      </p:sp>
      <p:sp>
        <p:nvSpPr>
          <p:cNvPr id="24" name="Text 21"/>
          <p:cNvSpPr txBox="1"/>
          <p:nvPr/>
        </p:nvSpPr>
        <p:spPr>
          <a:xfrm>
            <a:off x="7662672" y="2350008"/>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5</a:t>
            </a:r>
            <a:endParaRPr lang="en-US" sz="1300" dirty="0"/>
          </a:p>
        </p:txBody>
      </p:sp>
      <p:sp>
        <p:nvSpPr>
          <p:cNvPr id="25" name="Text 22"/>
          <p:cNvSpPr txBox="1"/>
          <p:nvPr/>
        </p:nvSpPr>
        <p:spPr>
          <a:xfrm>
            <a:off x="7662672" y="2715768"/>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26" name="Shape 23"/>
          <p:cNvSpPr/>
          <p:nvPr/>
        </p:nvSpPr>
        <p:spPr>
          <a:xfrm>
            <a:off x="3154680" y="3264408"/>
            <a:ext cx="1005840" cy="1005840"/>
          </a:xfrm>
          <a:prstGeom prst="roundRect">
            <a:avLst>
              <a:gd name="adj" fmla="val 7273"/>
            </a:avLst>
          </a:prstGeom>
          <a:solidFill>
            <a:srgbClr val="143D28"/>
          </a:solidFill>
          <a:ln w="12700">
            <a:solidFill>
              <a:srgbClr val="B7CDB6"/>
            </a:solidFill>
            <a:prstDash val="dash"/>
          </a:ln>
        </p:spPr>
      </p:sp>
      <p:sp>
        <p:nvSpPr>
          <p:cNvPr id="27" name="Text 24"/>
          <p:cNvSpPr txBox="1"/>
          <p:nvPr/>
        </p:nvSpPr>
        <p:spPr>
          <a:xfrm>
            <a:off x="3200400" y="3465576"/>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6</a:t>
            </a:r>
            <a:endParaRPr lang="en-US" sz="1300" dirty="0"/>
          </a:p>
        </p:txBody>
      </p:sp>
      <p:sp>
        <p:nvSpPr>
          <p:cNvPr id="28" name="Text 25"/>
          <p:cNvSpPr txBox="1"/>
          <p:nvPr/>
        </p:nvSpPr>
        <p:spPr>
          <a:xfrm>
            <a:off x="3200400" y="3831336"/>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29" name="Shape 26"/>
          <p:cNvSpPr/>
          <p:nvPr/>
        </p:nvSpPr>
        <p:spPr>
          <a:xfrm>
            <a:off x="4270248" y="3264408"/>
            <a:ext cx="1005840" cy="1005840"/>
          </a:xfrm>
          <a:prstGeom prst="roundRect">
            <a:avLst>
              <a:gd name="adj" fmla="val 7273"/>
            </a:avLst>
          </a:prstGeom>
          <a:solidFill>
            <a:srgbClr val="143D28"/>
          </a:solidFill>
          <a:ln w="12700">
            <a:solidFill>
              <a:srgbClr val="B7CDB6"/>
            </a:solidFill>
            <a:prstDash val="dash"/>
          </a:ln>
        </p:spPr>
      </p:sp>
      <p:sp>
        <p:nvSpPr>
          <p:cNvPr id="30" name="Text 27"/>
          <p:cNvSpPr txBox="1"/>
          <p:nvPr/>
        </p:nvSpPr>
        <p:spPr>
          <a:xfrm>
            <a:off x="4315968" y="3465576"/>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7</a:t>
            </a:r>
            <a:endParaRPr lang="en-US" sz="1300" dirty="0"/>
          </a:p>
        </p:txBody>
      </p:sp>
      <p:sp>
        <p:nvSpPr>
          <p:cNvPr id="31" name="Text 28"/>
          <p:cNvSpPr txBox="1"/>
          <p:nvPr/>
        </p:nvSpPr>
        <p:spPr>
          <a:xfrm>
            <a:off x="4315968" y="3831336"/>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32" name="Shape 29"/>
          <p:cNvSpPr/>
          <p:nvPr/>
        </p:nvSpPr>
        <p:spPr>
          <a:xfrm>
            <a:off x="5385816" y="3264408"/>
            <a:ext cx="1005840" cy="1005840"/>
          </a:xfrm>
          <a:prstGeom prst="roundRect">
            <a:avLst>
              <a:gd name="adj" fmla="val 7273"/>
            </a:avLst>
          </a:prstGeom>
          <a:solidFill>
            <a:srgbClr val="143D28"/>
          </a:solidFill>
          <a:ln w="12700">
            <a:solidFill>
              <a:srgbClr val="B7CDB6"/>
            </a:solidFill>
            <a:prstDash val="dash"/>
          </a:ln>
        </p:spPr>
      </p:sp>
      <p:sp>
        <p:nvSpPr>
          <p:cNvPr id="33" name="Text 30"/>
          <p:cNvSpPr txBox="1"/>
          <p:nvPr/>
        </p:nvSpPr>
        <p:spPr>
          <a:xfrm>
            <a:off x="5431536" y="3465576"/>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8</a:t>
            </a:r>
            <a:endParaRPr lang="en-US" sz="1300" dirty="0"/>
          </a:p>
        </p:txBody>
      </p:sp>
      <p:sp>
        <p:nvSpPr>
          <p:cNvPr id="34" name="Text 31"/>
          <p:cNvSpPr txBox="1"/>
          <p:nvPr/>
        </p:nvSpPr>
        <p:spPr>
          <a:xfrm>
            <a:off x="5431536" y="3831336"/>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35" name="Shape 32"/>
          <p:cNvSpPr/>
          <p:nvPr/>
        </p:nvSpPr>
        <p:spPr>
          <a:xfrm>
            <a:off x="6501384" y="3264408"/>
            <a:ext cx="1005840" cy="1005840"/>
          </a:xfrm>
          <a:prstGeom prst="roundRect">
            <a:avLst>
              <a:gd name="adj" fmla="val 7273"/>
            </a:avLst>
          </a:prstGeom>
          <a:solidFill>
            <a:srgbClr val="143D28"/>
          </a:solidFill>
          <a:ln w="12700">
            <a:solidFill>
              <a:srgbClr val="B7CDB6"/>
            </a:solidFill>
            <a:prstDash val="dash"/>
          </a:ln>
        </p:spPr>
      </p:sp>
      <p:sp>
        <p:nvSpPr>
          <p:cNvPr id="36" name="Text 33"/>
          <p:cNvSpPr txBox="1"/>
          <p:nvPr/>
        </p:nvSpPr>
        <p:spPr>
          <a:xfrm>
            <a:off x="6547104" y="3465576"/>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9</a:t>
            </a:r>
            <a:endParaRPr lang="en-US" sz="1300" dirty="0"/>
          </a:p>
        </p:txBody>
      </p:sp>
      <p:sp>
        <p:nvSpPr>
          <p:cNvPr id="37" name="Text 34"/>
          <p:cNvSpPr txBox="1"/>
          <p:nvPr/>
        </p:nvSpPr>
        <p:spPr>
          <a:xfrm>
            <a:off x="6547104" y="3831336"/>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38" name="Shape 35"/>
          <p:cNvSpPr/>
          <p:nvPr/>
        </p:nvSpPr>
        <p:spPr>
          <a:xfrm>
            <a:off x="7616952" y="3264408"/>
            <a:ext cx="1005840" cy="1005840"/>
          </a:xfrm>
          <a:prstGeom prst="roundRect">
            <a:avLst>
              <a:gd name="adj" fmla="val 7273"/>
            </a:avLst>
          </a:prstGeom>
          <a:solidFill>
            <a:srgbClr val="143D28"/>
          </a:solidFill>
          <a:ln w="12700">
            <a:solidFill>
              <a:srgbClr val="B7CDB6"/>
            </a:solidFill>
            <a:prstDash val="dash"/>
          </a:ln>
        </p:spPr>
      </p:sp>
      <p:sp>
        <p:nvSpPr>
          <p:cNvPr id="39" name="Text 36"/>
          <p:cNvSpPr txBox="1"/>
          <p:nvPr/>
        </p:nvSpPr>
        <p:spPr>
          <a:xfrm>
            <a:off x="7662672" y="3465576"/>
            <a:ext cx="914400" cy="365760"/>
          </a:xfrm>
          <a:prstGeom prst="rect">
            <a:avLst/>
          </a:prstGeom>
          <a:noFill/>
          <a:ln/>
        </p:spPr>
        <p:txBody>
          <a:bodyPr wrap="square" lIns="0" tIns="0" rIns="0" bIns="0" rtlCol="0" anchor="ctr"/>
          <a:lstStyle/>
          <a:p>
            <a:pPr algn="ctr" indent="0" marL="0">
              <a:buNone/>
            </a:pPr>
            <a:r>
              <a:rPr lang="en-US" sz="1300" b="1" dirty="0">
                <a:solidFill>
                  <a:srgbClr val="B7CDB6"/>
                </a:solidFill>
                <a:latin typeface="Calibri" pitchFamily="34" charset="0"/>
                <a:ea typeface="Calibri" pitchFamily="34" charset="-122"/>
                <a:cs typeface="Calibri" pitchFamily="34" charset="-120"/>
              </a:rPr>
              <a:t>App 10</a:t>
            </a:r>
            <a:endParaRPr lang="en-US" sz="1300" dirty="0"/>
          </a:p>
        </p:txBody>
      </p:sp>
      <p:sp>
        <p:nvSpPr>
          <p:cNvPr id="40" name="Text 37"/>
          <p:cNvSpPr txBox="1"/>
          <p:nvPr/>
        </p:nvSpPr>
        <p:spPr>
          <a:xfrm>
            <a:off x="7662672" y="3831336"/>
            <a:ext cx="914400" cy="274320"/>
          </a:xfrm>
          <a:prstGeom prst="rect">
            <a:avLst/>
          </a:prstGeom>
          <a:noFill/>
          <a:ln/>
        </p:spPr>
        <p:txBody>
          <a:bodyPr wrap="square" lIns="0" tIns="0" rIns="0" bIns="0" rtlCol="0" anchor="t"/>
          <a:lstStyle/>
          <a:p>
            <a:pPr algn="ctr" indent="0" marL="0">
              <a:buNone/>
            </a:pPr>
            <a:r>
              <a:rPr lang="en-US" sz="1050" dirty="0">
                <a:solidFill>
                  <a:srgbClr val="B7CDB6"/>
                </a:solidFill>
                <a:latin typeface="Calibri" pitchFamily="34" charset="0"/>
                <a:ea typeface="Calibri" pitchFamily="34" charset="-122"/>
                <a:cs typeface="Calibri" pitchFamily="34" charset="-120"/>
              </a:rPr>
              <a:t>after milestone</a:t>
            </a:r>
            <a:endParaRPr lang="en-US" sz="1050" dirty="0"/>
          </a:p>
        </p:txBody>
      </p:sp>
      <p:sp>
        <p:nvSpPr>
          <p:cNvPr id="41" name="Text 38"/>
          <p:cNvSpPr txBox="1"/>
          <p:nvPr/>
        </p:nvSpPr>
        <p:spPr>
          <a:xfrm>
            <a:off x="3154680" y="4434840"/>
            <a:ext cx="5532120" cy="274320"/>
          </a:xfrm>
          <a:prstGeom prst="rect">
            <a:avLst/>
          </a:prstGeom>
          <a:noFill/>
          <a:ln/>
        </p:spPr>
        <p:txBody>
          <a:bodyPr wrap="square" lIns="0" tIns="0" rIns="0" bIns="0" rtlCol="0" anchor="t"/>
          <a:lstStyle/>
          <a:p>
            <a:pPr indent="0" marL="0">
              <a:buNone/>
            </a:pPr>
            <a:r>
              <a:rPr lang="en-US" sz="1250" i="1" dirty="0">
                <a:solidFill>
                  <a:srgbClr val="B7CDB6"/>
                </a:solidFill>
                <a:latin typeface="Calibri" pitchFamily="34" charset="0"/>
                <a:ea typeface="Calibri" pitchFamily="34" charset="-122"/>
                <a:cs typeface="Calibri" pitchFamily="34" charset="-120"/>
              </a:rPr>
              <a:t>Apps 3–10 unlock only after PastorAI and Ready Room reach 150 paying subscribers.</a:t>
            </a:r>
            <a:endParaRPr lang="en-US" sz="1250" dirty="0"/>
          </a:p>
        </p:txBody>
      </p:sp>
      <p:sp>
        <p:nvSpPr>
          <p:cNvPr id="43" name="Text 39"/>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B7CDB6"/>
                </a:solidFill>
                <a:latin typeface="Calibri" pitchFamily="34" charset="0"/>
                <a:ea typeface="Calibri" pitchFamily="34" charset="-122"/>
                <a:cs typeface="Calibri" pitchFamily="34" charset="-120"/>
              </a:rPr>
              <a:t>Cedarworks Apps  ·  Confidential</a:t>
            </a:r>
            <a:endParaRPr lang="en-US" sz="900" dirty="0"/>
          </a:p>
        </p:txBody>
      </p:sp>
      <p:sp>
        <p:nvSpPr>
          <p:cNvPr id="44" name="Text 40"/>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B7CDB6"/>
                </a:solidFill>
                <a:latin typeface="Calibri" pitchFamily="34" charset="0"/>
                <a:ea typeface="Calibri" pitchFamily="34" charset="-122"/>
                <a:cs typeface="Calibri" pitchFamily="34" charset="-120"/>
              </a:rPr>
              <a:t>4 / 29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Solution &amp; Product  ·  PastorAI  ·  pastorai.io</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PastorAI: an AI ministry assistant for the whole week</a:t>
            </a:r>
            <a:endParaRPr lang="en-US" sz="2600" dirty="0"/>
          </a:p>
        </p:txBody>
      </p:sp>
      <p:sp>
        <p:nvSpPr>
          <p:cNvPr id="4" name="Shape 2"/>
          <p:cNvSpPr/>
          <p:nvPr/>
        </p:nvSpPr>
        <p:spPr>
          <a:xfrm>
            <a:off x="457200" y="1417320"/>
            <a:ext cx="5120640" cy="3200400"/>
          </a:xfrm>
          <a:prstGeom prst="roundRect">
            <a:avLst>
              <a:gd name="adj" fmla="val 2286"/>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731520" y="1572768"/>
            <a:ext cx="4663440" cy="274320"/>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What a pastor can create</a:t>
            </a:r>
            <a:endParaRPr lang="en-US" sz="1300" dirty="0"/>
          </a:p>
        </p:txBody>
      </p:sp>
      <p:sp>
        <p:nvSpPr>
          <p:cNvPr id="6" name="Text 4"/>
          <p:cNvSpPr txBox="1"/>
          <p:nvPr/>
        </p:nvSpPr>
        <p:spPr>
          <a:xfrm>
            <a:off x="731520" y="1901952"/>
            <a:ext cx="4709160" cy="2103120"/>
          </a:xfrm>
          <a:prstGeom prst="rect">
            <a:avLst/>
          </a:prstGeom>
          <a:noFill/>
          <a:ln/>
        </p:spPr>
        <p:txBody>
          <a:bodyPr wrap="square" lIns="0" tIns="0" rIns="0" bIns="0" rtlCol="0" anchor="t"/>
          <a:lstStyle/>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Sermon Builder: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full outlines with scripture and application</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Series Planner: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multi-week sermon series</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Bible Study: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small-group guides with questions</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Social Media: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7 days of posts from one sermon</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Devotionals and children's lessons</a:t>
            </a:r>
            <a:pPr indent="0" marL="0">
              <a:spcAft>
                <a:spcPts val="300"/>
              </a:spcAft>
              <a:buNone/>
            </a:pP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Translation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into 10 languages</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Rehearsal: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practice delivering the sermon</a:t>
            </a:r>
            <a:endParaRPr lang="en-US" sz="1300" dirty="0"/>
          </a:p>
        </p:txBody>
      </p:sp>
      <p:sp>
        <p:nvSpPr>
          <p:cNvPr id="7" name="Text 5"/>
          <p:cNvSpPr txBox="1"/>
          <p:nvPr/>
        </p:nvSpPr>
        <p:spPr>
          <a:xfrm>
            <a:off x="731520" y="4069080"/>
            <a:ext cx="4709160" cy="457200"/>
          </a:xfrm>
          <a:prstGeom prst="rect">
            <a:avLst/>
          </a:prstGeom>
          <a:noFill/>
          <a:ln/>
        </p:spPr>
        <p:txBody>
          <a:bodyPr wrap="square" lIns="0" tIns="0" rIns="0" bIns="0" rtlCol="0" anchor="t"/>
          <a:lstStyle/>
          <a:p>
            <a:pPr indent="0" marL="0">
              <a:buNone/>
            </a:pPr>
            <a:r>
              <a:rPr lang="en-US" sz="1250" i="1" dirty="0">
                <a:solidFill>
                  <a:srgbClr val="143D28"/>
                </a:solidFill>
                <a:latin typeface="Cambria" pitchFamily="34" charset="0"/>
                <a:ea typeface="Cambria" pitchFamily="34" charset="-122"/>
                <a:cs typeface="Cambria" pitchFamily="34" charset="-120"/>
              </a:rPr>
              <a:t>“This will save me so much time. It's a great tool.”  — Pastor Dennis, trial user</a:t>
            </a:r>
            <a:endParaRPr lang="en-US" sz="1250" dirty="0"/>
          </a:p>
        </p:txBody>
      </p:sp>
      <p:sp>
        <p:nvSpPr>
          <p:cNvPr id="8" name="Shape 6"/>
          <p:cNvSpPr/>
          <p:nvPr/>
        </p:nvSpPr>
        <p:spPr>
          <a:xfrm>
            <a:off x="5852160" y="1417320"/>
            <a:ext cx="2834640" cy="1005840"/>
          </a:xfrm>
          <a:prstGeom prst="roundRect">
            <a:avLst>
              <a:gd name="adj" fmla="val 7273"/>
            </a:avLst>
          </a:prstGeom>
          <a:solidFill>
            <a:srgbClr val="143D28"/>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9" name="Text 7"/>
          <p:cNvSpPr txBox="1"/>
          <p:nvPr/>
        </p:nvSpPr>
        <p:spPr>
          <a:xfrm>
            <a:off x="6035040" y="1508760"/>
            <a:ext cx="2505456" cy="475488"/>
          </a:xfrm>
          <a:prstGeom prst="rect">
            <a:avLst/>
          </a:prstGeom>
          <a:noFill/>
          <a:ln/>
        </p:spPr>
        <p:txBody>
          <a:bodyPr wrap="square" lIns="0" tIns="0" rIns="0" bIns="0" rtlCol="0" anchor="ctr"/>
          <a:lstStyle/>
          <a:p>
            <a:pPr indent="0" marL="0">
              <a:buNone/>
            </a:pPr>
            <a:r>
              <a:rPr lang="en-US" sz="2600" b="1" dirty="0">
                <a:solidFill>
                  <a:srgbClr val="F4EBD5"/>
                </a:solidFill>
                <a:latin typeface="Cambria" pitchFamily="34" charset="0"/>
                <a:ea typeface="Cambria" pitchFamily="34" charset="-122"/>
                <a:cs typeface="Cambria" pitchFamily="34" charset="-120"/>
              </a:rPr>
              <a:t>$47/mo</a:t>
            </a:r>
            <a:endParaRPr lang="en-US" sz="2600" dirty="0"/>
          </a:p>
        </p:txBody>
      </p:sp>
      <p:sp>
        <p:nvSpPr>
          <p:cNvPr id="10" name="Text 8"/>
          <p:cNvSpPr txBox="1"/>
          <p:nvPr/>
        </p:nvSpPr>
        <p:spPr>
          <a:xfrm>
            <a:off x="6035040" y="2002536"/>
            <a:ext cx="2505456" cy="384048"/>
          </a:xfrm>
          <a:prstGeom prst="rect">
            <a:avLst/>
          </a:prstGeom>
          <a:noFill/>
          <a:ln/>
        </p:spPr>
        <p:txBody>
          <a:bodyPr wrap="square" lIns="0" tIns="0" rIns="0" bIns="0" rtlCol="0" anchor="t"/>
          <a:lstStyle/>
          <a:p>
            <a:pPr indent="0" marL="0">
              <a:buNone/>
            </a:pPr>
            <a:r>
              <a:rPr lang="en-US" sz="1200" dirty="0">
                <a:solidFill>
                  <a:srgbClr val="B7CDB6"/>
                </a:solidFill>
                <a:latin typeface="Calibri" pitchFamily="34" charset="0"/>
                <a:ea typeface="Calibri" pitchFamily="34" charset="-122"/>
                <a:cs typeface="Calibri" pitchFamily="34" charset="-120"/>
              </a:rPr>
              <a:t>after a 14-day free trial</a:t>
            </a:r>
            <a:endParaRPr lang="en-US" sz="1200" dirty="0"/>
          </a:p>
        </p:txBody>
      </p:sp>
      <p:sp>
        <p:nvSpPr>
          <p:cNvPr id="11" name="Shape 9"/>
          <p:cNvSpPr/>
          <p:nvPr/>
        </p:nvSpPr>
        <p:spPr>
          <a:xfrm>
            <a:off x="5852160" y="2514600"/>
            <a:ext cx="2834640" cy="1005840"/>
          </a:xfrm>
          <a:prstGeom prst="roundRect">
            <a:avLst>
              <a:gd name="adj" fmla="val 7273"/>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6035040" y="2606040"/>
            <a:ext cx="2505456" cy="475488"/>
          </a:xfrm>
          <a:prstGeom prst="rect">
            <a:avLst/>
          </a:prstGeom>
          <a:noFill/>
          <a:ln/>
        </p:spPr>
        <p:txBody>
          <a:bodyPr wrap="square" lIns="0" tIns="0" rIns="0" bIns="0" rtlCol="0" anchor="ctr"/>
          <a:lstStyle/>
          <a:p>
            <a:pPr indent="0" marL="0">
              <a:buNone/>
            </a:pPr>
            <a:r>
              <a:rPr lang="en-US" sz="2600" b="1" dirty="0">
                <a:solidFill>
                  <a:srgbClr val="143D28"/>
                </a:solidFill>
                <a:latin typeface="Cambria" pitchFamily="34" charset="0"/>
                <a:ea typeface="Cambria" pitchFamily="34" charset="-122"/>
                <a:cs typeface="Cambria" pitchFamily="34" charset="-120"/>
              </a:rPr>
              <a:t>~15</a:t>
            </a:r>
            <a:endParaRPr lang="en-US" sz="2600" dirty="0"/>
          </a:p>
        </p:txBody>
      </p:sp>
      <p:sp>
        <p:nvSpPr>
          <p:cNvPr id="13" name="Text 11"/>
          <p:cNvSpPr txBox="1"/>
          <p:nvPr/>
        </p:nvSpPr>
        <p:spPr>
          <a:xfrm>
            <a:off x="6035040" y="3099816"/>
            <a:ext cx="2505456" cy="384048"/>
          </a:xfrm>
          <a:prstGeom prst="rect">
            <a:avLst/>
          </a:prstGeom>
          <a:noFill/>
          <a:ln/>
        </p:spPr>
        <p:txBody>
          <a:bodyPr wrap="square" lIns="0" tIns="0" rIns="0" bIns="0" rtlCol="0" anchor="t"/>
          <a:lstStyle/>
          <a:p>
            <a:pPr indent="0" marL="0">
              <a:buNone/>
            </a:pPr>
            <a:r>
              <a:rPr lang="en-US" sz="1200" dirty="0">
                <a:solidFill>
                  <a:srgbClr val="4E5D53"/>
                </a:solidFill>
                <a:latin typeface="Calibri" pitchFamily="34" charset="0"/>
                <a:ea typeface="Calibri" pitchFamily="34" charset="-122"/>
                <a:cs typeface="Calibri" pitchFamily="34" charset="-120"/>
              </a:rPr>
              <a:t>trial users so far</a:t>
            </a:r>
            <a:endParaRPr lang="en-US" sz="1200" dirty="0"/>
          </a:p>
        </p:txBody>
      </p:sp>
      <p:sp>
        <p:nvSpPr>
          <p:cNvPr id="14" name="Shape 12"/>
          <p:cNvSpPr/>
          <p:nvPr/>
        </p:nvSpPr>
        <p:spPr>
          <a:xfrm>
            <a:off x="5852160" y="3611880"/>
            <a:ext cx="2834640" cy="1005840"/>
          </a:xfrm>
          <a:prstGeom prst="roundRect">
            <a:avLst>
              <a:gd name="adj" fmla="val 7273"/>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5" name="Text 13"/>
          <p:cNvSpPr txBox="1"/>
          <p:nvPr/>
        </p:nvSpPr>
        <p:spPr>
          <a:xfrm>
            <a:off x="6035040" y="3703320"/>
            <a:ext cx="2505456" cy="475488"/>
          </a:xfrm>
          <a:prstGeom prst="rect">
            <a:avLst/>
          </a:prstGeom>
          <a:noFill/>
          <a:ln/>
        </p:spPr>
        <p:txBody>
          <a:bodyPr wrap="square" lIns="0" tIns="0" rIns="0" bIns="0" rtlCol="0" anchor="ctr"/>
          <a:lstStyle/>
          <a:p>
            <a:pPr indent="0" marL="0">
              <a:buNone/>
            </a:pPr>
            <a:r>
              <a:rPr lang="en-US" sz="2200" b="1" dirty="0">
                <a:solidFill>
                  <a:srgbClr val="143D28"/>
                </a:solidFill>
                <a:latin typeface="Cambria" pitchFamily="34" charset="0"/>
                <a:ea typeface="Cambria" pitchFamily="34" charset="-122"/>
                <a:cs typeface="Cambria" pitchFamily="34" charset="-120"/>
              </a:rPr>
              <a:t>3 platforms</a:t>
            </a:r>
            <a:endParaRPr lang="en-US" sz="2200" dirty="0"/>
          </a:p>
        </p:txBody>
      </p:sp>
      <p:sp>
        <p:nvSpPr>
          <p:cNvPr id="16" name="Text 14"/>
          <p:cNvSpPr txBox="1"/>
          <p:nvPr/>
        </p:nvSpPr>
        <p:spPr>
          <a:xfrm>
            <a:off x="6035040" y="4197096"/>
            <a:ext cx="2505456" cy="384048"/>
          </a:xfrm>
          <a:prstGeom prst="rect">
            <a:avLst/>
          </a:prstGeom>
          <a:noFill/>
          <a:ln/>
        </p:spPr>
        <p:txBody>
          <a:bodyPr wrap="square" lIns="0" tIns="0" rIns="0" bIns="0" rtlCol="0" anchor="t"/>
          <a:lstStyle/>
          <a:p>
            <a:pPr indent="0" marL="0">
              <a:buNone/>
            </a:pPr>
            <a:r>
              <a:rPr lang="en-US" sz="1200" dirty="0">
                <a:solidFill>
                  <a:srgbClr val="4E5D53"/>
                </a:solidFill>
                <a:latin typeface="Calibri" pitchFamily="34" charset="0"/>
                <a:ea typeface="Calibri" pitchFamily="34" charset="-122"/>
                <a:cs typeface="Calibri" pitchFamily="34" charset="-120"/>
              </a:rPr>
              <a:t>iOS, Android and web</a:t>
            </a:r>
            <a:endParaRPr lang="en-US" sz="1200" dirty="0"/>
          </a:p>
        </p:txBody>
      </p:sp>
      <p:sp>
        <p:nvSpPr>
          <p:cNvPr id="18" name="Text 15"/>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19" name="Text 16"/>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5 / 29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Solution &amp; Product  ·  Ready Room  ·  tryreadyroom.com</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Ready Room: a flight simulator for sales calls</a:t>
            </a:r>
            <a:endParaRPr lang="en-US" sz="2600" dirty="0"/>
          </a:p>
        </p:txBody>
      </p:sp>
      <p:sp>
        <p:nvSpPr>
          <p:cNvPr id="4" name="Shape 2"/>
          <p:cNvSpPr/>
          <p:nvPr/>
        </p:nvSpPr>
        <p:spPr>
          <a:xfrm>
            <a:off x="457200" y="1417320"/>
            <a:ext cx="2834640" cy="1005840"/>
          </a:xfrm>
          <a:prstGeom prst="roundRect">
            <a:avLst>
              <a:gd name="adj" fmla="val 7273"/>
            </a:avLst>
          </a:prstGeom>
          <a:solidFill>
            <a:srgbClr val="143D28"/>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40080" y="1508760"/>
            <a:ext cx="2505456" cy="475488"/>
          </a:xfrm>
          <a:prstGeom prst="rect">
            <a:avLst/>
          </a:prstGeom>
          <a:noFill/>
          <a:ln/>
        </p:spPr>
        <p:txBody>
          <a:bodyPr wrap="square" lIns="0" tIns="0" rIns="0" bIns="0" rtlCol="0" anchor="ctr"/>
          <a:lstStyle/>
          <a:p>
            <a:pPr indent="0" marL="0">
              <a:buNone/>
            </a:pPr>
            <a:r>
              <a:rPr lang="en-US" sz="2600" b="1" dirty="0">
                <a:solidFill>
                  <a:srgbClr val="F4EBD5"/>
                </a:solidFill>
                <a:latin typeface="Cambria" pitchFamily="34" charset="0"/>
                <a:ea typeface="Cambria" pitchFamily="34" charset="-122"/>
                <a:cs typeface="Cambria" pitchFamily="34" charset="-120"/>
              </a:rPr>
              <a:t>$29/mo</a:t>
            </a:r>
            <a:endParaRPr lang="en-US" sz="2600" dirty="0"/>
          </a:p>
        </p:txBody>
      </p:sp>
      <p:sp>
        <p:nvSpPr>
          <p:cNvPr id="6" name="Text 4"/>
          <p:cNvSpPr txBox="1"/>
          <p:nvPr/>
        </p:nvSpPr>
        <p:spPr>
          <a:xfrm>
            <a:off x="640080" y="2002536"/>
            <a:ext cx="2505456" cy="384048"/>
          </a:xfrm>
          <a:prstGeom prst="rect">
            <a:avLst/>
          </a:prstGeom>
          <a:noFill/>
          <a:ln/>
        </p:spPr>
        <p:txBody>
          <a:bodyPr wrap="square" lIns="0" tIns="0" rIns="0" bIns="0" rtlCol="0" anchor="t"/>
          <a:lstStyle/>
          <a:p>
            <a:pPr indent="0" marL="0">
              <a:buNone/>
            </a:pPr>
            <a:r>
              <a:rPr lang="en-US" sz="1200" dirty="0">
                <a:solidFill>
                  <a:srgbClr val="B7CDB6"/>
                </a:solidFill>
                <a:latin typeface="Calibri" pitchFamily="34" charset="0"/>
                <a:ea typeface="Calibri" pitchFamily="34" charset="-122"/>
                <a:cs typeface="Calibri" pitchFamily="34" charset="-120"/>
              </a:rPr>
              <a:t>or $249/year</a:t>
            </a:r>
            <a:endParaRPr lang="en-US" sz="1200" dirty="0"/>
          </a:p>
        </p:txBody>
      </p:sp>
      <p:sp>
        <p:nvSpPr>
          <p:cNvPr id="7" name="Shape 5"/>
          <p:cNvSpPr/>
          <p:nvPr/>
        </p:nvSpPr>
        <p:spPr>
          <a:xfrm>
            <a:off x="457200" y="2514600"/>
            <a:ext cx="2834640" cy="1005840"/>
          </a:xfrm>
          <a:prstGeom prst="roundRect">
            <a:avLst>
              <a:gd name="adj" fmla="val 7273"/>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640080" y="2606040"/>
            <a:ext cx="2505456" cy="475488"/>
          </a:xfrm>
          <a:prstGeom prst="rect">
            <a:avLst/>
          </a:prstGeom>
          <a:noFill/>
          <a:ln/>
        </p:spPr>
        <p:txBody>
          <a:bodyPr wrap="square" lIns="0" tIns="0" rIns="0" bIns="0" rtlCol="0" anchor="ctr"/>
          <a:lstStyle/>
          <a:p>
            <a:pPr indent="0" marL="0">
              <a:buNone/>
            </a:pPr>
            <a:r>
              <a:rPr lang="en-US" sz="2600" b="1" dirty="0">
                <a:solidFill>
                  <a:srgbClr val="143D28"/>
                </a:solidFill>
                <a:latin typeface="Cambria" pitchFamily="34" charset="0"/>
                <a:ea typeface="Cambria" pitchFamily="34" charset="-122"/>
                <a:cs typeface="Cambria" pitchFamily="34" charset="-120"/>
              </a:rPr>
              <a:t>~15</a:t>
            </a:r>
            <a:endParaRPr lang="en-US" sz="2600" dirty="0"/>
          </a:p>
        </p:txBody>
      </p:sp>
      <p:sp>
        <p:nvSpPr>
          <p:cNvPr id="9" name="Text 7"/>
          <p:cNvSpPr txBox="1"/>
          <p:nvPr/>
        </p:nvSpPr>
        <p:spPr>
          <a:xfrm>
            <a:off x="640080" y="3099816"/>
            <a:ext cx="2505456" cy="384048"/>
          </a:xfrm>
          <a:prstGeom prst="rect">
            <a:avLst/>
          </a:prstGeom>
          <a:noFill/>
          <a:ln/>
        </p:spPr>
        <p:txBody>
          <a:bodyPr wrap="square" lIns="0" tIns="0" rIns="0" bIns="0" rtlCol="0" anchor="t"/>
          <a:lstStyle/>
          <a:p>
            <a:pPr indent="0" marL="0">
              <a:buNone/>
            </a:pPr>
            <a:r>
              <a:rPr lang="en-US" sz="1200" dirty="0">
                <a:solidFill>
                  <a:srgbClr val="4E5D53"/>
                </a:solidFill>
                <a:latin typeface="Calibri" pitchFamily="34" charset="0"/>
                <a:ea typeface="Calibri" pitchFamily="34" charset="-122"/>
                <a:cs typeface="Calibri" pitchFamily="34" charset="-120"/>
              </a:rPr>
              <a:t>trial users so far</a:t>
            </a:r>
            <a:endParaRPr lang="en-US" sz="1200" dirty="0"/>
          </a:p>
        </p:txBody>
      </p:sp>
      <p:sp>
        <p:nvSpPr>
          <p:cNvPr id="10" name="Shape 8"/>
          <p:cNvSpPr/>
          <p:nvPr/>
        </p:nvSpPr>
        <p:spPr>
          <a:xfrm>
            <a:off x="457200" y="3611880"/>
            <a:ext cx="2834640" cy="1005840"/>
          </a:xfrm>
          <a:prstGeom prst="roundRect">
            <a:avLst>
              <a:gd name="adj" fmla="val 7273"/>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640080" y="3703320"/>
            <a:ext cx="2505456" cy="475488"/>
          </a:xfrm>
          <a:prstGeom prst="rect">
            <a:avLst/>
          </a:prstGeom>
          <a:noFill/>
          <a:ln/>
        </p:spPr>
        <p:txBody>
          <a:bodyPr wrap="square" lIns="0" tIns="0" rIns="0" bIns="0" rtlCol="0" anchor="ctr"/>
          <a:lstStyle/>
          <a:p>
            <a:pPr indent="0" marL="0">
              <a:buNone/>
            </a:pPr>
            <a:r>
              <a:rPr lang="en-US" sz="2200" b="1" dirty="0">
                <a:solidFill>
                  <a:srgbClr val="143D28"/>
                </a:solidFill>
                <a:latin typeface="Cambria" pitchFamily="34" charset="0"/>
                <a:ea typeface="Cambria" pitchFamily="34" charset="-122"/>
                <a:cs typeface="Cambria" pitchFamily="34" charset="-120"/>
              </a:rPr>
              <a:t>3 platforms</a:t>
            </a:r>
            <a:endParaRPr lang="en-US" sz="2200" dirty="0"/>
          </a:p>
        </p:txBody>
      </p:sp>
      <p:sp>
        <p:nvSpPr>
          <p:cNvPr id="12" name="Text 10"/>
          <p:cNvSpPr txBox="1"/>
          <p:nvPr/>
        </p:nvSpPr>
        <p:spPr>
          <a:xfrm>
            <a:off x="640080" y="4197096"/>
            <a:ext cx="2505456" cy="384048"/>
          </a:xfrm>
          <a:prstGeom prst="rect">
            <a:avLst/>
          </a:prstGeom>
          <a:noFill/>
          <a:ln/>
        </p:spPr>
        <p:txBody>
          <a:bodyPr wrap="square" lIns="0" tIns="0" rIns="0" bIns="0" rtlCol="0" anchor="t"/>
          <a:lstStyle/>
          <a:p>
            <a:pPr indent="0" marL="0">
              <a:buNone/>
            </a:pPr>
            <a:r>
              <a:rPr lang="en-US" sz="1200" dirty="0">
                <a:solidFill>
                  <a:srgbClr val="4E5D53"/>
                </a:solidFill>
                <a:latin typeface="Calibri" pitchFamily="34" charset="0"/>
                <a:ea typeface="Calibri" pitchFamily="34" charset="-122"/>
                <a:cs typeface="Calibri" pitchFamily="34" charset="-120"/>
              </a:rPr>
              <a:t>iOS, Android and web</a:t>
            </a:r>
            <a:endParaRPr lang="en-US" sz="1200" dirty="0"/>
          </a:p>
        </p:txBody>
      </p:sp>
      <p:sp>
        <p:nvSpPr>
          <p:cNvPr id="13" name="Shape 11"/>
          <p:cNvSpPr/>
          <p:nvPr/>
        </p:nvSpPr>
        <p:spPr>
          <a:xfrm>
            <a:off x="3566160" y="1417320"/>
            <a:ext cx="5120640" cy="3200400"/>
          </a:xfrm>
          <a:prstGeom prst="roundRect">
            <a:avLst>
              <a:gd name="adj" fmla="val 2286"/>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4" name="Text 12"/>
          <p:cNvSpPr txBox="1"/>
          <p:nvPr/>
        </p:nvSpPr>
        <p:spPr>
          <a:xfrm>
            <a:off x="3840480" y="1572768"/>
            <a:ext cx="4663440" cy="274320"/>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How reps practice</a:t>
            </a:r>
            <a:endParaRPr lang="en-US" sz="1300" dirty="0"/>
          </a:p>
        </p:txBody>
      </p:sp>
      <p:sp>
        <p:nvSpPr>
          <p:cNvPr id="15" name="Text 13"/>
          <p:cNvSpPr txBox="1"/>
          <p:nvPr/>
        </p:nvSpPr>
        <p:spPr>
          <a:xfrm>
            <a:off x="3840480" y="1901952"/>
            <a:ext cx="4709160" cy="2194560"/>
          </a:xfrm>
          <a:prstGeom prst="rect">
            <a:avLst/>
          </a:prstGeom>
          <a:noFill/>
          <a:ln/>
        </p:spPr>
        <p:txBody>
          <a:bodyPr wrap="square" lIns="0" tIns="0" rIns="0" bIns="0" rtlCol="0" anchor="t"/>
          <a:lstStyle/>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Talk out loud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to a voice AI prospect that reacts to how you sell</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Two drills: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discovery questions and handling objections</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Three levels: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easy, medium and hard</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18+ prospects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across industries, from roofing to software</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Score real calls: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record live, upload a recording or paste a transcript</a:t>
            </a:r>
            <a:endParaRPr lang="en-US" sz="1300" dirty="0"/>
          </a:p>
          <a:p>
            <a:pPr marL="190500" indent="-190500">
              <a:spcAft>
                <a:spcPts val="300"/>
              </a:spcAft>
              <a:buSzPct val="100000"/>
              <a:buChar char="•"/>
            </a:pPr>
            <a:r>
              <a:rPr lang="en-US" sz="1300" b="1" dirty="0">
                <a:solidFill>
                  <a:srgbClr val="1B2A21"/>
                </a:solidFill>
                <a:latin typeface="Calibri" pitchFamily="34" charset="0"/>
                <a:ea typeface="Calibri" pitchFamily="34" charset="-122"/>
                <a:cs typeface="Calibri" pitchFamily="34" charset="-120"/>
              </a:rPr>
              <a:t>AI coach </a:t>
            </a:r>
            <a:pPr indent="0" marL="0">
              <a:spcAft>
                <a:spcPts val="300"/>
              </a:spcAft>
              <a:buNone/>
            </a:pPr>
            <a:r>
              <a:rPr lang="en-US" sz="1300" dirty="0">
                <a:solidFill>
                  <a:srgbClr val="1B2A21"/>
                </a:solidFill>
                <a:latin typeface="Calibri" pitchFamily="34" charset="0"/>
                <a:ea typeface="Calibri" pitchFamily="34" charset="-122"/>
                <a:cs typeface="Calibri" pitchFamily="34" charset="-120"/>
              </a:rPr>
              <a:t>grades every session and says what to fix next</a:t>
            </a:r>
            <a:endParaRPr lang="en-US" sz="1300" dirty="0"/>
          </a:p>
        </p:txBody>
      </p:sp>
      <p:sp>
        <p:nvSpPr>
          <p:cNvPr id="16" name="Text 14"/>
          <p:cNvSpPr txBox="1"/>
          <p:nvPr/>
        </p:nvSpPr>
        <p:spPr>
          <a:xfrm>
            <a:off x="3840480" y="4160520"/>
            <a:ext cx="4709160" cy="365760"/>
          </a:xfrm>
          <a:prstGeom prst="rect">
            <a:avLst/>
          </a:prstGeom>
          <a:noFill/>
          <a:ln/>
        </p:spPr>
        <p:txBody>
          <a:bodyPr wrap="square" lIns="0" tIns="0" rIns="0" bIns="0" rtlCol="0" anchor="t"/>
          <a:lstStyle/>
          <a:p>
            <a:pPr indent="0" marL="0">
              <a:buNone/>
            </a:pPr>
            <a:r>
              <a:rPr lang="en-US" sz="1250" i="1" dirty="0">
                <a:solidFill>
                  <a:srgbClr val="143D28"/>
                </a:solidFill>
                <a:latin typeface="Cambria" pitchFamily="34" charset="0"/>
                <a:ea typeface="Cambria" pitchFamily="34" charset="-122"/>
                <a:cs typeface="Cambria" pitchFamily="34" charset="-120"/>
              </a:rPr>
              <a:t>Built on the founder's 40+ years in sales.</a:t>
            </a:r>
            <a:endParaRPr lang="en-US" sz="1250" dirty="0"/>
          </a:p>
        </p:txBody>
      </p:sp>
      <p:sp>
        <p:nvSpPr>
          <p:cNvPr id="18" name="Text 15"/>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19" name="Text 16"/>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6 / 29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D28"/>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Solution &amp; Product  ·  AppForge</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F4EBD5"/>
                </a:solidFill>
                <a:latin typeface="Cambria" pitchFamily="34" charset="0"/>
                <a:ea typeface="Cambria" pitchFamily="34" charset="-122"/>
                <a:cs typeface="Cambria" pitchFamily="34" charset="-120"/>
              </a:rPr>
              <a:t>AppForge: our in-house app factory</a:t>
            </a:r>
            <a:endParaRPr lang="en-US" sz="2600" dirty="0"/>
          </a:p>
        </p:txBody>
      </p:sp>
      <p:sp>
        <p:nvSpPr>
          <p:cNvPr id="4" name="Text 2"/>
          <p:cNvSpPr txBox="1"/>
          <p:nvPr/>
        </p:nvSpPr>
        <p:spPr>
          <a:xfrm>
            <a:off x="457200" y="1188720"/>
            <a:ext cx="8229600" cy="548640"/>
          </a:xfrm>
          <a:prstGeom prst="rect">
            <a:avLst/>
          </a:prstGeom>
          <a:noFill/>
          <a:ln/>
        </p:spPr>
        <p:txBody>
          <a:bodyPr wrap="square" lIns="0" tIns="0" rIns="0" bIns="0" rtlCol="0" anchor="t"/>
          <a:lstStyle/>
          <a:p>
            <a:pPr indent="0" marL="0">
              <a:buNone/>
            </a:pPr>
            <a:r>
              <a:rPr lang="en-US" sz="1400" dirty="0">
                <a:solidFill>
                  <a:srgbClr val="F4EBD5"/>
                </a:solidFill>
                <a:latin typeface="Calibri" pitchFamily="34" charset="0"/>
                <a:ea typeface="Calibri" pitchFamily="34" charset="-122"/>
                <a:cs typeface="Calibri" pitchFamily="34" charset="-120"/>
              </a:rPr>
              <a:t>One system that takes us from market research to a finished, marketed app. It's internal only: our competitive edge, not a product we sell.</a:t>
            </a:r>
            <a:endParaRPr lang="en-US" sz="1400" dirty="0"/>
          </a:p>
        </p:txBody>
      </p:sp>
      <p:sp>
        <p:nvSpPr>
          <p:cNvPr id="5" name="Shape 3"/>
          <p:cNvSpPr/>
          <p:nvPr/>
        </p:nvSpPr>
        <p:spPr>
          <a:xfrm>
            <a:off x="457200" y="1874520"/>
            <a:ext cx="1920240" cy="2743200"/>
          </a:xfrm>
          <a:prstGeom prst="roundRect">
            <a:avLst>
              <a:gd name="adj" fmla="val 3810"/>
            </a:avLst>
          </a:prstGeom>
          <a:solidFill>
            <a:srgbClr val="1E5238"/>
          </a:solidFill>
          <a:ln w="12700">
            <a:solidFill>
              <a:srgbClr val="1E5238"/>
            </a:solidFill>
            <a:prstDash val="solid"/>
          </a:ln>
        </p:spPr>
      </p:sp>
      <p:sp>
        <p:nvSpPr>
          <p:cNvPr id="6" name="Shape 4"/>
          <p:cNvSpPr/>
          <p:nvPr/>
        </p:nvSpPr>
        <p:spPr>
          <a:xfrm>
            <a:off x="640080" y="2029968"/>
            <a:ext cx="548640" cy="548640"/>
          </a:xfrm>
          <a:prstGeom prst="ellipse">
            <a:avLst/>
          </a:prstGeom>
          <a:solidFill>
            <a:srgbClr val="1E5238"/>
          </a:solidFill>
          <a:ln w="19050">
            <a:solidFill>
              <a:srgbClr val="D98B3C"/>
            </a:solidFill>
            <a:prstDash val="solid"/>
          </a:ln>
        </p:spPr>
      </p:sp>
      <p:pic>
        <p:nvPicPr>
          <p:cNvPr id="7" name="Image 0" descr="preencoded.png">    </p:cNvPr>
          <p:cNvPicPr>
            <a:picLocks noChangeAspect="1"/>
          </p:cNvPicPr>
          <p:nvPr/>
        </p:nvPicPr>
        <p:blipFill>
          <a:blip r:embed="rId1"/>
          <a:stretch>
            <a:fillRect/>
          </a:stretch>
        </p:blipFill>
        <p:spPr>
          <a:xfrm>
            <a:off x="782726" y="2172614"/>
            <a:ext cx="263347" cy="263347"/>
          </a:xfrm>
          <a:prstGeom prst="rect">
            <a:avLst/>
          </a:prstGeom>
        </p:spPr>
      </p:pic>
      <p:sp>
        <p:nvSpPr>
          <p:cNvPr id="8" name="Text 5"/>
          <p:cNvSpPr txBox="1"/>
          <p:nvPr/>
        </p:nvSpPr>
        <p:spPr>
          <a:xfrm>
            <a:off x="640080" y="2670048"/>
            <a:ext cx="16002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1  Know</a:t>
            </a:r>
            <a:endParaRPr lang="en-US" sz="1600" dirty="0"/>
          </a:p>
        </p:txBody>
      </p:sp>
      <p:sp>
        <p:nvSpPr>
          <p:cNvPr id="9" name="Text 6"/>
          <p:cNvSpPr txBox="1"/>
          <p:nvPr/>
        </p:nvSpPr>
        <p:spPr>
          <a:xfrm>
            <a:off x="640080" y="2990088"/>
            <a:ext cx="1600200" cy="594360"/>
          </a:xfrm>
          <a:prstGeom prst="rect">
            <a:avLst/>
          </a:prstGeom>
          <a:noFill/>
          <a:ln/>
        </p:spPr>
        <p:txBody>
          <a:bodyPr wrap="square" lIns="0" tIns="0" rIns="0" bIns="0" rtlCol="0" anchor="t"/>
          <a:lstStyle/>
          <a:p>
            <a:pPr indent="0" marL="0">
              <a:buNone/>
            </a:pPr>
            <a:r>
              <a:rPr lang="en-US" sz="1250" dirty="0">
                <a:solidFill>
                  <a:srgbClr val="F4EBD5"/>
                </a:solidFill>
                <a:latin typeface="Calibri" pitchFamily="34" charset="0"/>
                <a:ea typeface="Calibri" pitchFamily="34" charset="-122"/>
                <a:cs typeface="Calibri" pitchFamily="34" charset="-120"/>
              </a:rPr>
              <a:t>Learns the business, audience and goals</a:t>
            </a:r>
            <a:endParaRPr lang="en-US" sz="1250" dirty="0"/>
          </a:p>
        </p:txBody>
      </p:sp>
      <p:sp>
        <p:nvSpPr>
          <p:cNvPr id="10" name="Text 7"/>
          <p:cNvSpPr txBox="1"/>
          <p:nvPr/>
        </p:nvSpPr>
        <p:spPr>
          <a:xfrm>
            <a:off x="640080" y="3611880"/>
            <a:ext cx="1600200" cy="960120"/>
          </a:xfrm>
          <a:prstGeom prst="rect">
            <a:avLst/>
          </a:prstGeom>
          <a:noFill/>
          <a:ln/>
        </p:spPr>
        <p:txBody>
          <a:bodyPr wrap="square" lIns="0" tIns="0" rIns="0" bIns="0" rtlCol="0" anchor="t"/>
          <a:lstStyle/>
          <a:p>
            <a:pPr indent="0" marL="0">
              <a:buNone/>
            </a:pPr>
            <a:r>
              <a:rPr lang="en-US" sz="1100" dirty="0">
                <a:solidFill>
                  <a:srgbClr val="B7CDB6"/>
                </a:solidFill>
                <a:latin typeface="Calibri" pitchFamily="34" charset="0"/>
                <a:ea typeface="Calibri" pitchFamily="34" charset="-122"/>
                <a:cs typeface="Calibri" pitchFamily="34" charset="-120"/>
              </a:rPr>
              <a:t>Brain · Chief of Staff</a:t>
            </a:r>
            <a:endParaRPr lang="en-US" sz="1100" dirty="0"/>
          </a:p>
        </p:txBody>
      </p:sp>
      <p:sp>
        <p:nvSpPr>
          <p:cNvPr id="11" name="Text 8"/>
          <p:cNvSpPr txBox="1"/>
          <p:nvPr/>
        </p:nvSpPr>
        <p:spPr>
          <a:xfrm>
            <a:off x="2359152" y="3017520"/>
            <a:ext cx="219456" cy="365760"/>
          </a:xfrm>
          <a:prstGeom prst="rect">
            <a:avLst/>
          </a:prstGeom>
          <a:noFill/>
          <a:ln/>
        </p:spPr>
        <p:txBody>
          <a:bodyPr wrap="square" lIns="0" tIns="0" rIns="0" bIns="0" rtlCol="0" anchor="t"/>
          <a:lstStyle/>
          <a:p>
            <a:pPr algn="ctr" indent="0" marL="0">
              <a:buNone/>
            </a:pPr>
            <a:r>
              <a:rPr lang="en-US" sz="2200" dirty="0">
                <a:solidFill>
                  <a:srgbClr val="D98B3C"/>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2560320" y="1874520"/>
            <a:ext cx="1920240" cy="2743200"/>
          </a:xfrm>
          <a:prstGeom prst="roundRect">
            <a:avLst>
              <a:gd name="adj" fmla="val 3810"/>
            </a:avLst>
          </a:prstGeom>
          <a:solidFill>
            <a:srgbClr val="1E5238"/>
          </a:solidFill>
          <a:ln w="12700">
            <a:solidFill>
              <a:srgbClr val="1E5238"/>
            </a:solidFill>
            <a:prstDash val="solid"/>
          </a:ln>
        </p:spPr>
      </p:sp>
      <p:sp>
        <p:nvSpPr>
          <p:cNvPr id="13" name="Shape 10"/>
          <p:cNvSpPr/>
          <p:nvPr/>
        </p:nvSpPr>
        <p:spPr>
          <a:xfrm>
            <a:off x="2743200" y="2029968"/>
            <a:ext cx="548640" cy="548640"/>
          </a:xfrm>
          <a:prstGeom prst="ellipse">
            <a:avLst/>
          </a:prstGeom>
          <a:solidFill>
            <a:srgbClr val="1E5238"/>
          </a:solidFill>
          <a:ln w="19050">
            <a:solidFill>
              <a:srgbClr val="D98B3C"/>
            </a:solidFill>
            <a:prstDash val="solid"/>
          </a:ln>
        </p:spPr>
      </p:sp>
      <p:pic>
        <p:nvPicPr>
          <p:cNvPr id="14" name="Image 1" descr="preencoded.png">    </p:cNvPr>
          <p:cNvPicPr>
            <a:picLocks noChangeAspect="1"/>
          </p:cNvPicPr>
          <p:nvPr/>
        </p:nvPicPr>
        <p:blipFill>
          <a:blip r:embed="rId2"/>
          <a:stretch>
            <a:fillRect/>
          </a:stretch>
        </p:blipFill>
        <p:spPr>
          <a:xfrm>
            <a:off x="2885846" y="2172614"/>
            <a:ext cx="263347" cy="263347"/>
          </a:xfrm>
          <a:prstGeom prst="rect">
            <a:avLst/>
          </a:prstGeom>
        </p:spPr>
      </p:pic>
      <p:sp>
        <p:nvSpPr>
          <p:cNvPr id="15" name="Text 11"/>
          <p:cNvSpPr txBox="1"/>
          <p:nvPr/>
        </p:nvSpPr>
        <p:spPr>
          <a:xfrm>
            <a:off x="2743200" y="2670048"/>
            <a:ext cx="16002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2  Find</a:t>
            </a:r>
            <a:endParaRPr lang="en-US" sz="1600" dirty="0"/>
          </a:p>
        </p:txBody>
      </p:sp>
      <p:sp>
        <p:nvSpPr>
          <p:cNvPr id="16" name="Text 12"/>
          <p:cNvSpPr txBox="1"/>
          <p:nvPr/>
        </p:nvSpPr>
        <p:spPr>
          <a:xfrm>
            <a:off x="2743200" y="2990088"/>
            <a:ext cx="1600200" cy="594360"/>
          </a:xfrm>
          <a:prstGeom prst="rect">
            <a:avLst/>
          </a:prstGeom>
          <a:noFill/>
          <a:ln/>
        </p:spPr>
        <p:txBody>
          <a:bodyPr wrap="square" lIns="0" tIns="0" rIns="0" bIns="0" rtlCol="0" anchor="t"/>
          <a:lstStyle/>
          <a:p>
            <a:pPr indent="0" marL="0">
              <a:buNone/>
            </a:pPr>
            <a:r>
              <a:rPr lang="en-US" sz="1250" dirty="0">
                <a:solidFill>
                  <a:srgbClr val="F4EBD5"/>
                </a:solidFill>
                <a:latin typeface="Calibri" pitchFamily="34" charset="0"/>
                <a:ea typeface="Calibri" pitchFamily="34" charset="-122"/>
                <a:cs typeface="Calibri" pitchFamily="34" charset="-120"/>
              </a:rPr>
              <a:t>Finds proven app ideas with real demand</a:t>
            </a:r>
            <a:endParaRPr lang="en-US" sz="1250" dirty="0"/>
          </a:p>
        </p:txBody>
      </p:sp>
      <p:sp>
        <p:nvSpPr>
          <p:cNvPr id="17" name="Text 13"/>
          <p:cNvSpPr txBox="1"/>
          <p:nvPr/>
        </p:nvSpPr>
        <p:spPr>
          <a:xfrm>
            <a:off x="2743200" y="3611880"/>
            <a:ext cx="1600200" cy="960120"/>
          </a:xfrm>
          <a:prstGeom prst="rect">
            <a:avLst/>
          </a:prstGeom>
          <a:noFill/>
          <a:ln/>
        </p:spPr>
        <p:txBody>
          <a:bodyPr wrap="square" lIns="0" tIns="0" rIns="0" bIns="0" rtlCol="0" anchor="t"/>
          <a:lstStyle/>
          <a:p>
            <a:pPr indent="0" marL="0">
              <a:buNone/>
            </a:pPr>
            <a:r>
              <a:rPr lang="en-US" sz="1100" dirty="0">
                <a:solidFill>
                  <a:srgbClr val="B7CDB6"/>
                </a:solidFill>
                <a:latin typeface="Calibri" pitchFamily="34" charset="0"/>
                <a:ea typeface="Calibri" pitchFamily="34" charset="-122"/>
                <a:cs typeface="Calibri" pitchFamily="34" charset="-120"/>
              </a:rPr>
              <a:t>Top 100 Apps · App Types · Opportunities · Market Analysis · Viability Scorer</a:t>
            </a:r>
            <a:endParaRPr lang="en-US" sz="1100" dirty="0"/>
          </a:p>
        </p:txBody>
      </p:sp>
      <p:sp>
        <p:nvSpPr>
          <p:cNvPr id="18" name="Text 14"/>
          <p:cNvSpPr txBox="1"/>
          <p:nvPr/>
        </p:nvSpPr>
        <p:spPr>
          <a:xfrm>
            <a:off x="4462272" y="3017520"/>
            <a:ext cx="219456" cy="365760"/>
          </a:xfrm>
          <a:prstGeom prst="rect">
            <a:avLst/>
          </a:prstGeom>
          <a:noFill/>
          <a:ln/>
        </p:spPr>
        <p:txBody>
          <a:bodyPr wrap="square" lIns="0" tIns="0" rIns="0" bIns="0" rtlCol="0" anchor="t"/>
          <a:lstStyle/>
          <a:p>
            <a:pPr algn="ctr" indent="0" marL="0">
              <a:buNone/>
            </a:pPr>
            <a:r>
              <a:rPr lang="en-US" sz="2200" dirty="0">
                <a:solidFill>
                  <a:srgbClr val="D98B3C"/>
                </a:solidFill>
                <a:latin typeface="Calibri" pitchFamily="34" charset="0"/>
                <a:ea typeface="Calibri" pitchFamily="34" charset="-122"/>
                <a:cs typeface="Calibri" pitchFamily="34" charset="-120"/>
              </a:rPr>
              <a:t>›</a:t>
            </a:r>
            <a:endParaRPr lang="en-US" sz="2200" dirty="0"/>
          </a:p>
        </p:txBody>
      </p:sp>
      <p:sp>
        <p:nvSpPr>
          <p:cNvPr id="19" name="Shape 15"/>
          <p:cNvSpPr/>
          <p:nvPr/>
        </p:nvSpPr>
        <p:spPr>
          <a:xfrm>
            <a:off x="4663440" y="1874520"/>
            <a:ext cx="1920240" cy="2743200"/>
          </a:xfrm>
          <a:prstGeom prst="roundRect">
            <a:avLst>
              <a:gd name="adj" fmla="val 3810"/>
            </a:avLst>
          </a:prstGeom>
          <a:solidFill>
            <a:srgbClr val="1E5238"/>
          </a:solidFill>
          <a:ln w="12700">
            <a:solidFill>
              <a:srgbClr val="1E5238"/>
            </a:solidFill>
            <a:prstDash val="solid"/>
          </a:ln>
        </p:spPr>
      </p:sp>
      <p:sp>
        <p:nvSpPr>
          <p:cNvPr id="20" name="Shape 16"/>
          <p:cNvSpPr/>
          <p:nvPr/>
        </p:nvSpPr>
        <p:spPr>
          <a:xfrm>
            <a:off x="4846320" y="2029968"/>
            <a:ext cx="548640" cy="548640"/>
          </a:xfrm>
          <a:prstGeom prst="ellipse">
            <a:avLst/>
          </a:prstGeom>
          <a:solidFill>
            <a:srgbClr val="1E5238"/>
          </a:solidFill>
          <a:ln w="19050">
            <a:solidFill>
              <a:srgbClr val="D98B3C"/>
            </a:solidFill>
            <a:prstDash val="solid"/>
          </a:ln>
        </p:spPr>
      </p:sp>
      <p:pic>
        <p:nvPicPr>
          <p:cNvPr id="21" name="Image 2" descr="preencoded.png">    </p:cNvPr>
          <p:cNvPicPr>
            <a:picLocks noChangeAspect="1"/>
          </p:cNvPicPr>
          <p:nvPr/>
        </p:nvPicPr>
        <p:blipFill>
          <a:blip r:embed="rId3"/>
          <a:stretch>
            <a:fillRect/>
          </a:stretch>
        </p:blipFill>
        <p:spPr>
          <a:xfrm>
            <a:off x="4988966" y="2172614"/>
            <a:ext cx="263347" cy="263347"/>
          </a:xfrm>
          <a:prstGeom prst="rect">
            <a:avLst/>
          </a:prstGeom>
        </p:spPr>
      </p:pic>
      <p:sp>
        <p:nvSpPr>
          <p:cNvPr id="22" name="Text 17"/>
          <p:cNvSpPr txBox="1"/>
          <p:nvPr/>
        </p:nvSpPr>
        <p:spPr>
          <a:xfrm>
            <a:off x="4846320" y="2670048"/>
            <a:ext cx="16002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3  Build</a:t>
            </a:r>
            <a:endParaRPr lang="en-US" sz="1600" dirty="0"/>
          </a:p>
        </p:txBody>
      </p:sp>
      <p:sp>
        <p:nvSpPr>
          <p:cNvPr id="23" name="Text 18"/>
          <p:cNvSpPr txBox="1"/>
          <p:nvPr/>
        </p:nvSpPr>
        <p:spPr>
          <a:xfrm>
            <a:off x="4846320" y="2990088"/>
            <a:ext cx="1600200" cy="594360"/>
          </a:xfrm>
          <a:prstGeom prst="rect">
            <a:avLst/>
          </a:prstGeom>
          <a:noFill/>
          <a:ln/>
        </p:spPr>
        <p:txBody>
          <a:bodyPr wrap="square" lIns="0" tIns="0" rIns="0" bIns="0" rtlCol="0" anchor="t"/>
          <a:lstStyle/>
          <a:p>
            <a:pPr indent="0" marL="0">
              <a:buNone/>
            </a:pPr>
            <a:r>
              <a:rPr lang="en-US" sz="1250" dirty="0">
                <a:solidFill>
                  <a:srgbClr val="F4EBD5"/>
                </a:solidFill>
                <a:latin typeface="Calibri" pitchFamily="34" charset="0"/>
                <a:ea typeface="Calibri" pitchFamily="34" charset="-122"/>
                <a:cs typeface="Calibri" pitchFamily="34" charset="-120"/>
              </a:rPr>
              <a:t>Plans the app and writes the code</a:t>
            </a:r>
            <a:endParaRPr lang="en-US" sz="1250" dirty="0"/>
          </a:p>
        </p:txBody>
      </p:sp>
      <p:sp>
        <p:nvSpPr>
          <p:cNvPr id="24" name="Text 19"/>
          <p:cNvSpPr txBox="1"/>
          <p:nvPr/>
        </p:nvSpPr>
        <p:spPr>
          <a:xfrm>
            <a:off x="4846320" y="3611880"/>
            <a:ext cx="1600200" cy="960120"/>
          </a:xfrm>
          <a:prstGeom prst="rect">
            <a:avLst/>
          </a:prstGeom>
          <a:noFill/>
          <a:ln/>
        </p:spPr>
        <p:txBody>
          <a:bodyPr wrap="square" lIns="0" tIns="0" rIns="0" bIns="0" rtlCol="0" anchor="t"/>
          <a:lstStyle/>
          <a:p>
            <a:pPr indent="0" marL="0">
              <a:buNone/>
            </a:pPr>
            <a:r>
              <a:rPr lang="en-US" sz="1100" dirty="0">
                <a:solidFill>
                  <a:srgbClr val="B7CDB6"/>
                </a:solidFill>
                <a:latin typeface="Calibri" pitchFamily="34" charset="0"/>
                <a:ea typeface="Calibri" pitchFamily="34" charset="-122"/>
                <a:cs typeface="Calibri" pitchFamily="34" charset="-120"/>
              </a:rPr>
              <a:t>Projects · Tech Stack · Build · Store Listing</a:t>
            </a:r>
            <a:endParaRPr lang="en-US" sz="1100" dirty="0"/>
          </a:p>
        </p:txBody>
      </p:sp>
      <p:sp>
        <p:nvSpPr>
          <p:cNvPr id="25" name="Text 20"/>
          <p:cNvSpPr txBox="1"/>
          <p:nvPr/>
        </p:nvSpPr>
        <p:spPr>
          <a:xfrm>
            <a:off x="6565392" y="3017520"/>
            <a:ext cx="219456" cy="365760"/>
          </a:xfrm>
          <a:prstGeom prst="rect">
            <a:avLst/>
          </a:prstGeom>
          <a:noFill/>
          <a:ln/>
        </p:spPr>
        <p:txBody>
          <a:bodyPr wrap="square" lIns="0" tIns="0" rIns="0" bIns="0" rtlCol="0" anchor="t"/>
          <a:lstStyle/>
          <a:p>
            <a:pPr algn="ctr" indent="0" marL="0">
              <a:buNone/>
            </a:pPr>
            <a:r>
              <a:rPr lang="en-US" sz="2200" dirty="0">
                <a:solidFill>
                  <a:srgbClr val="D98B3C"/>
                </a:solidFill>
                <a:latin typeface="Calibri" pitchFamily="34" charset="0"/>
                <a:ea typeface="Calibri" pitchFamily="34" charset="-122"/>
                <a:cs typeface="Calibri" pitchFamily="34" charset="-120"/>
              </a:rPr>
              <a:t>›</a:t>
            </a:r>
            <a:endParaRPr lang="en-US" sz="2200" dirty="0"/>
          </a:p>
        </p:txBody>
      </p:sp>
      <p:sp>
        <p:nvSpPr>
          <p:cNvPr id="26" name="Shape 21"/>
          <p:cNvSpPr/>
          <p:nvPr/>
        </p:nvSpPr>
        <p:spPr>
          <a:xfrm>
            <a:off x="6766560" y="1874520"/>
            <a:ext cx="1920240" cy="2743200"/>
          </a:xfrm>
          <a:prstGeom prst="roundRect">
            <a:avLst>
              <a:gd name="adj" fmla="val 3810"/>
            </a:avLst>
          </a:prstGeom>
          <a:solidFill>
            <a:srgbClr val="1E5238"/>
          </a:solidFill>
          <a:ln w="12700">
            <a:solidFill>
              <a:srgbClr val="1E5238"/>
            </a:solidFill>
            <a:prstDash val="solid"/>
          </a:ln>
        </p:spPr>
      </p:sp>
      <p:sp>
        <p:nvSpPr>
          <p:cNvPr id="27" name="Shape 22"/>
          <p:cNvSpPr/>
          <p:nvPr/>
        </p:nvSpPr>
        <p:spPr>
          <a:xfrm>
            <a:off x="6949440" y="2029968"/>
            <a:ext cx="548640" cy="548640"/>
          </a:xfrm>
          <a:prstGeom prst="ellipse">
            <a:avLst/>
          </a:prstGeom>
          <a:solidFill>
            <a:srgbClr val="1E5238"/>
          </a:solidFill>
          <a:ln w="19050">
            <a:solidFill>
              <a:srgbClr val="D98B3C"/>
            </a:solidFill>
            <a:prstDash val="solid"/>
          </a:ln>
        </p:spPr>
      </p:sp>
      <p:pic>
        <p:nvPicPr>
          <p:cNvPr id="28" name="Image 3" descr="preencoded.png">    </p:cNvPr>
          <p:cNvPicPr>
            <a:picLocks noChangeAspect="1"/>
          </p:cNvPicPr>
          <p:nvPr/>
        </p:nvPicPr>
        <p:blipFill>
          <a:blip r:embed="rId4"/>
          <a:stretch>
            <a:fillRect/>
          </a:stretch>
        </p:blipFill>
        <p:spPr>
          <a:xfrm>
            <a:off x="7092086" y="2172614"/>
            <a:ext cx="263347" cy="263347"/>
          </a:xfrm>
          <a:prstGeom prst="rect">
            <a:avLst/>
          </a:prstGeom>
        </p:spPr>
      </p:pic>
      <p:sp>
        <p:nvSpPr>
          <p:cNvPr id="29" name="Text 23"/>
          <p:cNvSpPr txBox="1"/>
          <p:nvPr/>
        </p:nvSpPr>
        <p:spPr>
          <a:xfrm>
            <a:off x="6949440" y="2670048"/>
            <a:ext cx="16002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4  Market</a:t>
            </a:r>
            <a:endParaRPr lang="en-US" sz="1600" dirty="0"/>
          </a:p>
        </p:txBody>
      </p:sp>
      <p:sp>
        <p:nvSpPr>
          <p:cNvPr id="30" name="Text 24"/>
          <p:cNvSpPr txBox="1"/>
          <p:nvPr/>
        </p:nvSpPr>
        <p:spPr>
          <a:xfrm>
            <a:off x="6949440" y="2990088"/>
            <a:ext cx="1600200" cy="594360"/>
          </a:xfrm>
          <a:prstGeom prst="rect">
            <a:avLst/>
          </a:prstGeom>
          <a:noFill/>
          <a:ln/>
        </p:spPr>
        <p:txBody>
          <a:bodyPr wrap="square" lIns="0" tIns="0" rIns="0" bIns="0" rtlCol="0" anchor="t"/>
          <a:lstStyle/>
          <a:p>
            <a:pPr indent="0" marL="0">
              <a:buNone/>
            </a:pPr>
            <a:r>
              <a:rPr lang="en-US" sz="1250" dirty="0">
                <a:solidFill>
                  <a:srgbClr val="F4EBD5"/>
                </a:solidFill>
                <a:latin typeface="Calibri" pitchFamily="34" charset="0"/>
                <a:ea typeface="Calibri" pitchFamily="34" charset="-122"/>
                <a:cs typeface="Calibri" pitchFamily="34" charset="-120"/>
              </a:rPr>
              <a:t>Builds a marketing funnel for each app</a:t>
            </a:r>
            <a:endParaRPr lang="en-US" sz="1250" dirty="0"/>
          </a:p>
        </p:txBody>
      </p:sp>
      <p:sp>
        <p:nvSpPr>
          <p:cNvPr id="31" name="Text 25"/>
          <p:cNvSpPr txBox="1"/>
          <p:nvPr/>
        </p:nvSpPr>
        <p:spPr>
          <a:xfrm>
            <a:off x="6949440" y="3611880"/>
            <a:ext cx="1600200" cy="960120"/>
          </a:xfrm>
          <a:prstGeom prst="rect">
            <a:avLst/>
          </a:prstGeom>
          <a:noFill/>
          <a:ln/>
        </p:spPr>
        <p:txBody>
          <a:bodyPr wrap="square" lIns="0" tIns="0" rIns="0" bIns="0" rtlCol="0" anchor="t"/>
          <a:lstStyle/>
          <a:p>
            <a:pPr indent="0" marL="0">
              <a:buNone/>
            </a:pPr>
            <a:r>
              <a:rPr lang="en-US" sz="1100" dirty="0">
                <a:solidFill>
                  <a:srgbClr val="B7CDB6"/>
                </a:solidFill>
                <a:latin typeface="Calibri" pitchFamily="34" charset="0"/>
                <a:ea typeface="Calibri" pitchFamily="34" charset="-122"/>
                <a:cs typeface="Calibri" pitchFamily="34" charset="-120"/>
              </a:rPr>
              <a:t>Attractive Character · Framework Extractor · One-to-Many Emails, Social, Ads &amp; Presentations</a:t>
            </a:r>
            <a:endParaRPr lang="en-US" sz="1100" dirty="0"/>
          </a:p>
        </p:txBody>
      </p:sp>
      <p:sp>
        <p:nvSpPr>
          <p:cNvPr id="33" name="Text 26"/>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B7CDB6"/>
                </a:solidFill>
                <a:latin typeface="Calibri" pitchFamily="34" charset="0"/>
                <a:ea typeface="Calibri" pitchFamily="34" charset="-122"/>
                <a:cs typeface="Calibri" pitchFamily="34" charset="-120"/>
              </a:rPr>
              <a:t>Cedarworks Apps  ·  Confidential</a:t>
            </a:r>
            <a:endParaRPr lang="en-US" sz="900" dirty="0"/>
          </a:p>
        </p:txBody>
      </p:sp>
      <p:sp>
        <p:nvSpPr>
          <p:cNvPr id="34" name="Text 27"/>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B7CDB6"/>
                </a:solidFill>
                <a:latin typeface="Calibri" pitchFamily="34" charset="0"/>
                <a:ea typeface="Calibri" pitchFamily="34" charset="-122"/>
                <a:cs typeface="Calibri" pitchFamily="34" charset="-120"/>
              </a:rPr>
              <a:t>7 / 29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Traction &amp; Metrics</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Built, shipped and live, before raising a dollar</a:t>
            </a:r>
            <a:endParaRPr lang="en-US" sz="2600" dirty="0"/>
          </a:p>
        </p:txBody>
      </p:sp>
      <p:sp>
        <p:nvSpPr>
          <p:cNvPr id="4" name="Shape 2"/>
          <p:cNvSpPr/>
          <p:nvPr/>
        </p:nvSpPr>
        <p:spPr>
          <a:xfrm>
            <a:off x="457200" y="1371600"/>
            <a:ext cx="1920240" cy="1051560"/>
          </a:xfrm>
          <a:prstGeom prst="roundRect">
            <a:avLst>
              <a:gd name="adj" fmla="val 6957"/>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40080" y="1463040"/>
            <a:ext cx="1591056" cy="475488"/>
          </a:xfrm>
          <a:prstGeom prst="rect">
            <a:avLst/>
          </a:prstGeom>
          <a:noFill/>
          <a:ln/>
        </p:spPr>
        <p:txBody>
          <a:bodyPr wrap="square" lIns="0" tIns="0" rIns="0" bIns="0" rtlCol="0" anchor="ctr"/>
          <a:lstStyle/>
          <a:p>
            <a:pPr indent="0" marL="0">
              <a:buNone/>
            </a:pPr>
            <a:r>
              <a:rPr lang="en-US" sz="3000" b="1" dirty="0">
                <a:solidFill>
                  <a:srgbClr val="143D28"/>
                </a:solidFill>
                <a:latin typeface="Cambria" pitchFamily="34" charset="0"/>
                <a:ea typeface="Cambria" pitchFamily="34" charset="-122"/>
                <a:cs typeface="Cambria" pitchFamily="34" charset="-120"/>
              </a:rPr>
              <a:t>2</a:t>
            </a:r>
            <a:endParaRPr lang="en-US" sz="3000" dirty="0"/>
          </a:p>
        </p:txBody>
      </p:sp>
      <p:sp>
        <p:nvSpPr>
          <p:cNvPr id="6" name="Text 4"/>
          <p:cNvSpPr txBox="1"/>
          <p:nvPr/>
        </p:nvSpPr>
        <p:spPr>
          <a:xfrm>
            <a:off x="640080" y="1956816"/>
            <a:ext cx="1591056" cy="429768"/>
          </a:xfrm>
          <a:prstGeom prst="rect">
            <a:avLst/>
          </a:prstGeom>
          <a:noFill/>
          <a:ln/>
        </p:spPr>
        <p:txBody>
          <a:bodyPr wrap="square" lIns="0" tIns="0" rIns="0" bIns="0" rtlCol="0" anchor="t"/>
          <a:lstStyle/>
          <a:p>
            <a:pPr indent="0" marL="0">
              <a:buNone/>
            </a:pPr>
            <a:r>
              <a:rPr lang="en-US" sz="1200" dirty="0">
                <a:solidFill>
                  <a:srgbClr val="4E5D53"/>
                </a:solidFill>
                <a:latin typeface="Calibri" pitchFamily="34" charset="0"/>
                <a:ea typeface="Calibri" pitchFamily="34" charset="-122"/>
                <a:cs typeface="Calibri" pitchFamily="34" charset="-120"/>
              </a:rPr>
              <a:t>AI apps live in the app stores</a:t>
            </a:r>
            <a:endParaRPr lang="en-US" sz="1200" dirty="0"/>
          </a:p>
        </p:txBody>
      </p:sp>
      <p:sp>
        <p:nvSpPr>
          <p:cNvPr id="7" name="Shape 5"/>
          <p:cNvSpPr/>
          <p:nvPr/>
        </p:nvSpPr>
        <p:spPr>
          <a:xfrm>
            <a:off x="2560320" y="1371600"/>
            <a:ext cx="1920240" cy="1051560"/>
          </a:xfrm>
          <a:prstGeom prst="roundRect">
            <a:avLst>
              <a:gd name="adj" fmla="val 6957"/>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2743200" y="1463040"/>
            <a:ext cx="1591056" cy="475488"/>
          </a:xfrm>
          <a:prstGeom prst="rect">
            <a:avLst/>
          </a:prstGeom>
          <a:noFill/>
          <a:ln/>
        </p:spPr>
        <p:txBody>
          <a:bodyPr wrap="square" lIns="0" tIns="0" rIns="0" bIns="0" rtlCol="0" anchor="ctr"/>
          <a:lstStyle/>
          <a:p>
            <a:pPr indent="0" marL="0">
              <a:buNone/>
            </a:pPr>
            <a:r>
              <a:rPr lang="en-US" sz="3000" b="1" dirty="0">
                <a:solidFill>
                  <a:srgbClr val="143D28"/>
                </a:solidFill>
                <a:latin typeface="Cambria" pitchFamily="34" charset="0"/>
                <a:ea typeface="Cambria" pitchFamily="34" charset="-122"/>
                <a:cs typeface="Cambria" pitchFamily="34" charset="-120"/>
              </a:rPr>
              <a:t>3</a:t>
            </a:r>
            <a:endParaRPr lang="en-US" sz="3000" dirty="0"/>
          </a:p>
        </p:txBody>
      </p:sp>
      <p:sp>
        <p:nvSpPr>
          <p:cNvPr id="9" name="Text 7"/>
          <p:cNvSpPr txBox="1"/>
          <p:nvPr/>
        </p:nvSpPr>
        <p:spPr>
          <a:xfrm>
            <a:off x="2743200" y="1956816"/>
            <a:ext cx="1591056" cy="429768"/>
          </a:xfrm>
          <a:prstGeom prst="rect">
            <a:avLst/>
          </a:prstGeom>
          <a:noFill/>
          <a:ln/>
        </p:spPr>
        <p:txBody>
          <a:bodyPr wrap="square" lIns="0" tIns="0" rIns="0" bIns="0" rtlCol="0" anchor="t"/>
          <a:lstStyle/>
          <a:p>
            <a:pPr indent="0" marL="0">
              <a:buNone/>
            </a:pPr>
            <a:r>
              <a:rPr lang="en-US" sz="1200" dirty="0">
                <a:solidFill>
                  <a:srgbClr val="4E5D53"/>
                </a:solidFill>
                <a:latin typeface="Calibri" pitchFamily="34" charset="0"/>
                <a:ea typeface="Calibri" pitchFamily="34" charset="-122"/>
                <a:cs typeface="Calibri" pitchFamily="34" charset="-120"/>
              </a:rPr>
              <a:t>platforms: iOS, Android, web</a:t>
            </a:r>
            <a:endParaRPr lang="en-US" sz="1200" dirty="0"/>
          </a:p>
        </p:txBody>
      </p:sp>
      <p:sp>
        <p:nvSpPr>
          <p:cNvPr id="10" name="Shape 8"/>
          <p:cNvSpPr/>
          <p:nvPr/>
        </p:nvSpPr>
        <p:spPr>
          <a:xfrm>
            <a:off x="4663440" y="1371600"/>
            <a:ext cx="1920240" cy="1051560"/>
          </a:xfrm>
          <a:prstGeom prst="roundRect">
            <a:avLst>
              <a:gd name="adj" fmla="val 6957"/>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4846320" y="1463040"/>
            <a:ext cx="1591056" cy="475488"/>
          </a:xfrm>
          <a:prstGeom prst="rect">
            <a:avLst/>
          </a:prstGeom>
          <a:noFill/>
          <a:ln/>
        </p:spPr>
        <p:txBody>
          <a:bodyPr wrap="square" lIns="0" tIns="0" rIns="0" bIns="0" rtlCol="0" anchor="ctr"/>
          <a:lstStyle/>
          <a:p>
            <a:pPr indent="0" marL="0">
              <a:buNone/>
            </a:pPr>
            <a:r>
              <a:rPr lang="en-US" sz="3000" b="1" dirty="0">
                <a:solidFill>
                  <a:srgbClr val="143D28"/>
                </a:solidFill>
                <a:latin typeface="Cambria" pitchFamily="34" charset="0"/>
                <a:ea typeface="Cambria" pitchFamily="34" charset="-122"/>
                <a:cs typeface="Cambria" pitchFamily="34" charset="-120"/>
              </a:rPr>
              <a:t>~30</a:t>
            </a:r>
            <a:endParaRPr lang="en-US" sz="3000" dirty="0"/>
          </a:p>
        </p:txBody>
      </p:sp>
      <p:sp>
        <p:nvSpPr>
          <p:cNvPr id="12" name="Text 10"/>
          <p:cNvSpPr txBox="1"/>
          <p:nvPr/>
        </p:nvSpPr>
        <p:spPr>
          <a:xfrm>
            <a:off x="4846320" y="1956816"/>
            <a:ext cx="1591056" cy="429768"/>
          </a:xfrm>
          <a:prstGeom prst="rect">
            <a:avLst/>
          </a:prstGeom>
          <a:noFill/>
          <a:ln/>
        </p:spPr>
        <p:txBody>
          <a:bodyPr wrap="square" lIns="0" tIns="0" rIns="0" bIns="0" rtlCol="0" anchor="t"/>
          <a:lstStyle/>
          <a:p>
            <a:pPr indent="0" marL="0">
              <a:buNone/>
            </a:pPr>
            <a:r>
              <a:rPr lang="en-US" sz="1200" dirty="0">
                <a:solidFill>
                  <a:srgbClr val="4E5D53"/>
                </a:solidFill>
                <a:latin typeface="Calibri" pitchFamily="34" charset="0"/>
                <a:ea typeface="Calibri" pitchFamily="34" charset="-122"/>
                <a:cs typeface="Calibri" pitchFamily="34" charset="-120"/>
              </a:rPr>
              <a:t>trial users across both apps</a:t>
            </a:r>
            <a:endParaRPr lang="en-US" sz="1200" dirty="0"/>
          </a:p>
        </p:txBody>
      </p:sp>
      <p:sp>
        <p:nvSpPr>
          <p:cNvPr id="13" name="Shape 11"/>
          <p:cNvSpPr/>
          <p:nvPr/>
        </p:nvSpPr>
        <p:spPr>
          <a:xfrm>
            <a:off x="6766560" y="1371600"/>
            <a:ext cx="1920240" cy="1051560"/>
          </a:xfrm>
          <a:prstGeom prst="roundRect">
            <a:avLst>
              <a:gd name="adj" fmla="val 6957"/>
            </a:avLst>
          </a:prstGeom>
          <a:solidFill>
            <a:srgbClr val="143D28"/>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4" name="Text 12"/>
          <p:cNvSpPr txBox="1"/>
          <p:nvPr/>
        </p:nvSpPr>
        <p:spPr>
          <a:xfrm>
            <a:off x="6949440" y="1463040"/>
            <a:ext cx="1591056" cy="475488"/>
          </a:xfrm>
          <a:prstGeom prst="rect">
            <a:avLst/>
          </a:prstGeom>
          <a:noFill/>
          <a:ln/>
        </p:spPr>
        <p:txBody>
          <a:bodyPr wrap="square" lIns="0" tIns="0" rIns="0" bIns="0" rtlCol="0" anchor="ctr"/>
          <a:lstStyle/>
          <a:p>
            <a:pPr indent="0" marL="0">
              <a:buNone/>
            </a:pPr>
            <a:r>
              <a:rPr lang="en-US" sz="2400" b="1" dirty="0">
                <a:solidFill>
                  <a:srgbClr val="F4EBD5"/>
                </a:solidFill>
                <a:latin typeface="Cambria" pitchFamily="34" charset="0"/>
                <a:ea typeface="Cambria" pitchFamily="34" charset="-122"/>
                <a:cs typeface="Cambria" pitchFamily="34" charset="-120"/>
              </a:rPr>
              <a:t>$0 MRR</a:t>
            </a:r>
            <a:endParaRPr lang="en-US" sz="2400" dirty="0"/>
          </a:p>
        </p:txBody>
      </p:sp>
      <p:sp>
        <p:nvSpPr>
          <p:cNvPr id="15" name="Text 13"/>
          <p:cNvSpPr txBox="1"/>
          <p:nvPr/>
        </p:nvSpPr>
        <p:spPr>
          <a:xfrm>
            <a:off x="6949440" y="1956816"/>
            <a:ext cx="1591056" cy="429768"/>
          </a:xfrm>
          <a:prstGeom prst="rect">
            <a:avLst/>
          </a:prstGeom>
          <a:noFill/>
          <a:ln/>
        </p:spPr>
        <p:txBody>
          <a:bodyPr wrap="square" lIns="0" tIns="0" rIns="0" bIns="0" rtlCol="0" anchor="t"/>
          <a:lstStyle/>
          <a:p>
            <a:pPr indent="0" marL="0">
              <a:buNone/>
            </a:pPr>
            <a:r>
              <a:rPr lang="en-US" sz="1200" dirty="0">
                <a:solidFill>
                  <a:srgbClr val="B7CDB6"/>
                </a:solidFill>
                <a:latin typeface="Calibri" pitchFamily="34" charset="0"/>
                <a:ea typeface="Calibri" pitchFamily="34" charset="-122"/>
                <a:cs typeface="Calibri" pitchFamily="34" charset="-120"/>
              </a:rPr>
              <a:t>pre-revenue · team of 1</a:t>
            </a:r>
            <a:endParaRPr lang="en-US" sz="1200" dirty="0"/>
          </a:p>
        </p:txBody>
      </p:sp>
      <p:sp>
        <p:nvSpPr>
          <p:cNvPr id="16" name="Shape 14"/>
          <p:cNvSpPr/>
          <p:nvPr/>
        </p:nvSpPr>
        <p:spPr>
          <a:xfrm>
            <a:off x="457200" y="2606040"/>
            <a:ext cx="4023360" cy="2011680"/>
          </a:xfrm>
          <a:prstGeom prst="roundRect">
            <a:avLst>
              <a:gd name="adj" fmla="val 3636"/>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7" name="Text 15"/>
          <p:cNvSpPr txBox="1"/>
          <p:nvPr/>
        </p:nvSpPr>
        <p:spPr>
          <a:xfrm>
            <a:off x="685800" y="2724912"/>
            <a:ext cx="3566160" cy="256032"/>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What's already proven</a:t>
            </a:r>
            <a:endParaRPr lang="en-US" sz="1300" dirty="0"/>
          </a:p>
        </p:txBody>
      </p:sp>
      <p:sp>
        <p:nvSpPr>
          <p:cNvPr id="18" name="Text 16"/>
          <p:cNvSpPr txBox="1"/>
          <p:nvPr/>
        </p:nvSpPr>
        <p:spPr>
          <a:xfrm>
            <a:off x="685800" y="3017520"/>
            <a:ext cx="3657600" cy="1554480"/>
          </a:xfrm>
          <a:prstGeom prst="rect">
            <a:avLst/>
          </a:prstGeom>
          <a:noFill/>
          <a:ln/>
        </p:spPr>
        <p:txBody>
          <a:bodyPr wrap="square" lIns="0" tIns="0" rIns="0" bIns="0" rtlCol="0" anchor="t"/>
          <a:lstStyle/>
          <a:p>
            <a:pPr marL="190500" indent="-190500">
              <a:spcAft>
                <a:spcPts val="200"/>
              </a:spcAft>
              <a:buSzPct val="100000"/>
              <a:buChar char="•"/>
            </a:pPr>
            <a:r>
              <a:rPr lang="en-US" sz="1250" dirty="0">
                <a:solidFill>
                  <a:srgbClr val="1B2A21"/>
                </a:solidFill>
                <a:latin typeface="Calibri" pitchFamily="34" charset="0"/>
                <a:ea typeface="Calibri" pitchFamily="34" charset="-122"/>
                <a:cs typeface="Calibri" pitchFamily="34" charset="-120"/>
              </a:rPr>
              <a:t>Two complete AI apps (one with voice AI) shipped solo</a:t>
            </a:r>
            <a:endParaRPr lang="en-US" sz="1250" dirty="0"/>
          </a:p>
          <a:p>
            <a:pPr marL="190500" indent="-190500">
              <a:spcAft>
                <a:spcPts val="200"/>
              </a:spcAft>
              <a:buSzPct val="100000"/>
              <a:buChar char="•"/>
            </a:pPr>
            <a:r>
              <a:rPr lang="en-US" sz="1250" dirty="0">
                <a:solidFill>
                  <a:srgbClr val="1B2A21"/>
                </a:solidFill>
                <a:latin typeface="Calibri" pitchFamily="34" charset="0"/>
                <a:ea typeface="Calibri" pitchFamily="34" charset="-122"/>
                <a:cs typeface="Calibri" pitchFamily="34" charset="-120"/>
              </a:rPr>
              <a:t>Live on App Store, Google Play and web</a:t>
            </a:r>
            <a:endParaRPr lang="en-US" sz="1250" dirty="0"/>
          </a:p>
          <a:p>
            <a:pPr marL="190500" indent="-190500">
              <a:spcAft>
                <a:spcPts val="200"/>
              </a:spcAft>
              <a:buSzPct val="100000"/>
              <a:buChar char="•"/>
            </a:pPr>
            <a:r>
              <a:rPr lang="en-US" sz="1250" dirty="0">
                <a:solidFill>
                  <a:srgbClr val="1B2A21"/>
                </a:solidFill>
                <a:latin typeface="Calibri" pitchFamily="34" charset="0"/>
                <a:ea typeface="Calibri" pitchFamily="34" charset="-122"/>
                <a:cs typeface="Calibri" pitchFamily="34" charset="-120"/>
              </a:rPr>
              <a:t>Subscriptions and free trials working</a:t>
            </a:r>
            <a:endParaRPr lang="en-US" sz="1250" dirty="0"/>
          </a:p>
          <a:p>
            <a:pPr marL="190500" indent="-190500">
              <a:spcAft>
                <a:spcPts val="200"/>
              </a:spcAft>
              <a:buSzPct val="100000"/>
              <a:buChar char="•"/>
            </a:pPr>
            <a:r>
              <a:rPr lang="en-US" sz="1250" dirty="0">
                <a:solidFill>
                  <a:srgbClr val="1B2A21"/>
                </a:solidFill>
                <a:latin typeface="Calibri" pitchFamily="34" charset="0"/>
                <a:ea typeface="Calibri" pitchFamily="34" charset="-122"/>
                <a:cs typeface="Calibri" pitchFamily="34" charset="-120"/>
              </a:rPr>
              <a:t>AppForge built and ready for apps 3–10</a:t>
            </a:r>
            <a:endParaRPr lang="en-US" sz="1250" dirty="0"/>
          </a:p>
          <a:p>
            <a:pPr marL="190500" indent="-190500">
              <a:spcAft>
                <a:spcPts val="200"/>
              </a:spcAft>
              <a:buSzPct val="100000"/>
              <a:buChar char="•"/>
            </a:pPr>
            <a:r>
              <a:rPr lang="en-US" sz="1250" dirty="0">
                <a:solidFill>
                  <a:srgbClr val="1B2A21"/>
                </a:solidFill>
                <a:latin typeface="Calibri" pitchFamily="34" charset="0"/>
                <a:ea typeface="Calibri" pitchFamily="34" charset="-122"/>
                <a:cs typeface="Calibri" pitchFamily="34" charset="-120"/>
              </a:rPr>
              <a:t>First testimonial from a trial user</a:t>
            </a:r>
            <a:endParaRPr lang="en-US" sz="1250" dirty="0"/>
          </a:p>
        </p:txBody>
      </p:sp>
      <p:sp>
        <p:nvSpPr>
          <p:cNvPr id="19" name="Shape 17"/>
          <p:cNvSpPr/>
          <p:nvPr/>
        </p:nvSpPr>
        <p:spPr>
          <a:xfrm>
            <a:off x="4663440" y="2606040"/>
            <a:ext cx="4023360" cy="2011680"/>
          </a:xfrm>
          <a:prstGeom prst="roundRect">
            <a:avLst>
              <a:gd name="adj" fmla="val 3636"/>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4892040" y="2724912"/>
            <a:ext cx="3566160" cy="256032"/>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What we'll prove next (90 days)</a:t>
            </a:r>
            <a:endParaRPr lang="en-US" sz="1300" dirty="0"/>
          </a:p>
        </p:txBody>
      </p:sp>
      <p:sp>
        <p:nvSpPr>
          <p:cNvPr id="21" name="Text 19"/>
          <p:cNvSpPr txBox="1"/>
          <p:nvPr/>
        </p:nvSpPr>
        <p:spPr>
          <a:xfrm>
            <a:off x="4892040" y="3063240"/>
            <a:ext cx="2651760" cy="292608"/>
          </a:xfrm>
          <a:prstGeom prst="rect">
            <a:avLst/>
          </a:prstGeom>
          <a:noFill/>
          <a:ln/>
        </p:spPr>
        <p:txBody>
          <a:bodyPr wrap="square" lIns="0" tIns="0" rIns="0" bIns="0" rtlCol="0" anchor="t"/>
          <a:lstStyle/>
          <a:p>
            <a:pPr indent="0" marL="0">
              <a:buNone/>
            </a:pPr>
            <a:r>
              <a:rPr lang="en-US" sz="1250" dirty="0">
                <a:solidFill>
                  <a:srgbClr val="1B2A21"/>
                </a:solidFill>
                <a:latin typeface="Calibri" pitchFamily="34" charset="0"/>
                <a:ea typeface="Calibri" pitchFamily="34" charset="-122"/>
                <a:cs typeface="Calibri" pitchFamily="34" charset="-120"/>
              </a:rPr>
              <a:t>Paying subscribers</a:t>
            </a:r>
            <a:endParaRPr lang="en-US" sz="1250" dirty="0"/>
          </a:p>
        </p:txBody>
      </p:sp>
      <p:sp>
        <p:nvSpPr>
          <p:cNvPr id="22" name="Text 20"/>
          <p:cNvSpPr txBox="1"/>
          <p:nvPr/>
        </p:nvSpPr>
        <p:spPr>
          <a:xfrm>
            <a:off x="7498080" y="3063240"/>
            <a:ext cx="1005840" cy="292608"/>
          </a:xfrm>
          <a:prstGeom prst="rect">
            <a:avLst/>
          </a:prstGeom>
          <a:noFill/>
          <a:ln/>
        </p:spPr>
        <p:txBody>
          <a:bodyPr wrap="square" lIns="0" tIns="0" rIns="0" bIns="0" rtlCol="0" anchor="t"/>
          <a:lstStyle/>
          <a:p>
            <a:pPr algn="r" indent="0" marL="0">
              <a:buNone/>
            </a:pPr>
            <a:r>
              <a:rPr lang="en-US" sz="1250" b="1" dirty="0">
                <a:solidFill>
                  <a:srgbClr val="143D28"/>
                </a:solidFill>
                <a:latin typeface="Calibri" pitchFamily="34" charset="0"/>
                <a:ea typeface="Calibri" pitchFamily="34" charset="-122"/>
                <a:cs typeface="Calibri" pitchFamily="34" charset="-120"/>
              </a:rPr>
              <a:t>75</a:t>
            </a:r>
            <a:endParaRPr lang="en-US" sz="1250" dirty="0"/>
          </a:p>
        </p:txBody>
      </p:sp>
      <p:sp>
        <p:nvSpPr>
          <p:cNvPr id="23" name="Text 21"/>
          <p:cNvSpPr txBox="1"/>
          <p:nvPr/>
        </p:nvSpPr>
        <p:spPr>
          <a:xfrm>
            <a:off x="4892040" y="3429000"/>
            <a:ext cx="2651760" cy="292608"/>
          </a:xfrm>
          <a:prstGeom prst="rect">
            <a:avLst/>
          </a:prstGeom>
          <a:noFill/>
          <a:ln/>
        </p:spPr>
        <p:txBody>
          <a:bodyPr wrap="square" lIns="0" tIns="0" rIns="0" bIns="0" rtlCol="0" anchor="t"/>
          <a:lstStyle/>
          <a:p>
            <a:pPr indent="0" marL="0">
              <a:buNone/>
            </a:pPr>
            <a:r>
              <a:rPr lang="en-US" sz="1250" dirty="0">
                <a:solidFill>
                  <a:srgbClr val="1B2A21"/>
                </a:solidFill>
                <a:latin typeface="Calibri" pitchFamily="34" charset="0"/>
                <a:ea typeface="Calibri" pitchFamily="34" charset="-122"/>
                <a:cs typeface="Calibri" pitchFamily="34" charset="-120"/>
              </a:rPr>
              <a:t>Monthly revenue (MRR)</a:t>
            </a:r>
            <a:endParaRPr lang="en-US" sz="1250" dirty="0"/>
          </a:p>
        </p:txBody>
      </p:sp>
      <p:sp>
        <p:nvSpPr>
          <p:cNvPr id="24" name="Text 22"/>
          <p:cNvSpPr txBox="1"/>
          <p:nvPr/>
        </p:nvSpPr>
        <p:spPr>
          <a:xfrm>
            <a:off x="7498080" y="3429000"/>
            <a:ext cx="1005840" cy="292608"/>
          </a:xfrm>
          <a:prstGeom prst="rect">
            <a:avLst/>
          </a:prstGeom>
          <a:noFill/>
          <a:ln/>
        </p:spPr>
        <p:txBody>
          <a:bodyPr wrap="square" lIns="0" tIns="0" rIns="0" bIns="0" rtlCol="0" anchor="t"/>
          <a:lstStyle/>
          <a:p>
            <a:pPr algn="r" indent="0" marL="0">
              <a:buNone/>
            </a:pPr>
            <a:r>
              <a:rPr lang="en-US" sz="1250" b="1" dirty="0">
                <a:solidFill>
                  <a:srgbClr val="143D28"/>
                </a:solidFill>
                <a:latin typeface="Calibri" pitchFamily="34" charset="0"/>
                <a:ea typeface="Calibri" pitchFamily="34" charset="-122"/>
                <a:cs typeface="Calibri" pitchFamily="34" charset="-120"/>
              </a:rPr>
              <a:t>~$2,850</a:t>
            </a:r>
            <a:endParaRPr lang="en-US" sz="1250" dirty="0"/>
          </a:p>
        </p:txBody>
      </p:sp>
      <p:sp>
        <p:nvSpPr>
          <p:cNvPr id="25" name="Text 23"/>
          <p:cNvSpPr txBox="1"/>
          <p:nvPr/>
        </p:nvSpPr>
        <p:spPr>
          <a:xfrm>
            <a:off x="4892040" y="3794760"/>
            <a:ext cx="2651760" cy="292608"/>
          </a:xfrm>
          <a:prstGeom prst="rect">
            <a:avLst/>
          </a:prstGeom>
          <a:noFill/>
          <a:ln/>
        </p:spPr>
        <p:txBody>
          <a:bodyPr wrap="square" lIns="0" tIns="0" rIns="0" bIns="0" rtlCol="0" anchor="t"/>
          <a:lstStyle/>
          <a:p>
            <a:pPr indent="0" marL="0">
              <a:buNone/>
            </a:pPr>
            <a:r>
              <a:rPr lang="en-US" sz="1250" dirty="0">
                <a:solidFill>
                  <a:srgbClr val="1B2A21"/>
                </a:solidFill>
                <a:latin typeface="Calibri" pitchFamily="34" charset="0"/>
                <a:ea typeface="Calibri" pitchFamily="34" charset="-122"/>
                <a:cs typeface="Calibri" pitchFamily="34" charset="-120"/>
              </a:rPr>
              <a:t>Trials that convert to paid</a:t>
            </a:r>
            <a:endParaRPr lang="en-US" sz="1250" dirty="0"/>
          </a:p>
        </p:txBody>
      </p:sp>
      <p:sp>
        <p:nvSpPr>
          <p:cNvPr id="26" name="Text 24"/>
          <p:cNvSpPr txBox="1"/>
          <p:nvPr/>
        </p:nvSpPr>
        <p:spPr>
          <a:xfrm>
            <a:off x="7498080" y="3794760"/>
            <a:ext cx="1005840" cy="292608"/>
          </a:xfrm>
          <a:prstGeom prst="rect">
            <a:avLst/>
          </a:prstGeom>
          <a:noFill/>
          <a:ln/>
        </p:spPr>
        <p:txBody>
          <a:bodyPr wrap="square" lIns="0" tIns="0" rIns="0" bIns="0" rtlCol="0" anchor="t"/>
          <a:lstStyle/>
          <a:p>
            <a:pPr algn="r" indent="0" marL="0">
              <a:buNone/>
            </a:pPr>
            <a:r>
              <a:rPr lang="en-US" sz="1250" b="1" dirty="0">
                <a:solidFill>
                  <a:srgbClr val="143D28"/>
                </a:solidFill>
                <a:latin typeface="Calibri" pitchFamily="34" charset="0"/>
                <a:ea typeface="Calibri" pitchFamily="34" charset="-122"/>
                <a:cs typeface="Calibri" pitchFamily="34" charset="-120"/>
              </a:rPr>
              <a:t>20%+</a:t>
            </a:r>
            <a:endParaRPr lang="en-US" sz="1250" dirty="0"/>
          </a:p>
        </p:txBody>
      </p:sp>
      <p:sp>
        <p:nvSpPr>
          <p:cNvPr id="27" name="Text 25"/>
          <p:cNvSpPr txBox="1"/>
          <p:nvPr/>
        </p:nvSpPr>
        <p:spPr>
          <a:xfrm>
            <a:off x="4892040" y="4160520"/>
            <a:ext cx="2651760" cy="292608"/>
          </a:xfrm>
          <a:prstGeom prst="rect">
            <a:avLst/>
          </a:prstGeom>
          <a:noFill/>
          <a:ln/>
        </p:spPr>
        <p:txBody>
          <a:bodyPr wrap="square" lIns="0" tIns="0" rIns="0" bIns="0" rtlCol="0" anchor="t"/>
          <a:lstStyle/>
          <a:p>
            <a:pPr indent="0" marL="0">
              <a:buNone/>
            </a:pPr>
            <a:r>
              <a:rPr lang="en-US" sz="1250" dirty="0">
                <a:solidFill>
                  <a:srgbClr val="1B2A21"/>
                </a:solidFill>
                <a:latin typeface="Calibri" pitchFamily="34" charset="0"/>
                <a:ea typeface="Calibri" pitchFamily="34" charset="-122"/>
                <a:cs typeface="Calibri" pitchFamily="34" charset="-120"/>
              </a:rPr>
              <a:t>Subscribers who cancel each month</a:t>
            </a:r>
            <a:endParaRPr lang="en-US" sz="1250" dirty="0"/>
          </a:p>
        </p:txBody>
      </p:sp>
      <p:sp>
        <p:nvSpPr>
          <p:cNvPr id="28" name="Text 26"/>
          <p:cNvSpPr txBox="1"/>
          <p:nvPr/>
        </p:nvSpPr>
        <p:spPr>
          <a:xfrm>
            <a:off x="7498080" y="4160520"/>
            <a:ext cx="1005840" cy="292608"/>
          </a:xfrm>
          <a:prstGeom prst="rect">
            <a:avLst/>
          </a:prstGeom>
          <a:noFill/>
          <a:ln/>
        </p:spPr>
        <p:txBody>
          <a:bodyPr wrap="square" lIns="0" tIns="0" rIns="0" bIns="0" rtlCol="0" anchor="t"/>
          <a:lstStyle/>
          <a:p>
            <a:pPr algn="r" indent="0" marL="0">
              <a:buNone/>
            </a:pPr>
            <a:r>
              <a:rPr lang="en-US" sz="1250" b="1" dirty="0">
                <a:solidFill>
                  <a:srgbClr val="143D28"/>
                </a:solidFill>
                <a:latin typeface="Calibri" pitchFamily="34" charset="0"/>
                <a:ea typeface="Calibri" pitchFamily="34" charset="-122"/>
                <a:cs typeface="Calibri" pitchFamily="34" charset="-120"/>
              </a:rPr>
              <a:t>under 6%</a:t>
            </a:r>
            <a:endParaRPr lang="en-US" sz="1250" dirty="0"/>
          </a:p>
        </p:txBody>
      </p:sp>
      <p:sp>
        <p:nvSpPr>
          <p:cNvPr id="30" name="Text 27"/>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31" name="Text 28"/>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8 / 29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Roadmap &amp; Milestones  ·  Our focus plan</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Prove two apps first, then scale with AppForge</a:t>
            </a:r>
            <a:endParaRPr lang="en-US" sz="2600" dirty="0"/>
          </a:p>
        </p:txBody>
      </p:sp>
      <p:sp>
        <p:nvSpPr>
          <p:cNvPr id="4" name="Shape 2"/>
          <p:cNvSpPr/>
          <p:nvPr/>
        </p:nvSpPr>
        <p:spPr>
          <a:xfrm>
            <a:off x="457200" y="1371600"/>
            <a:ext cx="3749040" cy="2514600"/>
          </a:xfrm>
          <a:prstGeom prst="roundRect">
            <a:avLst>
              <a:gd name="adj" fmla="val 2909"/>
            </a:avLst>
          </a:prstGeom>
          <a:solidFill>
            <a:srgbClr val="143D28"/>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85800" y="1508760"/>
            <a:ext cx="3291840" cy="274320"/>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Phase 1 · Months 0–6</a:t>
            </a:r>
            <a:endParaRPr lang="en-US" sz="1300" dirty="0"/>
          </a:p>
        </p:txBody>
      </p:sp>
      <p:sp>
        <p:nvSpPr>
          <p:cNvPr id="6" name="Text 4"/>
          <p:cNvSpPr txBox="1"/>
          <p:nvPr/>
        </p:nvSpPr>
        <p:spPr>
          <a:xfrm>
            <a:off x="685800" y="1801368"/>
            <a:ext cx="3291840" cy="347472"/>
          </a:xfrm>
          <a:prstGeom prst="rect">
            <a:avLst/>
          </a:prstGeom>
          <a:noFill/>
          <a:ln/>
        </p:spPr>
        <p:txBody>
          <a:bodyPr wrap="square" lIns="0" tIns="0" rIns="0" bIns="0" rtlCol="0" anchor="t"/>
          <a:lstStyle/>
          <a:p>
            <a:pPr indent="0" marL="0">
              <a:buNone/>
            </a:pPr>
            <a:r>
              <a:rPr lang="en-US" sz="1700" b="1" dirty="0">
                <a:solidFill>
                  <a:srgbClr val="F4EBD5"/>
                </a:solidFill>
                <a:latin typeface="Cambria" pitchFamily="34" charset="0"/>
                <a:ea typeface="Cambria" pitchFamily="34" charset="-122"/>
                <a:cs typeface="Cambria" pitchFamily="34" charset="-120"/>
              </a:rPr>
              <a:t>Prove PastorAI and Ready Room</a:t>
            </a:r>
            <a:endParaRPr lang="en-US" sz="1700" dirty="0"/>
          </a:p>
        </p:txBody>
      </p:sp>
      <p:sp>
        <p:nvSpPr>
          <p:cNvPr id="7" name="Text 5"/>
          <p:cNvSpPr txBox="1"/>
          <p:nvPr/>
        </p:nvSpPr>
        <p:spPr>
          <a:xfrm>
            <a:off x="685800" y="2240280"/>
            <a:ext cx="3337560" cy="1554480"/>
          </a:xfrm>
          <a:prstGeom prst="rect">
            <a:avLst/>
          </a:prstGeom>
          <a:noFill/>
          <a:ln/>
        </p:spPr>
        <p:txBody>
          <a:bodyPr wrap="square" lIns="0" tIns="0" rIns="0" bIns="0" rtlCol="0" anchor="t"/>
          <a:lstStyle/>
          <a:p>
            <a:pPr marL="190500" indent="-190500">
              <a:spcAft>
                <a:spcPts val="400"/>
              </a:spcAft>
              <a:buSzPct val="100000"/>
              <a:buChar char="•"/>
            </a:pPr>
            <a:r>
              <a:rPr lang="en-US" sz="1250" dirty="0">
                <a:solidFill>
                  <a:srgbClr val="F4EBD5"/>
                </a:solidFill>
                <a:latin typeface="Calibri" pitchFamily="34" charset="0"/>
                <a:ea typeface="Calibri" pitchFamily="34" charset="-122"/>
                <a:cs typeface="Calibri" pitchFamily="34" charset="-120"/>
              </a:rPr>
              <a:t>Cold email and marketing to win paying customers</a:t>
            </a:r>
            <a:endParaRPr lang="en-US" sz="1250" dirty="0"/>
          </a:p>
          <a:p>
            <a:pPr marL="190500" indent="-190500">
              <a:spcAft>
                <a:spcPts val="400"/>
              </a:spcAft>
              <a:buSzPct val="100000"/>
              <a:buChar char="•"/>
            </a:pPr>
            <a:r>
              <a:rPr lang="en-US" sz="1250" dirty="0">
                <a:solidFill>
                  <a:srgbClr val="F4EBD5"/>
                </a:solidFill>
                <a:latin typeface="Calibri" pitchFamily="34" charset="0"/>
                <a:ea typeface="Calibri" pitchFamily="34" charset="-122"/>
                <a:cs typeface="Calibri" pitchFamily="34" charset="-120"/>
              </a:rPr>
              <a:t>Learn which channels win customers most cheaply</a:t>
            </a:r>
            <a:endParaRPr lang="en-US" sz="1250" dirty="0"/>
          </a:p>
          <a:p>
            <a:pPr marL="190500" indent="-190500">
              <a:spcAft>
                <a:spcPts val="400"/>
              </a:spcAft>
              <a:buSzPct val="100000"/>
              <a:buChar char="•"/>
            </a:pPr>
            <a:r>
              <a:rPr lang="en-US" sz="1250" dirty="0">
                <a:solidFill>
                  <a:srgbClr val="F4EBD5"/>
                </a:solidFill>
                <a:latin typeface="Calibri" pitchFamily="34" charset="0"/>
                <a:ea typeface="Calibri" pitchFamily="34" charset="-122"/>
                <a:cs typeface="Calibri" pitchFamily="34" charset="-120"/>
              </a:rPr>
              <a:t>Add church-staff and sales-team plans</a:t>
            </a:r>
            <a:endParaRPr lang="en-US" sz="1250" dirty="0"/>
          </a:p>
        </p:txBody>
      </p:sp>
      <p:sp>
        <p:nvSpPr>
          <p:cNvPr id="8" name="Shape 6"/>
          <p:cNvSpPr/>
          <p:nvPr/>
        </p:nvSpPr>
        <p:spPr>
          <a:xfrm>
            <a:off x="4343400" y="1920240"/>
            <a:ext cx="822960" cy="1417320"/>
          </a:xfrm>
          <a:prstGeom prst="roundRect">
            <a:avLst>
              <a:gd name="adj" fmla="val 8889"/>
            </a:avLst>
          </a:prstGeom>
          <a:solidFill>
            <a:srgbClr val="D98B3C"/>
          </a:solidFill>
          <a:ln w="12700">
            <a:solidFill>
              <a:srgbClr val="D98B3C"/>
            </a:solidFill>
            <a:prstDash val="solid"/>
          </a:ln>
        </p:spPr>
      </p:sp>
      <p:pic>
        <p:nvPicPr>
          <p:cNvPr id="9" name="Image 0" descr="preencoded.png">    </p:cNvPr>
          <p:cNvPicPr>
            <a:picLocks noChangeAspect="1"/>
          </p:cNvPicPr>
          <p:nvPr/>
        </p:nvPicPr>
        <p:blipFill>
          <a:blip r:embed="rId1"/>
          <a:stretch>
            <a:fillRect/>
          </a:stretch>
        </p:blipFill>
        <p:spPr>
          <a:xfrm>
            <a:off x="4572000" y="2057400"/>
            <a:ext cx="365760" cy="365760"/>
          </a:xfrm>
          <a:prstGeom prst="rect">
            <a:avLst/>
          </a:prstGeom>
        </p:spPr>
      </p:pic>
      <p:sp>
        <p:nvSpPr>
          <p:cNvPr id="10" name="Text 7"/>
          <p:cNvSpPr txBox="1"/>
          <p:nvPr/>
        </p:nvSpPr>
        <p:spPr>
          <a:xfrm>
            <a:off x="4343400" y="2487168"/>
            <a:ext cx="82296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Gate</a:t>
            </a:r>
            <a:endParaRPr lang="en-US" sz="1300" dirty="0"/>
          </a:p>
        </p:txBody>
      </p:sp>
      <p:sp>
        <p:nvSpPr>
          <p:cNvPr id="11" name="Text 8"/>
          <p:cNvSpPr txBox="1"/>
          <p:nvPr/>
        </p:nvSpPr>
        <p:spPr>
          <a:xfrm>
            <a:off x="4370832" y="2743200"/>
            <a:ext cx="768096" cy="50292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150 paying users</a:t>
            </a:r>
            <a:endParaRPr lang="en-US" sz="1050" dirty="0"/>
          </a:p>
        </p:txBody>
      </p:sp>
      <p:sp>
        <p:nvSpPr>
          <p:cNvPr id="12" name="Shape 9"/>
          <p:cNvSpPr/>
          <p:nvPr/>
        </p:nvSpPr>
        <p:spPr>
          <a:xfrm>
            <a:off x="5303520" y="1371600"/>
            <a:ext cx="3383280" cy="2514600"/>
          </a:xfrm>
          <a:prstGeom prst="roundRect">
            <a:avLst>
              <a:gd name="adj" fmla="val 2909"/>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5532120" y="1508760"/>
            <a:ext cx="2926080" cy="274320"/>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Phase 2 · Months 7–18</a:t>
            </a:r>
            <a:endParaRPr lang="en-US" sz="1300" dirty="0"/>
          </a:p>
        </p:txBody>
      </p:sp>
      <p:sp>
        <p:nvSpPr>
          <p:cNvPr id="14" name="Text 11"/>
          <p:cNvSpPr txBox="1"/>
          <p:nvPr/>
        </p:nvSpPr>
        <p:spPr>
          <a:xfrm>
            <a:off x="5532120" y="1801368"/>
            <a:ext cx="3017520" cy="347472"/>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Launch apps 3–10 with AppForge</a:t>
            </a:r>
            <a:endParaRPr lang="en-US" sz="1600" dirty="0"/>
          </a:p>
        </p:txBody>
      </p:sp>
      <p:sp>
        <p:nvSpPr>
          <p:cNvPr id="15" name="Text 12"/>
          <p:cNvSpPr txBox="1"/>
          <p:nvPr/>
        </p:nvSpPr>
        <p:spPr>
          <a:xfrm>
            <a:off x="5532120" y="2240280"/>
            <a:ext cx="3017520" cy="1554480"/>
          </a:xfrm>
          <a:prstGeom prst="rect">
            <a:avLst/>
          </a:prstGeom>
          <a:noFill/>
          <a:ln/>
        </p:spPr>
        <p:txBody>
          <a:bodyPr wrap="square" lIns="0" tIns="0" rIns="0" bIns="0" rtlCol="0" anchor="t"/>
          <a:lstStyle/>
          <a:p>
            <a:pPr marL="190500" indent="-190500">
              <a:spcAft>
                <a:spcPts val="400"/>
              </a:spcAft>
              <a:buSzPct val="100000"/>
              <a:buChar char="•"/>
            </a:pPr>
            <a:r>
              <a:rPr lang="en-US" sz="1250" dirty="0">
                <a:solidFill>
                  <a:srgbClr val="1B2A21"/>
                </a:solidFill>
                <a:latin typeface="Calibri" pitchFamily="34" charset="0"/>
                <a:ea typeface="Calibri" pitchFamily="34" charset="-122"/>
                <a:cs typeface="Calibri" pitchFamily="34" charset="-120"/>
              </a:rPr>
              <a:t>About one new app every 6 weeks</a:t>
            </a:r>
            <a:endParaRPr lang="en-US" sz="1250" dirty="0"/>
          </a:p>
          <a:p>
            <a:pPr marL="190500" indent="-190500">
              <a:spcAft>
                <a:spcPts val="400"/>
              </a:spcAft>
              <a:buSzPct val="100000"/>
              <a:buChar char="•"/>
            </a:pPr>
            <a:r>
              <a:rPr lang="en-US" sz="1250" dirty="0">
                <a:solidFill>
                  <a:srgbClr val="1B2A21"/>
                </a:solidFill>
                <a:latin typeface="Calibri" pitchFamily="34" charset="0"/>
                <a:ea typeface="Calibri" pitchFamily="34" charset="-122"/>
                <a:cs typeface="Calibri" pitchFamily="34" charset="-120"/>
              </a:rPr>
              <a:t>Each uses the proven sales playbook from Phase 1</a:t>
            </a:r>
            <a:endParaRPr lang="en-US" sz="1250" dirty="0"/>
          </a:p>
          <a:p>
            <a:pPr marL="190500" indent="-190500">
              <a:spcAft>
                <a:spcPts val="400"/>
              </a:spcAft>
              <a:buSzPct val="100000"/>
              <a:buChar char="•"/>
            </a:pPr>
            <a:r>
              <a:rPr lang="en-US" sz="1250" dirty="0">
                <a:solidFill>
                  <a:srgbClr val="1B2A21"/>
                </a:solidFill>
                <a:latin typeface="Calibri" pitchFamily="34" charset="0"/>
                <a:ea typeface="Calibri" pitchFamily="34" charset="-122"/>
                <a:cs typeface="Calibri" pitchFamily="34" charset="-120"/>
              </a:rPr>
              <a:t>Cross-promote apps to each other's users</a:t>
            </a:r>
            <a:endParaRPr lang="en-US" sz="1250" dirty="0"/>
          </a:p>
        </p:txBody>
      </p:sp>
      <p:sp>
        <p:nvSpPr>
          <p:cNvPr id="16" name="Shape 13"/>
          <p:cNvSpPr/>
          <p:nvPr/>
        </p:nvSpPr>
        <p:spPr>
          <a:xfrm>
            <a:off x="457200" y="4041648"/>
            <a:ext cx="8229600" cy="576072"/>
          </a:xfrm>
          <a:prstGeom prst="roundRect">
            <a:avLst>
              <a:gd name="adj" fmla="val 12698"/>
            </a:avLst>
          </a:prstGeom>
          <a:solidFill>
            <a:srgbClr val="ECE1C7"/>
          </a:solidFill>
          <a:ln w="12700">
            <a:solidFill>
              <a:srgbClr val="ECE1C7"/>
            </a:solidFill>
            <a:prstDash val="solid"/>
          </a:ln>
        </p:spPr>
      </p:sp>
      <p:sp>
        <p:nvSpPr>
          <p:cNvPr id="17" name="Text 14"/>
          <p:cNvSpPr txBox="1"/>
          <p:nvPr/>
        </p:nvSpPr>
        <p:spPr>
          <a:xfrm>
            <a:off x="685800" y="4069080"/>
            <a:ext cx="7772400" cy="521208"/>
          </a:xfrm>
          <a:prstGeom prst="rect">
            <a:avLst/>
          </a:prstGeom>
          <a:noFill/>
          <a:ln/>
        </p:spPr>
        <p:txBody>
          <a:bodyPr wrap="square" lIns="0" tIns="0" rIns="0" bIns="0" rtlCol="0" anchor="ctr"/>
          <a:lstStyle/>
          <a:p>
            <a:pPr indent="0" marL="0">
              <a:buNone/>
            </a:pPr>
            <a:r>
              <a:rPr lang="en-US" sz="1250" b="1" dirty="0">
                <a:solidFill>
                  <a:srgbClr val="143D28"/>
                </a:solidFill>
                <a:latin typeface="Calibri" pitchFamily="34" charset="0"/>
                <a:ea typeface="Calibri" pitchFamily="34" charset="-122"/>
                <a:cs typeface="Calibri" pitchFamily="34" charset="-120"/>
              </a:rPr>
              <a:t>Why this is one company, not two: </a:t>
            </a:r>
            <a:pPr indent="0" marL="0">
              <a:buNone/>
            </a:pPr>
            <a:r>
              <a:rPr lang="en-US" sz="1250" dirty="0">
                <a:solidFill>
                  <a:srgbClr val="143D28"/>
                </a:solidFill>
                <a:latin typeface="Calibri" pitchFamily="34" charset="0"/>
                <a:ea typeface="Calibri" pitchFamily="34" charset="-122"/>
                <a:cs typeface="Calibri" pitchFamily="34" charset="-120"/>
              </a:rPr>
              <a:t>every app shares one platform, one AppForge pipeline and one sales playbook: self-serve subscriptions for busy professionals.</a:t>
            </a:r>
            <a:endParaRPr lang="en-US" sz="1250" dirty="0"/>
          </a:p>
        </p:txBody>
      </p:sp>
      <p:sp>
        <p:nvSpPr>
          <p:cNvPr id="19" name="Text 15"/>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0" name="Text 16"/>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9 / 29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Market Opportunity</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Two large markets, each with room to grow</a:t>
            </a:r>
            <a:endParaRPr lang="en-US" sz="2600" dirty="0"/>
          </a:p>
        </p:txBody>
      </p:sp>
      <p:sp>
        <p:nvSpPr>
          <p:cNvPr id="4" name="Shape 2"/>
          <p:cNvSpPr/>
          <p:nvPr/>
        </p:nvSpPr>
        <p:spPr>
          <a:xfrm>
            <a:off x="457200" y="1325880"/>
            <a:ext cx="4023360" cy="2743200"/>
          </a:xfrm>
          <a:prstGeom prst="roundRect">
            <a:avLst>
              <a:gd name="adj" fmla="val 2667"/>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58368" y="1463040"/>
            <a:ext cx="457200" cy="457200"/>
          </a:xfrm>
          <a:prstGeom prst="ellipse">
            <a:avLst/>
          </a:prstGeom>
          <a:solidFill>
            <a:srgbClr val="FFFFFF"/>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777240" y="1581912"/>
            <a:ext cx="219456" cy="219456"/>
          </a:xfrm>
          <a:prstGeom prst="rect">
            <a:avLst/>
          </a:prstGeom>
        </p:spPr>
      </p:pic>
      <p:sp>
        <p:nvSpPr>
          <p:cNvPr id="7" name="Text 4"/>
          <p:cNvSpPr txBox="1"/>
          <p:nvPr/>
        </p:nvSpPr>
        <p:spPr>
          <a:xfrm>
            <a:off x="1234440" y="1517904"/>
            <a:ext cx="3108960" cy="320040"/>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PastorAI: churches</a:t>
            </a:r>
            <a:endParaRPr lang="en-US" sz="1500" dirty="0"/>
          </a:p>
        </p:txBody>
      </p:sp>
      <p:sp>
        <p:nvSpPr>
          <p:cNvPr id="8" name="Text 5"/>
          <p:cNvSpPr txBox="1"/>
          <p:nvPr/>
        </p:nvSpPr>
        <p:spPr>
          <a:xfrm>
            <a:off x="685800" y="1965960"/>
            <a:ext cx="1737360" cy="457200"/>
          </a:xfrm>
          <a:prstGeom prst="rect">
            <a:avLst/>
          </a:prstGeom>
          <a:noFill/>
          <a:ln/>
        </p:spPr>
        <p:txBody>
          <a:bodyPr wrap="square" lIns="0" tIns="0" rIns="0" bIns="0" rtlCol="0" anchor="t"/>
          <a:lstStyle/>
          <a:p>
            <a:pPr indent="0" marL="0">
              <a:buNone/>
            </a:pPr>
            <a:r>
              <a:rPr lang="en-US" sz="2600" b="1" dirty="0">
                <a:solidFill>
                  <a:srgbClr val="D98B3C"/>
                </a:solidFill>
                <a:latin typeface="Cambria" pitchFamily="34" charset="0"/>
                <a:ea typeface="Cambria" pitchFamily="34" charset="-122"/>
                <a:cs typeface="Cambria" pitchFamily="34" charset="-120"/>
              </a:rPr>
              <a:t>~$169M</a:t>
            </a:r>
            <a:endParaRPr lang="en-US" sz="2600" dirty="0"/>
          </a:p>
        </p:txBody>
      </p:sp>
      <p:sp>
        <p:nvSpPr>
          <p:cNvPr id="9" name="Text 6"/>
          <p:cNvSpPr txBox="1"/>
          <p:nvPr/>
        </p:nvSpPr>
        <p:spPr>
          <a:xfrm>
            <a:off x="2331720" y="1965960"/>
            <a:ext cx="2011680" cy="548640"/>
          </a:xfrm>
          <a:prstGeom prst="rect">
            <a:avLst/>
          </a:prstGeom>
          <a:noFill/>
          <a:ln/>
        </p:spPr>
        <p:txBody>
          <a:bodyPr wrap="square" lIns="0" tIns="0" rIns="0" bIns="0" rtlCol="0" anchor="t"/>
          <a:lstStyle/>
          <a:p>
            <a:pPr indent="0" marL="0">
              <a:buNone/>
            </a:pPr>
            <a:r>
              <a:rPr lang="en-US" sz="1100" dirty="0">
                <a:solidFill>
                  <a:srgbClr val="4E5D53"/>
                </a:solidFill>
                <a:latin typeface="Calibri" pitchFamily="34" charset="0"/>
                <a:ea typeface="Calibri" pitchFamily="34" charset="-122"/>
                <a:cs typeface="Calibri" pitchFamily="34" charset="-120"/>
              </a:rPr>
              <a:t>U.S. market at today's prices: 300,000+ U.S. congregations × $564/yr</a:t>
            </a:r>
            <a:endParaRPr lang="en-US" sz="1100" dirty="0"/>
          </a:p>
        </p:txBody>
      </p:sp>
      <p:sp>
        <p:nvSpPr>
          <p:cNvPr id="10" name="Text 7"/>
          <p:cNvSpPr txBox="1"/>
          <p:nvPr/>
        </p:nvSpPr>
        <p:spPr>
          <a:xfrm>
            <a:off x="685800" y="2697480"/>
            <a:ext cx="3611880" cy="1325880"/>
          </a:xfrm>
          <a:prstGeom prst="rect">
            <a:avLst/>
          </a:prstGeom>
          <a:noFill/>
          <a:ln/>
        </p:spPr>
        <p:txBody>
          <a:bodyPr wrap="square" lIns="0" tIns="0" rIns="0" bIns="0" rtlCol="0" anchor="t"/>
          <a:lstStyle/>
          <a:p>
            <a:pPr marL="190500" indent="-190500">
              <a:spcAft>
                <a:spcPts val="300"/>
              </a:spcAft>
              <a:buSzPct val="100000"/>
              <a:buChar char="•"/>
            </a:pPr>
            <a:r>
              <a:rPr lang="en-US" sz="1250" b="1" dirty="0">
                <a:solidFill>
                  <a:srgbClr val="1B2A21"/>
                </a:solidFill>
                <a:latin typeface="Calibri" pitchFamily="34" charset="0"/>
                <a:ea typeface="Calibri" pitchFamily="34" charset="-122"/>
                <a:cs typeface="Calibri" pitchFamily="34" charset="-120"/>
              </a:rPr>
              <a:t>Today: </a:t>
            </a:r>
            <a:pPr indent="0" marL="0">
              <a:spcAft>
                <a:spcPts val="300"/>
              </a:spcAft>
              <a:buNone/>
            </a:pPr>
            <a:r>
              <a:rPr lang="en-US" sz="1250" dirty="0">
                <a:solidFill>
                  <a:srgbClr val="1B2A21"/>
                </a:solidFill>
                <a:latin typeface="Calibri" pitchFamily="34" charset="0"/>
                <a:ea typeface="Calibri" pitchFamily="34" charset="-122"/>
                <a:cs typeface="Calibri" pitchFamily="34" charset="-120"/>
              </a:rPr>
              <a:t>individual pastors</a:t>
            </a:r>
            <a:endParaRPr lang="en-US" sz="1250" dirty="0"/>
          </a:p>
          <a:p>
            <a:pPr marL="190500" indent="-190500">
              <a:spcAft>
                <a:spcPts val="300"/>
              </a:spcAft>
              <a:buSzPct val="100000"/>
              <a:buChar char="•"/>
            </a:pPr>
            <a:r>
              <a:rPr lang="en-US" sz="1250" b="1" dirty="0">
                <a:solidFill>
                  <a:srgbClr val="1B2A21"/>
                </a:solidFill>
                <a:latin typeface="Calibri" pitchFamily="34" charset="0"/>
                <a:ea typeface="Calibri" pitchFamily="34" charset="-122"/>
                <a:cs typeface="Calibri" pitchFamily="34" charset="-120"/>
              </a:rPr>
              <a:t>Next: </a:t>
            </a:r>
            <a:pPr indent="0" marL="0">
              <a:spcAft>
                <a:spcPts val="300"/>
              </a:spcAft>
              <a:buNone/>
            </a:pPr>
            <a:r>
              <a:rPr lang="en-US" sz="1250" dirty="0">
                <a:solidFill>
                  <a:srgbClr val="1B2A21"/>
                </a:solidFill>
                <a:latin typeface="Calibri" pitchFamily="34" charset="0"/>
                <a:ea typeface="Calibri" pitchFamily="34" charset="-122"/>
                <a:cs typeface="Calibri" pitchFamily="34" charset="-120"/>
              </a:rPr>
              <a:t>church-staff plans</a:t>
            </a:r>
            <a:endParaRPr lang="en-US" sz="1250" dirty="0"/>
          </a:p>
          <a:p>
            <a:pPr marL="190500" indent="-190500">
              <a:spcAft>
                <a:spcPts val="300"/>
              </a:spcAft>
              <a:buSzPct val="100000"/>
              <a:buChar char="•"/>
            </a:pPr>
            <a:r>
              <a:rPr lang="en-US" sz="1250" b="1" dirty="0">
                <a:solidFill>
                  <a:srgbClr val="1B2A21"/>
                </a:solidFill>
                <a:latin typeface="Calibri" pitchFamily="34" charset="0"/>
                <a:ea typeface="Calibri" pitchFamily="34" charset="-122"/>
                <a:cs typeface="Calibri" pitchFamily="34" charset="-120"/>
              </a:rPr>
              <a:t>Then: </a:t>
            </a:r>
            <a:pPr indent="0" marL="0">
              <a:spcAft>
                <a:spcPts val="300"/>
              </a:spcAft>
              <a:buNone/>
            </a:pPr>
            <a:r>
              <a:rPr lang="en-US" sz="1250" dirty="0">
                <a:solidFill>
                  <a:srgbClr val="1B2A21"/>
                </a:solidFill>
                <a:latin typeface="Calibri" pitchFamily="34" charset="0"/>
                <a:ea typeface="Calibri" pitchFamily="34" charset="-122"/>
                <a:cs typeface="Calibri" pitchFamily="34" charset="-120"/>
              </a:rPr>
              <a:t>denominations and church networks buying for hundreds of churches</a:t>
            </a:r>
            <a:endParaRPr lang="en-US" sz="1250" dirty="0"/>
          </a:p>
        </p:txBody>
      </p:sp>
      <p:sp>
        <p:nvSpPr>
          <p:cNvPr id="11" name="Shape 8"/>
          <p:cNvSpPr/>
          <p:nvPr/>
        </p:nvSpPr>
        <p:spPr>
          <a:xfrm>
            <a:off x="4663440" y="1325880"/>
            <a:ext cx="4023360" cy="2743200"/>
          </a:xfrm>
          <a:prstGeom prst="roundRect">
            <a:avLst>
              <a:gd name="adj" fmla="val 2667"/>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2" name="Shape 9"/>
          <p:cNvSpPr/>
          <p:nvPr/>
        </p:nvSpPr>
        <p:spPr>
          <a:xfrm>
            <a:off x="4864608" y="1463040"/>
            <a:ext cx="457200" cy="457200"/>
          </a:xfrm>
          <a:prstGeom prst="ellipse">
            <a:avLst/>
          </a:prstGeom>
          <a:solidFill>
            <a:srgbClr val="FFFFFF"/>
          </a:solidFill>
          <a:ln w="19050">
            <a:solidFill>
              <a:srgbClr val="D98B3C"/>
            </a:solidFill>
            <a:prstDash val="solid"/>
          </a:ln>
        </p:spPr>
      </p:sp>
      <p:pic>
        <p:nvPicPr>
          <p:cNvPr id="13" name="Image 1" descr="preencoded.png">    </p:cNvPr>
          <p:cNvPicPr>
            <a:picLocks noChangeAspect="1"/>
          </p:cNvPicPr>
          <p:nvPr/>
        </p:nvPicPr>
        <p:blipFill>
          <a:blip r:embed="rId2"/>
          <a:stretch>
            <a:fillRect/>
          </a:stretch>
        </p:blipFill>
        <p:spPr>
          <a:xfrm>
            <a:off x="4983480" y="1581912"/>
            <a:ext cx="219456" cy="219456"/>
          </a:xfrm>
          <a:prstGeom prst="rect">
            <a:avLst/>
          </a:prstGeom>
        </p:spPr>
      </p:pic>
      <p:sp>
        <p:nvSpPr>
          <p:cNvPr id="14" name="Text 10"/>
          <p:cNvSpPr txBox="1"/>
          <p:nvPr/>
        </p:nvSpPr>
        <p:spPr>
          <a:xfrm>
            <a:off x="5440680" y="1517904"/>
            <a:ext cx="3108960" cy="320040"/>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Ready Room: sales teams</a:t>
            </a:r>
            <a:endParaRPr lang="en-US" sz="1500" dirty="0"/>
          </a:p>
        </p:txBody>
      </p:sp>
      <p:sp>
        <p:nvSpPr>
          <p:cNvPr id="15" name="Text 11"/>
          <p:cNvSpPr txBox="1"/>
          <p:nvPr/>
        </p:nvSpPr>
        <p:spPr>
          <a:xfrm>
            <a:off x="4892040" y="1965960"/>
            <a:ext cx="1737360" cy="457200"/>
          </a:xfrm>
          <a:prstGeom prst="rect">
            <a:avLst/>
          </a:prstGeom>
          <a:noFill/>
          <a:ln/>
        </p:spPr>
        <p:txBody>
          <a:bodyPr wrap="square" lIns="0" tIns="0" rIns="0" bIns="0" rtlCol="0" anchor="t"/>
          <a:lstStyle/>
          <a:p>
            <a:pPr indent="0" marL="0">
              <a:buNone/>
            </a:pPr>
            <a:r>
              <a:rPr lang="en-US" sz="2600" b="1" dirty="0">
                <a:solidFill>
                  <a:srgbClr val="D98B3C"/>
                </a:solidFill>
                <a:latin typeface="Cambria" pitchFamily="34" charset="0"/>
                <a:ea typeface="Cambria" pitchFamily="34" charset="-122"/>
                <a:cs typeface="Cambria" pitchFamily="34" charset="-120"/>
              </a:rPr>
              <a:t>~$522M</a:t>
            </a:r>
            <a:endParaRPr lang="en-US" sz="2600" dirty="0"/>
          </a:p>
        </p:txBody>
      </p:sp>
      <p:sp>
        <p:nvSpPr>
          <p:cNvPr id="16" name="Text 12"/>
          <p:cNvSpPr txBox="1"/>
          <p:nvPr/>
        </p:nvSpPr>
        <p:spPr>
          <a:xfrm>
            <a:off x="6537960" y="1965960"/>
            <a:ext cx="2011680" cy="548640"/>
          </a:xfrm>
          <a:prstGeom prst="rect">
            <a:avLst/>
          </a:prstGeom>
          <a:noFill/>
          <a:ln/>
        </p:spPr>
        <p:txBody>
          <a:bodyPr wrap="square" lIns="0" tIns="0" rIns="0" bIns="0" rtlCol="0" anchor="t"/>
          <a:lstStyle/>
          <a:p>
            <a:pPr indent="0" marL="0">
              <a:buNone/>
            </a:pPr>
            <a:r>
              <a:rPr lang="en-US" sz="1100" dirty="0">
                <a:solidFill>
                  <a:srgbClr val="4E5D53"/>
                </a:solidFill>
                <a:latin typeface="Calibri" pitchFamily="34" charset="0"/>
                <a:ea typeface="Calibri" pitchFamily="34" charset="-122"/>
                <a:cs typeface="Calibri" pitchFamily="34" charset="-120"/>
              </a:rPr>
              <a:t>U.S. market at today's prices: ~1.5M U.S. B2B sales reps × $348/yr</a:t>
            </a:r>
            <a:endParaRPr lang="en-US" sz="1100" dirty="0"/>
          </a:p>
        </p:txBody>
      </p:sp>
      <p:sp>
        <p:nvSpPr>
          <p:cNvPr id="17" name="Text 13"/>
          <p:cNvSpPr txBox="1"/>
          <p:nvPr/>
        </p:nvSpPr>
        <p:spPr>
          <a:xfrm>
            <a:off x="4892040" y="2697480"/>
            <a:ext cx="3611880" cy="1325880"/>
          </a:xfrm>
          <a:prstGeom prst="rect">
            <a:avLst/>
          </a:prstGeom>
          <a:noFill/>
          <a:ln/>
        </p:spPr>
        <p:txBody>
          <a:bodyPr wrap="square" lIns="0" tIns="0" rIns="0" bIns="0" rtlCol="0" anchor="t"/>
          <a:lstStyle/>
          <a:p>
            <a:pPr marL="190500" indent="-190500">
              <a:spcAft>
                <a:spcPts val="300"/>
              </a:spcAft>
              <a:buSzPct val="100000"/>
              <a:buChar char="•"/>
            </a:pPr>
            <a:r>
              <a:rPr lang="en-US" sz="1250" b="1" dirty="0">
                <a:solidFill>
                  <a:srgbClr val="1B2A21"/>
                </a:solidFill>
                <a:latin typeface="Calibri" pitchFamily="34" charset="0"/>
                <a:ea typeface="Calibri" pitchFamily="34" charset="-122"/>
                <a:cs typeface="Calibri" pitchFamily="34" charset="-120"/>
              </a:rPr>
              <a:t>Today: </a:t>
            </a:r>
            <a:pPr indent="0" marL="0">
              <a:spcAft>
                <a:spcPts val="300"/>
              </a:spcAft>
              <a:buNone/>
            </a:pPr>
            <a:r>
              <a:rPr lang="en-US" sz="1250" dirty="0">
                <a:solidFill>
                  <a:srgbClr val="1B2A21"/>
                </a:solidFill>
                <a:latin typeface="Calibri" pitchFamily="34" charset="0"/>
                <a:ea typeface="Calibri" pitchFamily="34" charset="-122"/>
                <a:cs typeface="Calibri" pitchFamily="34" charset="-120"/>
              </a:rPr>
              <a:t>individual reps</a:t>
            </a:r>
            <a:endParaRPr lang="en-US" sz="1250" dirty="0"/>
          </a:p>
          <a:p>
            <a:pPr marL="190500" indent="-190500">
              <a:spcAft>
                <a:spcPts val="300"/>
              </a:spcAft>
              <a:buSzPct val="100000"/>
              <a:buChar char="•"/>
            </a:pPr>
            <a:r>
              <a:rPr lang="en-US" sz="1250" b="1" dirty="0">
                <a:solidFill>
                  <a:srgbClr val="1B2A21"/>
                </a:solidFill>
                <a:latin typeface="Calibri" pitchFamily="34" charset="0"/>
                <a:ea typeface="Calibri" pitchFamily="34" charset="-122"/>
                <a:cs typeface="Calibri" pitchFamily="34" charset="-120"/>
              </a:rPr>
              <a:t>Next: </a:t>
            </a:r>
            <a:pPr indent="0" marL="0">
              <a:spcAft>
                <a:spcPts val="300"/>
              </a:spcAft>
              <a:buNone/>
            </a:pPr>
            <a:r>
              <a:rPr lang="en-US" sz="1250" dirty="0">
                <a:solidFill>
                  <a:srgbClr val="1B2A21"/>
                </a:solidFill>
                <a:latin typeface="Calibri" pitchFamily="34" charset="0"/>
                <a:ea typeface="Calibri" pitchFamily="34" charset="-122"/>
                <a:cs typeface="Calibri" pitchFamily="34" charset="-120"/>
              </a:rPr>
              <a:t>sales-team plans</a:t>
            </a:r>
            <a:endParaRPr lang="en-US" sz="1250" dirty="0"/>
          </a:p>
          <a:p>
            <a:pPr marL="190500" indent="-190500">
              <a:spcAft>
                <a:spcPts val="300"/>
              </a:spcAft>
              <a:buSzPct val="100000"/>
              <a:buChar char="•"/>
            </a:pPr>
            <a:r>
              <a:rPr lang="en-US" sz="1250" b="1" dirty="0">
                <a:solidFill>
                  <a:srgbClr val="1B2A21"/>
                </a:solidFill>
                <a:latin typeface="Calibri" pitchFamily="34" charset="0"/>
                <a:ea typeface="Calibri" pitchFamily="34" charset="-122"/>
                <a:cs typeface="Calibri" pitchFamily="34" charset="-120"/>
              </a:rPr>
              <a:t>Then: </a:t>
            </a:r>
            <a:pPr indent="0" marL="0">
              <a:spcAft>
                <a:spcPts val="300"/>
              </a:spcAft>
              <a:buNone/>
            </a:pPr>
            <a:r>
              <a:rPr lang="en-US" sz="1250" dirty="0">
                <a:solidFill>
                  <a:srgbClr val="1B2A21"/>
                </a:solidFill>
                <a:latin typeface="Calibri" pitchFamily="34" charset="0"/>
                <a:ea typeface="Calibri" pitchFamily="34" charset="-122"/>
                <a:cs typeface="Calibri" pitchFamily="34" charset="-120"/>
              </a:rPr>
              <a:t>company-wide sales training and enablement</a:t>
            </a:r>
            <a:endParaRPr lang="en-US" sz="1250" dirty="0"/>
          </a:p>
        </p:txBody>
      </p:sp>
      <p:sp>
        <p:nvSpPr>
          <p:cNvPr id="18" name="Text 14"/>
          <p:cNvSpPr txBox="1"/>
          <p:nvPr/>
        </p:nvSpPr>
        <p:spPr>
          <a:xfrm>
            <a:off x="457200" y="4160520"/>
            <a:ext cx="8229600" cy="384048"/>
          </a:xfrm>
          <a:prstGeom prst="rect">
            <a:avLst/>
          </a:prstGeom>
          <a:noFill/>
          <a:ln/>
        </p:spPr>
        <p:txBody>
          <a:bodyPr wrap="square" lIns="0" tIns="0" rIns="0" bIns="0" rtlCol="0" anchor="t"/>
          <a:lstStyle/>
          <a:p>
            <a:pPr indent="0" marL="0">
              <a:buNone/>
            </a:pPr>
            <a:r>
              <a:rPr lang="en-US" sz="1200" b="1" dirty="0">
                <a:solidFill>
                  <a:srgbClr val="143D28"/>
                </a:solidFill>
                <a:latin typeface="Calibri" pitchFamily="34" charset="0"/>
                <a:ea typeface="Calibri" pitchFamily="34" charset="-122"/>
                <a:cs typeface="Calibri" pitchFamily="34" charset="-120"/>
              </a:rPr>
              <a:t>Targets: </a:t>
            </a:r>
            <a:pPr indent="0" marL="0">
              <a:buNone/>
            </a:pPr>
            <a:r>
              <a:rPr lang="en-US" sz="1200" dirty="0">
                <a:solidFill>
                  <a:srgbClr val="143D28"/>
                </a:solidFill>
                <a:latin typeface="Calibri" pitchFamily="34" charset="0"/>
                <a:ea typeface="Calibri" pitchFamily="34" charset="-122"/>
                <a:cs typeface="Calibri" pitchFamily="34" charset="-120"/>
              </a:rPr>
              <a:t>reachable market ~$207M (the ~30% we can reach online); 3-year goal ~$2M a year in revenue. Organization plans and apps 3–10 are upside on top.</a:t>
            </a:r>
            <a:endParaRPr lang="en-US" sz="1200" dirty="0"/>
          </a:p>
        </p:txBody>
      </p:sp>
      <p:sp>
        <p:nvSpPr>
          <p:cNvPr id="19" name="Text 15"/>
          <p:cNvSpPr txBox="1"/>
          <p:nvPr/>
        </p:nvSpPr>
        <p:spPr>
          <a:xfrm>
            <a:off x="457200" y="4553712"/>
            <a:ext cx="8229600" cy="201168"/>
          </a:xfrm>
          <a:prstGeom prst="rect">
            <a:avLst/>
          </a:prstGeom>
          <a:noFill/>
          <a:ln/>
        </p:spPr>
        <p:txBody>
          <a:bodyPr wrap="square" lIns="0" tIns="0" rIns="0" bIns="0" rtlCol="0" anchor="t"/>
          <a:lstStyle/>
          <a:p>
            <a:pPr indent="0" marL="0">
              <a:buNone/>
            </a:pPr>
            <a:r>
              <a:rPr lang="en-US" sz="900" i="1" dirty="0">
                <a:solidFill>
                  <a:srgbClr val="4E5D53"/>
                </a:solidFill>
                <a:latin typeface="Calibri" pitchFamily="34" charset="0"/>
                <a:ea typeface="Calibri" pitchFamily="34" charset="-122"/>
                <a:cs typeface="Calibri" pitchFamily="34" charset="-120"/>
              </a:rPr>
              <a:t>Sources: Hartford Institute for Religion Research and U.S. Religion Census (congregations); U.S. Bureau of Labor Statistics (wholesale and manufacturing sales reps).</a:t>
            </a:r>
            <a:endParaRPr lang="en-US" sz="900" dirty="0"/>
          </a:p>
        </p:txBody>
      </p:sp>
      <p:sp>
        <p:nvSpPr>
          <p:cNvPr id="21" name="Text 16"/>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2" name="Text 17"/>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10 / 29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Competitive Landscape  ·  PastorAI vs. faith-tech</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PastorAI: the all-in-one weekly assistant for pastors</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286000"/>
                <a:gridCol w="2651760"/>
                <a:gridCol w="3291840"/>
              </a:tblGrid>
              <a:tr h="384048">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Competitor</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CE1C7"/>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What they focus on</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CE1C7"/>
                    </a:solidFill>
                  </a:tcPr>
                </a:tc>
                <a:tc>
                  <a:txBody>
                    <a:bodyPr/>
                    <a:lstStyle/>
                    <a:p>
                      <a:pPr indent="0" marL="0">
                        <a:buNone/>
                      </a:pPr>
                      <a:r>
                        <a:rPr lang="en-US" sz="1200" b="1" dirty="0">
                          <a:solidFill>
                            <a:srgbClr val="F4EBD5"/>
                          </a:solidFill>
                          <a:latin typeface="Calibri" pitchFamily="34" charset="0"/>
                          <a:ea typeface="Calibri" pitchFamily="34" charset="-122"/>
                          <a:cs typeface="Calibri" pitchFamily="34" charset="-120"/>
                        </a:rPr>
                        <a:t>Where PastorAI wins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143D28"/>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ChatGPT and general AI (indirect)</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General-purpose chat</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Built for ministry, no prompting, writes in the pastor's voice</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Logos (Faithlife)</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Bible study and research library</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Creates the week's finished content, not just research</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Pulpit AI</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Turns a recorded sermon into clips and posts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Helps before the sermon too: outlines, series, studies, kids' lessons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Gloo</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Church engagement and growth platform</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Simple self-serve tool a single pastor can start today</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bl>
          </a:graphicData>
        </a:graphic>
      </p:graphicFrame>
      <p:sp>
        <p:nvSpPr>
          <p:cNvPr id="5" name="Text 2"/>
          <p:cNvSpPr txBox="1"/>
          <p:nvPr/>
        </p:nvSpPr>
        <p:spPr>
          <a:xfrm>
            <a:off x="457200" y="4069080"/>
            <a:ext cx="8229600" cy="548640"/>
          </a:xfrm>
          <a:prstGeom prst="rect">
            <a:avLst/>
          </a:prstGeom>
          <a:noFill/>
          <a:ln/>
        </p:spPr>
        <p:txBody>
          <a:bodyPr wrap="square" lIns="0" tIns="0" rIns="0" bIns="0" rtlCol="0" anchor="t"/>
          <a:lstStyle/>
          <a:p>
            <a:pPr indent="0" marL="0">
              <a:buNone/>
            </a:pPr>
            <a:r>
              <a:rPr lang="en-US" sz="1250" b="1" dirty="0">
                <a:solidFill>
                  <a:srgbClr val="143D28"/>
                </a:solidFill>
                <a:latin typeface="Calibri" pitchFamily="34" charset="0"/>
                <a:ea typeface="Calibri" pitchFamily="34" charset="-122"/>
                <a:cs typeface="Calibri" pitchFamily="34" charset="-120"/>
              </a:rPr>
              <a:t>Our edge: </a:t>
            </a:r>
            <a:pPr indent="0" marL="0">
              <a:buNone/>
            </a:pPr>
            <a:r>
              <a:rPr lang="en-US" sz="1250" dirty="0">
                <a:solidFill>
                  <a:srgbClr val="143D28"/>
                </a:solidFill>
                <a:latin typeface="Calibri" pitchFamily="34" charset="0"/>
                <a:ea typeface="Calibri" pitchFamily="34" charset="-122"/>
                <a:cs typeface="Calibri" pitchFamily="34" charset="-120"/>
              </a:rPr>
              <a:t>one dashboard for the whole ministry week (sermons, series, studies, devotionals, kids' lessons, social posts, translation, rehearsal) at $47/month.</a:t>
            </a:r>
            <a:endParaRPr lang="en-US" sz="1250" dirty="0"/>
          </a:p>
        </p:txBody>
      </p:sp>
      <p:sp>
        <p:nvSpPr>
          <p:cNvPr id="7" name="Text 3"/>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8" name="Text 4"/>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11 / 29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Competitive Landscape  ·  Ready Room vs. AI sales coaching</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Ready Room: sales practice any rep can afford</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286000"/>
                <a:gridCol w="2651760"/>
                <a:gridCol w="3291840"/>
              </a:tblGrid>
              <a:tr h="384048">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Competitor</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CE1C7"/>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What they focus on</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CE1C7"/>
                    </a:solidFill>
                  </a:tcPr>
                </a:tc>
                <a:tc>
                  <a:txBody>
                    <a:bodyPr/>
                    <a:lstStyle/>
                    <a:p>
                      <a:pPr indent="0" marL="0">
                        <a:buNone/>
                      </a:pPr>
                      <a:r>
                        <a:rPr lang="en-US" sz="1200" b="1" dirty="0">
                          <a:solidFill>
                            <a:srgbClr val="F4EBD5"/>
                          </a:solidFill>
                          <a:latin typeface="Calibri" pitchFamily="34" charset="0"/>
                          <a:ea typeface="Calibri" pitchFamily="34" charset="-122"/>
                          <a:cs typeface="Calibri" pitchFamily="34" charset="-120"/>
                        </a:rPr>
                        <a:t>Where Ready Room wins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143D28"/>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Second Nature</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AI role-play training for company sales teams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Self-serve at $29/month; no company contract needed</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Hyperbound</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AI cold-call role-play for sales teams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Covers discovery and objections across 18+ industries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Gong</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Analyzes recorded sales calls for large teams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Practice before the call, plus scoring of real calls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r h="566928">
                <a:tc>
                  <a:txBody>
                    <a:bodyPr/>
                    <a:lstStyle/>
                    <a:p>
                      <a:pPr indent="0" marL="0">
                        <a:buNone/>
                      </a:pPr>
                      <a:r>
                        <a:rPr lang="en-US" sz="1200" b="1" dirty="0">
                          <a:solidFill>
                            <a:srgbClr val="1B2A21"/>
                          </a:solidFill>
                          <a:latin typeface="Calibri" pitchFamily="34" charset="0"/>
                          <a:ea typeface="Calibri" pitchFamily="34" charset="-122"/>
                          <a:cs typeface="Calibri" pitchFamily="34" charset="-120"/>
                        </a:rPr>
                        <a:t>Practicing with a manager or peer</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dirty="0">
                          <a:solidFill>
                            <a:srgbClr val="1B2A21"/>
                          </a:solidFill>
                          <a:latin typeface="Calibri" pitchFamily="34" charset="0"/>
                          <a:ea typeface="Calibri" pitchFamily="34" charset="-122"/>
                          <a:cs typeface="Calibri" pitchFamily="34" charset="-120"/>
                        </a:rPr>
                        <a:t>Role-play when someone has time</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indent="0" marL="0">
                        <a:buNone/>
                      </a:pPr>
                      <a:r>
                        <a:rPr lang="en-US" sz="1200" b="1" dirty="0">
                          <a:solidFill>
                            <a:srgbClr val="143D28"/>
                          </a:solidFill>
                          <a:latin typeface="Calibri" pitchFamily="34" charset="0"/>
                          <a:ea typeface="Calibri" pitchFamily="34" charset="-122"/>
                          <a:cs typeface="Calibri" pitchFamily="34" charset="-120"/>
                        </a:rPr>
                        <a:t>Available any time, at three difficulty levels</a:t>
                      </a:r>
                      <a:endParaRPr lang="en-US" sz="120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3EDE3"/>
                    </a:solidFill>
                  </a:tcPr>
                </a:tc>
              </a:tr>
            </a:tbl>
          </a:graphicData>
        </a:graphic>
      </p:graphicFrame>
      <p:sp>
        <p:nvSpPr>
          <p:cNvPr id="5" name="Text 2"/>
          <p:cNvSpPr txBox="1"/>
          <p:nvPr/>
        </p:nvSpPr>
        <p:spPr>
          <a:xfrm>
            <a:off x="457200" y="4069080"/>
            <a:ext cx="8229600" cy="548640"/>
          </a:xfrm>
          <a:prstGeom prst="rect">
            <a:avLst/>
          </a:prstGeom>
          <a:noFill/>
          <a:ln/>
        </p:spPr>
        <p:txBody>
          <a:bodyPr wrap="square" lIns="0" tIns="0" rIns="0" bIns="0" rtlCol="0" anchor="t"/>
          <a:lstStyle/>
          <a:p>
            <a:pPr indent="0" marL="0">
              <a:buNone/>
            </a:pPr>
            <a:r>
              <a:rPr lang="en-US" sz="1250" b="1" dirty="0">
                <a:solidFill>
                  <a:srgbClr val="143D28"/>
                </a:solidFill>
                <a:latin typeface="Calibri" pitchFamily="34" charset="0"/>
                <a:ea typeface="Calibri" pitchFamily="34" charset="-122"/>
                <a:cs typeface="Calibri" pitchFamily="34" charset="-120"/>
              </a:rPr>
              <a:t>Our edge: </a:t>
            </a:r>
            <a:pPr indent="0" marL="0">
              <a:buNone/>
            </a:pPr>
            <a:r>
              <a:rPr lang="en-US" sz="1250" dirty="0">
                <a:solidFill>
                  <a:srgbClr val="143D28"/>
                </a:solidFill>
                <a:latin typeface="Calibri" pitchFamily="34" charset="0"/>
                <a:ea typeface="Calibri" pitchFamily="34" charset="-122"/>
                <a:cs typeface="Calibri" pitchFamily="34" charset="-120"/>
              </a:rPr>
              <a:t>the well-funded players sell to big companies. Ready Room serves the individual reps and small teams they skip, then grows into team plans.</a:t>
            </a:r>
            <a:endParaRPr lang="en-US" sz="1250" dirty="0"/>
          </a:p>
        </p:txBody>
      </p:sp>
      <p:sp>
        <p:nvSpPr>
          <p:cNvPr id="7" name="Text 3"/>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8" name="Text 4"/>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12 / 29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Business Model  ·  How we make money</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Subscriptions today, organization plans next</a:t>
            </a:r>
            <a:endParaRPr lang="en-US" sz="2600" dirty="0"/>
          </a:p>
        </p:txBody>
      </p:sp>
      <p:sp>
        <p:nvSpPr>
          <p:cNvPr id="4" name="Shape 2"/>
          <p:cNvSpPr/>
          <p:nvPr/>
        </p:nvSpPr>
        <p:spPr>
          <a:xfrm>
            <a:off x="457200" y="1371600"/>
            <a:ext cx="2606040" cy="2057400"/>
          </a:xfrm>
          <a:prstGeom prst="roundRect">
            <a:avLst>
              <a:gd name="adj" fmla="val 3556"/>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85800" y="1517904"/>
            <a:ext cx="502920" cy="502920"/>
          </a:xfrm>
          <a:prstGeom prst="ellipse">
            <a:avLst/>
          </a:prstGeom>
          <a:solidFill>
            <a:srgbClr val="FFFFFF"/>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816559" y="1648663"/>
            <a:ext cx="241402" cy="241402"/>
          </a:xfrm>
          <a:prstGeom prst="rect">
            <a:avLst/>
          </a:prstGeom>
        </p:spPr>
      </p:pic>
      <p:sp>
        <p:nvSpPr>
          <p:cNvPr id="7" name="Text 4"/>
          <p:cNvSpPr txBox="1"/>
          <p:nvPr/>
        </p:nvSpPr>
        <p:spPr>
          <a:xfrm>
            <a:off x="685800" y="2130552"/>
            <a:ext cx="2194560" cy="292608"/>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App subscriptions</a:t>
            </a:r>
            <a:endParaRPr lang="en-US" sz="1500" dirty="0"/>
          </a:p>
        </p:txBody>
      </p:sp>
      <p:sp>
        <p:nvSpPr>
          <p:cNvPr id="8" name="Text 5"/>
          <p:cNvSpPr txBox="1"/>
          <p:nvPr/>
        </p:nvSpPr>
        <p:spPr>
          <a:xfrm>
            <a:off x="685800" y="2450592"/>
            <a:ext cx="2194560" cy="91440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Monthly or annual plans with a free trial, sold through the app stores and the web.</a:t>
            </a:r>
            <a:endParaRPr lang="en-US" sz="1250" dirty="0"/>
          </a:p>
        </p:txBody>
      </p:sp>
      <p:sp>
        <p:nvSpPr>
          <p:cNvPr id="9" name="Shape 6"/>
          <p:cNvSpPr/>
          <p:nvPr/>
        </p:nvSpPr>
        <p:spPr>
          <a:xfrm>
            <a:off x="3264408" y="1371600"/>
            <a:ext cx="2606040" cy="2057400"/>
          </a:xfrm>
          <a:prstGeom prst="roundRect">
            <a:avLst>
              <a:gd name="adj" fmla="val 3556"/>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3493008" y="1517904"/>
            <a:ext cx="502920" cy="502920"/>
          </a:xfrm>
          <a:prstGeom prst="ellipse">
            <a:avLst/>
          </a:prstGeom>
          <a:solidFill>
            <a:srgbClr val="FFFFFF"/>
          </a:solidFill>
          <a:ln w="19050">
            <a:solidFill>
              <a:srgbClr val="D98B3C"/>
            </a:solidFill>
            <a:prstDash val="solid"/>
          </a:ln>
        </p:spPr>
      </p:sp>
      <p:pic>
        <p:nvPicPr>
          <p:cNvPr id="11" name="Image 1" descr="preencoded.png">    </p:cNvPr>
          <p:cNvPicPr>
            <a:picLocks noChangeAspect="1"/>
          </p:cNvPicPr>
          <p:nvPr/>
        </p:nvPicPr>
        <p:blipFill>
          <a:blip r:embed="rId2"/>
          <a:stretch>
            <a:fillRect/>
          </a:stretch>
        </p:blipFill>
        <p:spPr>
          <a:xfrm>
            <a:off x="3623767" y="1648663"/>
            <a:ext cx="241402" cy="241402"/>
          </a:xfrm>
          <a:prstGeom prst="rect">
            <a:avLst/>
          </a:prstGeom>
        </p:spPr>
      </p:pic>
      <p:sp>
        <p:nvSpPr>
          <p:cNvPr id="12" name="Text 8"/>
          <p:cNvSpPr txBox="1"/>
          <p:nvPr/>
        </p:nvSpPr>
        <p:spPr>
          <a:xfrm>
            <a:off x="3493008" y="2130552"/>
            <a:ext cx="2194560" cy="292608"/>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Team plans</a:t>
            </a:r>
            <a:endParaRPr lang="en-US" sz="1500" dirty="0"/>
          </a:p>
        </p:txBody>
      </p:sp>
      <p:sp>
        <p:nvSpPr>
          <p:cNvPr id="13" name="Text 9"/>
          <p:cNvSpPr txBox="1"/>
          <p:nvPr/>
        </p:nvSpPr>
        <p:spPr>
          <a:xfrm>
            <a:off x="3493008" y="2450592"/>
            <a:ext cx="2194560" cy="91440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Per-seat plans for church staffs and sales teams: one buyer, several users.</a:t>
            </a:r>
            <a:endParaRPr lang="en-US" sz="1250" dirty="0"/>
          </a:p>
        </p:txBody>
      </p:sp>
      <p:sp>
        <p:nvSpPr>
          <p:cNvPr id="14" name="Shape 10"/>
          <p:cNvSpPr/>
          <p:nvPr/>
        </p:nvSpPr>
        <p:spPr>
          <a:xfrm>
            <a:off x="6071616" y="1371600"/>
            <a:ext cx="2606040" cy="2057400"/>
          </a:xfrm>
          <a:prstGeom prst="roundRect">
            <a:avLst>
              <a:gd name="adj" fmla="val 3556"/>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5" name="Shape 11"/>
          <p:cNvSpPr/>
          <p:nvPr/>
        </p:nvSpPr>
        <p:spPr>
          <a:xfrm>
            <a:off x="6300216" y="1517904"/>
            <a:ext cx="502920" cy="502920"/>
          </a:xfrm>
          <a:prstGeom prst="ellipse">
            <a:avLst/>
          </a:prstGeom>
          <a:solidFill>
            <a:srgbClr val="FFFFFF"/>
          </a:solidFill>
          <a:ln w="19050">
            <a:solidFill>
              <a:srgbClr val="D98B3C"/>
            </a:solidFill>
            <a:prstDash val="solid"/>
          </a:ln>
        </p:spPr>
      </p:sp>
      <p:pic>
        <p:nvPicPr>
          <p:cNvPr id="16" name="Image 2" descr="preencoded.png">    </p:cNvPr>
          <p:cNvPicPr>
            <a:picLocks noChangeAspect="1"/>
          </p:cNvPicPr>
          <p:nvPr/>
        </p:nvPicPr>
        <p:blipFill>
          <a:blip r:embed="rId3"/>
          <a:stretch>
            <a:fillRect/>
          </a:stretch>
        </p:blipFill>
        <p:spPr>
          <a:xfrm>
            <a:off x="6430975" y="1648663"/>
            <a:ext cx="241402" cy="241402"/>
          </a:xfrm>
          <a:prstGeom prst="rect">
            <a:avLst/>
          </a:prstGeom>
        </p:spPr>
      </p:pic>
      <p:sp>
        <p:nvSpPr>
          <p:cNvPr id="17" name="Text 12"/>
          <p:cNvSpPr txBox="1"/>
          <p:nvPr/>
        </p:nvSpPr>
        <p:spPr>
          <a:xfrm>
            <a:off x="6300216" y="2130552"/>
            <a:ext cx="2194560" cy="292608"/>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Organization plans</a:t>
            </a:r>
            <a:endParaRPr lang="en-US" sz="1500" dirty="0"/>
          </a:p>
        </p:txBody>
      </p:sp>
      <p:sp>
        <p:nvSpPr>
          <p:cNvPr id="18" name="Text 13"/>
          <p:cNvSpPr txBox="1"/>
          <p:nvPr/>
        </p:nvSpPr>
        <p:spPr>
          <a:xfrm>
            <a:off x="6300216" y="2450592"/>
            <a:ext cx="2194560" cy="91440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Denominations, church networks and companies buying for many churches or reps at once.</a:t>
            </a:r>
            <a:endParaRPr lang="en-US" sz="1250" dirty="0"/>
          </a:p>
        </p:txBody>
      </p:sp>
      <p:sp>
        <p:nvSpPr>
          <p:cNvPr id="19" name="Shape 14"/>
          <p:cNvSpPr/>
          <p:nvPr/>
        </p:nvSpPr>
        <p:spPr>
          <a:xfrm>
            <a:off x="457200" y="3584448"/>
            <a:ext cx="8229600" cy="1033272"/>
          </a:xfrm>
          <a:prstGeom prst="roundRect">
            <a:avLst>
              <a:gd name="adj" fmla="val 7080"/>
            </a:avLst>
          </a:prstGeom>
          <a:solidFill>
            <a:srgbClr val="ECE1C7"/>
          </a:solidFill>
          <a:ln w="12700">
            <a:solidFill>
              <a:srgbClr val="ECE1C7"/>
            </a:solidFill>
            <a:prstDash val="solid"/>
          </a:ln>
        </p:spPr>
      </p:sp>
      <p:sp>
        <p:nvSpPr>
          <p:cNvPr id="20" name="Text 15"/>
          <p:cNvSpPr txBox="1"/>
          <p:nvPr/>
        </p:nvSpPr>
        <p:spPr>
          <a:xfrm>
            <a:off x="685800" y="3639312"/>
            <a:ext cx="7772400" cy="914400"/>
          </a:xfrm>
          <a:prstGeom prst="rect">
            <a:avLst/>
          </a:prstGeom>
          <a:noFill/>
          <a:ln/>
        </p:spPr>
        <p:txBody>
          <a:bodyPr wrap="square" lIns="0" tIns="0" rIns="0" bIns="0" rtlCol="0" anchor="ctr"/>
          <a:lstStyle/>
          <a:p>
            <a:pPr indent="0" marL="0">
              <a:buNone/>
            </a:pPr>
            <a:r>
              <a:rPr lang="en-US" sz="1250" b="1" dirty="0">
                <a:solidFill>
                  <a:srgbClr val="143D28"/>
                </a:solidFill>
                <a:latin typeface="Calibri" pitchFamily="34" charset="0"/>
                <a:ea typeface="Calibri" pitchFamily="34" charset="-122"/>
                <a:cs typeface="Calibri" pitchFamily="34" charset="-120"/>
              </a:rPr>
              <a:t>Pricing today: </a:t>
            </a:r>
            <a:pPr indent="0" marL="0">
              <a:buNone/>
            </a:pPr>
            <a:r>
              <a:rPr lang="en-US" sz="1250" dirty="0">
                <a:solidFill>
                  <a:srgbClr val="143D28"/>
                </a:solidFill>
                <a:latin typeface="Calibri" pitchFamily="34" charset="0"/>
                <a:ea typeface="Calibri" pitchFamily="34" charset="-122"/>
                <a:cs typeface="Calibri" pitchFamily="34" charset="-120"/>
              </a:rPr>
              <a:t>PastorAI $47/month after a 14-day free trial · Ready Room $29/month or $249/year.</a:t>
            </a:r>
            <a:endParaRPr lang="en-US" sz="1250" dirty="0"/>
          </a:p>
          <a:p>
            <a:pPr indent="0" marL="0">
              <a:buNone/>
            </a:pPr>
            <a:r>
              <a:rPr lang="en-US" sz="1250" b="1" dirty="0">
                <a:solidFill>
                  <a:srgbClr val="143D28"/>
                </a:solidFill>
                <a:latin typeface="Calibri" pitchFamily="34" charset="0"/>
                <a:ea typeface="Calibri" pitchFamily="34" charset="-122"/>
                <a:cs typeface="Calibri" pitchFamily="34" charset="-120"/>
              </a:rPr>
              <a:t>Unit economics (planned): </a:t>
            </a:r>
            <a:pPr indent="0" marL="0">
              <a:buNone/>
            </a:pPr>
            <a:r>
              <a:rPr lang="en-US" sz="1250" dirty="0">
                <a:solidFill>
                  <a:srgbClr val="143D28"/>
                </a:solidFill>
                <a:latin typeface="Calibri" pitchFamily="34" charset="0"/>
                <a:ea typeface="Calibri" pitchFamily="34" charset="-122"/>
                <a:cs typeface="Calibri" pitchFamily="34" charset="-120"/>
              </a:rPr>
              <a:t>~68–77% gross margin; each subscriber worth ~3× what it costs to win, paid back in ~7 months.</a:t>
            </a:r>
            <a:endParaRPr lang="en-US" sz="1250" dirty="0"/>
          </a:p>
        </p:txBody>
      </p:sp>
      <p:sp>
        <p:nvSpPr>
          <p:cNvPr id="22" name="Text 16"/>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3" name="Text 17"/>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13 / 29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Go-to-Market Strategy</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How we'll turn trials into paying customers</a:t>
            </a:r>
            <a:endParaRPr lang="en-US" sz="2600" dirty="0"/>
          </a:p>
        </p:txBody>
      </p:sp>
      <p:sp>
        <p:nvSpPr>
          <p:cNvPr id="4" name="Shape 2"/>
          <p:cNvSpPr/>
          <p:nvPr/>
        </p:nvSpPr>
        <p:spPr>
          <a:xfrm>
            <a:off x="457200" y="1371600"/>
            <a:ext cx="4023360" cy="2743200"/>
          </a:xfrm>
          <a:prstGeom prst="roundRect">
            <a:avLst>
              <a:gd name="adj" fmla="val 2667"/>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85800" y="1536192"/>
            <a:ext cx="457200" cy="457200"/>
          </a:xfrm>
          <a:prstGeom prst="ellipse">
            <a:avLst/>
          </a:prstGeom>
          <a:solidFill>
            <a:srgbClr val="FFFFFF"/>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804672" y="1655064"/>
            <a:ext cx="219456" cy="219456"/>
          </a:xfrm>
          <a:prstGeom prst="rect">
            <a:avLst/>
          </a:prstGeom>
        </p:spPr>
      </p:pic>
      <p:sp>
        <p:nvSpPr>
          <p:cNvPr id="7" name="Text 4"/>
          <p:cNvSpPr txBox="1"/>
          <p:nvPr/>
        </p:nvSpPr>
        <p:spPr>
          <a:xfrm>
            <a:off x="1280160" y="1609344"/>
            <a:ext cx="2926080" cy="320040"/>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PastorAI</a:t>
            </a:r>
            <a:endParaRPr lang="en-US" sz="1600" dirty="0"/>
          </a:p>
        </p:txBody>
      </p:sp>
      <p:sp>
        <p:nvSpPr>
          <p:cNvPr id="8" name="Text 5"/>
          <p:cNvSpPr txBox="1"/>
          <p:nvPr/>
        </p:nvSpPr>
        <p:spPr>
          <a:xfrm>
            <a:off x="685800" y="2148840"/>
            <a:ext cx="3611880" cy="1920240"/>
          </a:xfrm>
          <a:prstGeom prst="rect">
            <a:avLst/>
          </a:prstGeom>
          <a:noFill/>
          <a:ln/>
        </p:spPr>
        <p:txBody>
          <a:bodyPr wrap="square" lIns="0" tIns="0" rIns="0" bIns="0" rtlCol="0" anchor="t"/>
          <a:lstStyle/>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Cold email to pastors and church leaders, starting now</a:t>
            </a:r>
            <a:endParaRPr lang="en-US" sz="1250" dirty="0"/>
          </a:p>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Facebook, YouTube and LinkedIn aimed at pastors and church staff</a:t>
            </a:r>
            <a:endParaRPr lang="en-US" sz="1250" dirty="0"/>
          </a:p>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Partnerships with denominations, church networks and seminaries</a:t>
            </a:r>
            <a:endParaRPr lang="en-US" sz="1250" dirty="0"/>
          </a:p>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Conferences, webinars and free sermon-prep resources</a:t>
            </a:r>
            <a:endParaRPr lang="en-US" sz="1250" dirty="0"/>
          </a:p>
        </p:txBody>
      </p:sp>
      <p:sp>
        <p:nvSpPr>
          <p:cNvPr id="9" name="Shape 6"/>
          <p:cNvSpPr/>
          <p:nvPr/>
        </p:nvSpPr>
        <p:spPr>
          <a:xfrm>
            <a:off x="4663440" y="1371600"/>
            <a:ext cx="4023360" cy="2743200"/>
          </a:xfrm>
          <a:prstGeom prst="roundRect">
            <a:avLst>
              <a:gd name="adj" fmla="val 2667"/>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4892040" y="1536192"/>
            <a:ext cx="457200" cy="457200"/>
          </a:xfrm>
          <a:prstGeom prst="ellipse">
            <a:avLst/>
          </a:prstGeom>
          <a:solidFill>
            <a:srgbClr val="FFFFFF"/>
          </a:solidFill>
          <a:ln w="19050">
            <a:solidFill>
              <a:srgbClr val="D98B3C"/>
            </a:solidFill>
            <a:prstDash val="solid"/>
          </a:ln>
        </p:spPr>
      </p:sp>
      <p:pic>
        <p:nvPicPr>
          <p:cNvPr id="11" name="Image 1" descr="preencoded.png">    </p:cNvPr>
          <p:cNvPicPr>
            <a:picLocks noChangeAspect="1"/>
          </p:cNvPicPr>
          <p:nvPr/>
        </p:nvPicPr>
        <p:blipFill>
          <a:blip r:embed="rId2"/>
          <a:stretch>
            <a:fillRect/>
          </a:stretch>
        </p:blipFill>
        <p:spPr>
          <a:xfrm>
            <a:off x="5010912" y="1655064"/>
            <a:ext cx="219456" cy="219456"/>
          </a:xfrm>
          <a:prstGeom prst="rect">
            <a:avLst/>
          </a:prstGeom>
        </p:spPr>
      </p:pic>
      <p:sp>
        <p:nvSpPr>
          <p:cNvPr id="12" name="Text 8"/>
          <p:cNvSpPr txBox="1"/>
          <p:nvPr/>
        </p:nvSpPr>
        <p:spPr>
          <a:xfrm>
            <a:off x="5486400" y="1609344"/>
            <a:ext cx="2926080" cy="320040"/>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Ready Room</a:t>
            </a:r>
            <a:endParaRPr lang="en-US" sz="1600" dirty="0"/>
          </a:p>
        </p:txBody>
      </p:sp>
      <p:sp>
        <p:nvSpPr>
          <p:cNvPr id="13" name="Text 9"/>
          <p:cNvSpPr txBox="1"/>
          <p:nvPr/>
        </p:nvSpPr>
        <p:spPr>
          <a:xfrm>
            <a:off x="4892040" y="2148840"/>
            <a:ext cx="3611880" cy="1920240"/>
          </a:xfrm>
          <a:prstGeom prst="rect">
            <a:avLst/>
          </a:prstGeom>
          <a:noFill/>
          <a:ln/>
        </p:spPr>
        <p:txBody>
          <a:bodyPr wrap="square" lIns="0" tIns="0" rIns="0" bIns="0" rtlCol="0" anchor="t"/>
          <a:lstStyle/>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Cold email to sales reps and sales managers, starting now</a:t>
            </a:r>
            <a:endParaRPr lang="en-US" sz="1250" dirty="0"/>
          </a:p>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LinkedIn and short videos showing live AI role-plays</a:t>
            </a:r>
            <a:endParaRPr lang="en-US" sz="1250" dirty="0"/>
          </a:p>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Partnerships with sales trainers, coaches and bootcamps</a:t>
            </a:r>
            <a:endParaRPr lang="en-US" sz="1250" dirty="0"/>
          </a:p>
          <a:p>
            <a:pPr marL="190500" indent="-190500">
              <a:spcAft>
                <a:spcPts val="500"/>
              </a:spcAft>
              <a:buSzPct val="100000"/>
              <a:buChar char="•"/>
            </a:pPr>
            <a:r>
              <a:rPr lang="en-US" sz="1250" dirty="0">
                <a:solidFill>
                  <a:srgbClr val="1B2A21"/>
                </a:solidFill>
                <a:latin typeface="Calibri" pitchFamily="34" charset="0"/>
                <a:ea typeface="Calibri" pitchFamily="34" charset="-122"/>
                <a:cs typeface="Calibri" pitchFamily="34" charset="-120"/>
              </a:rPr>
              <a:t>Team plans, app store search and referral rewards</a:t>
            </a:r>
            <a:endParaRPr lang="en-US" sz="1250" dirty="0"/>
          </a:p>
        </p:txBody>
      </p:sp>
      <p:sp>
        <p:nvSpPr>
          <p:cNvPr id="14" name="Text 10"/>
          <p:cNvSpPr txBox="1"/>
          <p:nvPr/>
        </p:nvSpPr>
        <p:spPr>
          <a:xfrm>
            <a:off x="457200" y="4279392"/>
            <a:ext cx="8229600" cy="320040"/>
          </a:xfrm>
          <a:prstGeom prst="rect">
            <a:avLst/>
          </a:prstGeom>
          <a:noFill/>
          <a:ln/>
        </p:spPr>
        <p:txBody>
          <a:bodyPr wrap="square" lIns="0" tIns="0" rIns="0" bIns="0" rtlCol="0" anchor="t"/>
          <a:lstStyle/>
          <a:p>
            <a:pPr indent="0" marL="0">
              <a:buNone/>
            </a:pPr>
            <a:r>
              <a:rPr lang="en-US" sz="1250" i="1" dirty="0">
                <a:solidFill>
                  <a:srgbClr val="143D28"/>
                </a:solidFill>
                <a:latin typeface="Calibri" pitchFamily="34" charset="0"/>
                <a:ea typeface="Calibri" pitchFamily="34" charset="-122"/>
                <a:cs typeface="Calibri" pitchFamily="34" charset="-120"/>
              </a:rPr>
              <a:t>Cold email first, to win paying customers fast: AppForge writes the campaigns, plus social posts, ads and presentations.</a:t>
            </a:r>
            <a:endParaRPr lang="en-US" sz="1250" dirty="0"/>
          </a:p>
        </p:txBody>
      </p:sp>
      <p:sp>
        <p:nvSpPr>
          <p:cNvPr id="16" name="Text 11"/>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17" name="Text 12"/>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14 / 29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Team &amp; Founders</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A founder who can both build and sell</a:t>
            </a:r>
            <a:endParaRPr lang="en-US" sz="2600" dirty="0"/>
          </a:p>
        </p:txBody>
      </p:sp>
      <p:sp>
        <p:nvSpPr>
          <p:cNvPr id="4" name="Shape 2"/>
          <p:cNvSpPr/>
          <p:nvPr/>
        </p:nvSpPr>
        <p:spPr>
          <a:xfrm>
            <a:off x="457200" y="1325880"/>
            <a:ext cx="4572000" cy="3291840"/>
          </a:xfrm>
          <a:prstGeom prst="roundRect">
            <a:avLst>
              <a:gd name="adj" fmla="val 222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85800" y="1481328"/>
            <a:ext cx="685800" cy="685800"/>
          </a:xfrm>
          <a:prstGeom prst="ellipse">
            <a:avLst/>
          </a:prstGeom>
          <a:solidFill>
            <a:srgbClr val="FFFFFF"/>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864108" y="1659636"/>
            <a:ext cx="329184" cy="329184"/>
          </a:xfrm>
          <a:prstGeom prst="rect">
            <a:avLst/>
          </a:prstGeom>
        </p:spPr>
      </p:pic>
      <p:sp>
        <p:nvSpPr>
          <p:cNvPr id="7" name="Text 4"/>
          <p:cNvSpPr txBox="1"/>
          <p:nvPr/>
        </p:nvSpPr>
        <p:spPr>
          <a:xfrm>
            <a:off x="1554480" y="1536192"/>
            <a:ext cx="3291840" cy="347472"/>
          </a:xfrm>
          <a:prstGeom prst="rect">
            <a:avLst/>
          </a:prstGeom>
          <a:noFill/>
          <a:ln/>
        </p:spPr>
        <p:txBody>
          <a:bodyPr wrap="square" lIns="0" tIns="0" rIns="0" bIns="0" rtlCol="0" anchor="t"/>
          <a:lstStyle/>
          <a:p>
            <a:pPr indent="0" marL="0">
              <a:buNone/>
            </a:pPr>
            <a:r>
              <a:rPr lang="en-US" sz="1900" b="1" dirty="0">
                <a:solidFill>
                  <a:srgbClr val="143D28"/>
                </a:solidFill>
                <a:latin typeface="Cambria" pitchFamily="34" charset="0"/>
                <a:ea typeface="Cambria" pitchFamily="34" charset="-122"/>
                <a:cs typeface="Cambria" pitchFamily="34" charset="-120"/>
              </a:rPr>
              <a:t>James Chambers</a:t>
            </a:r>
            <a:endParaRPr lang="en-US" sz="1900" dirty="0"/>
          </a:p>
        </p:txBody>
      </p:sp>
      <p:sp>
        <p:nvSpPr>
          <p:cNvPr id="8" name="Text 5"/>
          <p:cNvSpPr txBox="1"/>
          <p:nvPr/>
        </p:nvSpPr>
        <p:spPr>
          <a:xfrm>
            <a:off x="1554480" y="1883664"/>
            <a:ext cx="3291840" cy="274320"/>
          </a:xfrm>
          <a:prstGeom prst="rect">
            <a:avLst/>
          </a:prstGeom>
          <a:noFill/>
          <a:ln/>
        </p:spPr>
        <p:txBody>
          <a:bodyPr wrap="square" lIns="0" tIns="0" rIns="0" bIns="0" rtlCol="0" anchor="t"/>
          <a:lstStyle/>
          <a:p>
            <a:pPr indent="0" marL="0">
              <a:buNone/>
            </a:pPr>
            <a:r>
              <a:rPr lang="en-US" sz="1250" b="1" dirty="0">
                <a:solidFill>
                  <a:srgbClr val="D98B3C"/>
                </a:solidFill>
                <a:latin typeface="Calibri" pitchFamily="34" charset="0"/>
                <a:ea typeface="Calibri" pitchFamily="34" charset="-122"/>
                <a:cs typeface="Calibri" pitchFamily="34" charset="-120"/>
              </a:rPr>
              <a:t>Founder &amp; CEO · Springfield, MO</a:t>
            </a:r>
            <a:endParaRPr lang="en-US" sz="1250" dirty="0"/>
          </a:p>
        </p:txBody>
      </p:sp>
      <p:sp>
        <p:nvSpPr>
          <p:cNvPr id="9" name="Text 6"/>
          <p:cNvSpPr txBox="1"/>
          <p:nvPr/>
        </p:nvSpPr>
        <p:spPr>
          <a:xfrm>
            <a:off x="685800" y="2286000"/>
            <a:ext cx="4206240" cy="2286000"/>
          </a:xfrm>
          <a:prstGeom prst="rect">
            <a:avLst/>
          </a:prstGeom>
          <a:noFill/>
          <a:ln/>
        </p:spPr>
        <p:txBody>
          <a:bodyPr wrap="square" lIns="0" tIns="0" rIns="0" bIns="0" rtlCol="0" anchor="t"/>
          <a:lstStyle/>
          <a:p>
            <a:pPr marL="190500" indent="-190500">
              <a:spcAft>
                <a:spcPts val="400"/>
              </a:spcAft>
              <a:buSzPct val="100000"/>
              <a:buChar char="•"/>
            </a:pPr>
            <a:r>
              <a:rPr lang="en-US" sz="1250" b="1" dirty="0">
                <a:solidFill>
                  <a:srgbClr val="1B2A21"/>
                </a:solidFill>
                <a:latin typeface="Calibri" pitchFamily="34" charset="0"/>
                <a:ea typeface="Calibri" pitchFamily="34" charset="-122"/>
                <a:cs typeface="Calibri" pitchFamily="34" charset="-120"/>
              </a:rPr>
              <a:t>Technical: </a:t>
            </a:r>
            <a:pPr indent="0" marL="0">
              <a:spcAft>
                <a:spcPts val="400"/>
              </a:spcAft>
              <a:buNone/>
            </a:pPr>
            <a:r>
              <a:rPr lang="en-US" sz="1250" dirty="0">
                <a:solidFill>
                  <a:srgbClr val="1B2A21"/>
                </a:solidFill>
                <a:latin typeface="Calibri" pitchFamily="34" charset="0"/>
                <a:ea typeface="Calibri" pitchFamily="34" charset="-122"/>
                <a:cs typeface="Calibri" pitchFamily="34" charset="-120"/>
              </a:rPr>
              <a:t>degree in computer science</a:t>
            </a:r>
            <a:endParaRPr lang="en-US" sz="1250" dirty="0"/>
          </a:p>
          <a:p>
            <a:pPr marL="190500" indent="-190500">
              <a:spcAft>
                <a:spcPts val="400"/>
              </a:spcAft>
              <a:buSzPct val="100000"/>
              <a:buChar char="•"/>
            </a:pPr>
            <a:r>
              <a:rPr lang="en-US" sz="1250" b="1" dirty="0">
                <a:solidFill>
                  <a:srgbClr val="1B2A21"/>
                </a:solidFill>
                <a:latin typeface="Calibri" pitchFamily="34" charset="0"/>
                <a:ea typeface="Calibri" pitchFamily="34" charset="-122"/>
                <a:cs typeface="Calibri" pitchFamily="34" charset="-120"/>
              </a:rPr>
              <a:t>Builder: </a:t>
            </a:r>
            <a:pPr indent="0" marL="0">
              <a:spcAft>
                <a:spcPts val="400"/>
              </a:spcAft>
              <a:buNone/>
            </a:pPr>
            <a:r>
              <a:rPr lang="en-US" sz="1250" dirty="0">
                <a:solidFill>
                  <a:srgbClr val="1B2A21"/>
                </a:solidFill>
                <a:latin typeface="Calibri" pitchFamily="34" charset="0"/>
                <a:ea typeface="Calibri" pitchFamily="34" charset="-122"/>
                <a:cs typeface="Calibri" pitchFamily="34" charset="-120"/>
              </a:rPr>
              <a:t>designed and shipped PastorAI and Ready Room (with voice AI) on iOS, Android and web, solo</a:t>
            </a:r>
            <a:endParaRPr lang="en-US" sz="1250" dirty="0"/>
          </a:p>
          <a:p>
            <a:pPr marL="190500" indent="-190500">
              <a:spcAft>
                <a:spcPts val="400"/>
              </a:spcAft>
              <a:buSzPct val="100000"/>
              <a:buChar char="•"/>
            </a:pPr>
            <a:r>
              <a:rPr lang="en-US" sz="1250" b="1" dirty="0">
                <a:solidFill>
                  <a:srgbClr val="1B2A21"/>
                </a:solidFill>
                <a:latin typeface="Calibri" pitchFamily="34" charset="0"/>
                <a:ea typeface="Calibri" pitchFamily="34" charset="-122"/>
                <a:cs typeface="Calibri" pitchFamily="34" charset="-120"/>
              </a:rPr>
              <a:t>Systems: </a:t>
            </a:r>
            <a:pPr indent="0" marL="0">
              <a:spcAft>
                <a:spcPts val="400"/>
              </a:spcAft>
              <a:buNone/>
            </a:pPr>
            <a:r>
              <a:rPr lang="en-US" sz="1250" dirty="0">
                <a:solidFill>
                  <a:srgbClr val="1B2A21"/>
                </a:solidFill>
                <a:latin typeface="Calibri" pitchFamily="34" charset="0"/>
                <a:ea typeface="Calibri" pitchFamily="34" charset="-122"/>
                <a:cs typeface="Calibri" pitchFamily="34" charset="-120"/>
              </a:rPr>
              <a:t>built AppForge and Business HQ to run many apps</a:t>
            </a:r>
            <a:endParaRPr lang="en-US" sz="1250" dirty="0"/>
          </a:p>
          <a:p>
            <a:pPr marL="190500" indent="-190500">
              <a:spcAft>
                <a:spcPts val="400"/>
              </a:spcAft>
              <a:buSzPct val="100000"/>
              <a:buChar char="•"/>
            </a:pPr>
            <a:r>
              <a:rPr lang="en-US" sz="1250" b="1" dirty="0">
                <a:solidFill>
                  <a:srgbClr val="1B2A21"/>
                </a:solidFill>
                <a:latin typeface="Calibri" pitchFamily="34" charset="0"/>
                <a:ea typeface="Calibri" pitchFamily="34" charset="-122"/>
                <a:cs typeface="Calibri" pitchFamily="34" charset="-120"/>
              </a:rPr>
              <a:t>Seller: </a:t>
            </a:r>
            <a:pPr indent="0" marL="0">
              <a:spcAft>
                <a:spcPts val="400"/>
              </a:spcAft>
              <a:buNone/>
            </a:pPr>
            <a:r>
              <a:rPr lang="en-US" sz="1250" dirty="0">
                <a:solidFill>
                  <a:srgbClr val="1B2A21"/>
                </a:solidFill>
                <a:latin typeface="Calibri" pitchFamily="34" charset="0"/>
                <a:ea typeface="Calibri" pitchFamily="34" charset="-122"/>
                <a:cs typeface="Calibri" pitchFamily="34" charset="-120"/>
              </a:rPr>
              <a:t>40+ years in sales across many industries</a:t>
            </a:r>
            <a:endParaRPr lang="en-US" sz="1250" dirty="0"/>
          </a:p>
          <a:p>
            <a:pPr marL="190500" indent="-190500">
              <a:spcAft>
                <a:spcPts val="400"/>
              </a:spcAft>
              <a:buSzPct val="100000"/>
              <a:buChar char="•"/>
            </a:pPr>
            <a:r>
              <a:rPr lang="en-US" sz="1250" b="1" dirty="0">
                <a:solidFill>
                  <a:srgbClr val="1B2A21"/>
                </a:solidFill>
                <a:latin typeface="Calibri" pitchFamily="34" charset="0"/>
                <a:ea typeface="Calibri" pitchFamily="34" charset="-122"/>
                <a:cs typeface="Calibri" pitchFamily="34" charset="-120"/>
              </a:rPr>
              <a:t>Why him: </a:t>
            </a:r>
            <a:pPr indent="0" marL="0">
              <a:spcAft>
                <a:spcPts val="400"/>
              </a:spcAft>
              <a:buNone/>
            </a:pPr>
            <a:r>
              <a:rPr lang="en-US" sz="1250" dirty="0">
                <a:solidFill>
                  <a:srgbClr val="1B2A21"/>
                </a:solidFill>
                <a:latin typeface="Calibri" pitchFamily="34" charset="0"/>
                <a:ea typeface="Calibri" pitchFamily="34" charset="-122"/>
                <a:cs typeface="Calibri" pitchFamily="34" charset="-120"/>
              </a:rPr>
              <a:t>lived both problems: his bishop's workload, and decades of selling</a:t>
            </a:r>
            <a:endParaRPr lang="en-US" sz="1250" dirty="0"/>
          </a:p>
        </p:txBody>
      </p:sp>
      <p:sp>
        <p:nvSpPr>
          <p:cNvPr id="10" name="Text 7"/>
          <p:cNvSpPr txBox="1"/>
          <p:nvPr/>
        </p:nvSpPr>
        <p:spPr>
          <a:xfrm>
            <a:off x="5303520" y="1325880"/>
            <a:ext cx="3383280" cy="274320"/>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Hiring with this round</a:t>
            </a:r>
            <a:endParaRPr lang="en-US" sz="1300" dirty="0"/>
          </a:p>
        </p:txBody>
      </p:sp>
      <p:sp>
        <p:nvSpPr>
          <p:cNvPr id="11" name="Shape 8"/>
          <p:cNvSpPr/>
          <p:nvPr/>
        </p:nvSpPr>
        <p:spPr>
          <a:xfrm>
            <a:off x="5303520" y="1737360"/>
            <a:ext cx="502920" cy="502920"/>
          </a:xfrm>
          <a:prstGeom prst="ellipse">
            <a:avLst/>
          </a:prstGeom>
          <a:solidFill>
            <a:srgbClr val="FFFFFF"/>
          </a:solidFill>
          <a:ln w="19050">
            <a:solidFill>
              <a:srgbClr val="D98B3C"/>
            </a:solidFill>
            <a:prstDash val="solid"/>
          </a:ln>
        </p:spPr>
      </p:sp>
      <p:pic>
        <p:nvPicPr>
          <p:cNvPr id="12" name="Image 1" descr="preencoded.png">    </p:cNvPr>
          <p:cNvPicPr>
            <a:picLocks noChangeAspect="1"/>
          </p:cNvPicPr>
          <p:nvPr/>
        </p:nvPicPr>
        <p:blipFill>
          <a:blip r:embed="rId2"/>
          <a:stretch>
            <a:fillRect/>
          </a:stretch>
        </p:blipFill>
        <p:spPr>
          <a:xfrm>
            <a:off x="5434279" y="1868119"/>
            <a:ext cx="241402" cy="241402"/>
          </a:xfrm>
          <a:prstGeom prst="rect">
            <a:avLst/>
          </a:prstGeom>
        </p:spPr>
      </p:pic>
      <p:sp>
        <p:nvSpPr>
          <p:cNvPr id="13" name="Text 9"/>
          <p:cNvSpPr txBox="1"/>
          <p:nvPr/>
        </p:nvSpPr>
        <p:spPr>
          <a:xfrm>
            <a:off x="5943600" y="1737360"/>
            <a:ext cx="274320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Contract developer</a:t>
            </a:r>
            <a:endParaRPr lang="en-US" sz="1400" dirty="0"/>
          </a:p>
        </p:txBody>
      </p:sp>
      <p:sp>
        <p:nvSpPr>
          <p:cNvPr id="14" name="Text 10"/>
          <p:cNvSpPr txBox="1"/>
          <p:nvPr/>
        </p:nvSpPr>
        <p:spPr>
          <a:xfrm>
            <a:off x="5943600" y="2029968"/>
            <a:ext cx="2743200" cy="50292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Builds apps 3–10 with AppForge (Phase 2)</a:t>
            </a:r>
            <a:endParaRPr lang="en-US" sz="1250" dirty="0"/>
          </a:p>
        </p:txBody>
      </p:sp>
      <p:sp>
        <p:nvSpPr>
          <p:cNvPr id="15" name="Shape 11"/>
          <p:cNvSpPr/>
          <p:nvPr/>
        </p:nvSpPr>
        <p:spPr>
          <a:xfrm>
            <a:off x="5303520" y="2670048"/>
            <a:ext cx="502920" cy="502920"/>
          </a:xfrm>
          <a:prstGeom prst="ellipse">
            <a:avLst/>
          </a:prstGeom>
          <a:solidFill>
            <a:srgbClr val="FFFFFF"/>
          </a:solidFill>
          <a:ln w="19050">
            <a:solidFill>
              <a:srgbClr val="D98B3C"/>
            </a:solidFill>
            <a:prstDash val="solid"/>
          </a:ln>
        </p:spPr>
      </p:sp>
      <p:pic>
        <p:nvPicPr>
          <p:cNvPr id="16" name="Image 2" descr="preencoded.png">    </p:cNvPr>
          <p:cNvPicPr>
            <a:picLocks noChangeAspect="1"/>
          </p:cNvPicPr>
          <p:nvPr/>
        </p:nvPicPr>
        <p:blipFill>
          <a:blip r:embed="rId3"/>
          <a:stretch>
            <a:fillRect/>
          </a:stretch>
        </p:blipFill>
        <p:spPr>
          <a:xfrm>
            <a:off x="5434279" y="2800807"/>
            <a:ext cx="241402" cy="241402"/>
          </a:xfrm>
          <a:prstGeom prst="rect">
            <a:avLst/>
          </a:prstGeom>
        </p:spPr>
      </p:pic>
      <p:sp>
        <p:nvSpPr>
          <p:cNvPr id="17" name="Text 12"/>
          <p:cNvSpPr txBox="1"/>
          <p:nvPr/>
        </p:nvSpPr>
        <p:spPr>
          <a:xfrm>
            <a:off x="5943600" y="2670048"/>
            <a:ext cx="274320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Part-time growth marketer</a:t>
            </a:r>
            <a:endParaRPr lang="en-US" sz="1400" dirty="0"/>
          </a:p>
        </p:txBody>
      </p:sp>
      <p:sp>
        <p:nvSpPr>
          <p:cNvPr id="18" name="Text 13"/>
          <p:cNvSpPr txBox="1"/>
          <p:nvPr/>
        </p:nvSpPr>
        <p:spPr>
          <a:xfrm>
            <a:off x="5943600" y="2962656"/>
            <a:ext cx="2743200" cy="50292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Runs cold email, ads and partnerships</a:t>
            </a:r>
            <a:endParaRPr lang="en-US" sz="1250" dirty="0"/>
          </a:p>
        </p:txBody>
      </p:sp>
      <p:sp>
        <p:nvSpPr>
          <p:cNvPr id="19" name="Shape 14"/>
          <p:cNvSpPr/>
          <p:nvPr/>
        </p:nvSpPr>
        <p:spPr>
          <a:xfrm>
            <a:off x="5303520" y="3602736"/>
            <a:ext cx="502920" cy="502920"/>
          </a:xfrm>
          <a:prstGeom prst="ellipse">
            <a:avLst/>
          </a:prstGeom>
          <a:solidFill>
            <a:srgbClr val="FFFFFF"/>
          </a:solidFill>
          <a:ln w="19050">
            <a:solidFill>
              <a:srgbClr val="D98B3C"/>
            </a:solidFill>
            <a:prstDash val="solid"/>
          </a:ln>
        </p:spPr>
      </p:sp>
      <p:pic>
        <p:nvPicPr>
          <p:cNvPr id="20" name="Image 3" descr="preencoded.png">    </p:cNvPr>
          <p:cNvPicPr>
            <a:picLocks noChangeAspect="1"/>
          </p:cNvPicPr>
          <p:nvPr/>
        </p:nvPicPr>
        <p:blipFill>
          <a:blip r:embed="rId4"/>
          <a:stretch>
            <a:fillRect/>
          </a:stretch>
        </p:blipFill>
        <p:spPr>
          <a:xfrm>
            <a:off x="5434279" y="3733495"/>
            <a:ext cx="241402" cy="241402"/>
          </a:xfrm>
          <a:prstGeom prst="rect">
            <a:avLst/>
          </a:prstGeom>
        </p:spPr>
      </p:pic>
      <p:sp>
        <p:nvSpPr>
          <p:cNvPr id="21" name="Text 15"/>
          <p:cNvSpPr txBox="1"/>
          <p:nvPr/>
        </p:nvSpPr>
        <p:spPr>
          <a:xfrm>
            <a:off x="5943600" y="3602736"/>
            <a:ext cx="274320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Advisors (recruiting now)</a:t>
            </a:r>
            <a:endParaRPr lang="en-US" sz="1400" dirty="0"/>
          </a:p>
        </p:txBody>
      </p:sp>
      <p:sp>
        <p:nvSpPr>
          <p:cNvPr id="22" name="Text 16"/>
          <p:cNvSpPr txBox="1"/>
          <p:nvPr/>
        </p:nvSpPr>
        <p:spPr>
          <a:xfrm>
            <a:off x="5943600" y="3895344"/>
            <a:ext cx="2743200" cy="50292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Ministry, sales training and software</a:t>
            </a:r>
            <a:endParaRPr lang="en-US" sz="1250" dirty="0"/>
          </a:p>
        </p:txBody>
      </p:sp>
      <p:sp>
        <p:nvSpPr>
          <p:cNvPr id="24" name="Text 17"/>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5" name="Text 18"/>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15 / 29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Financial Projections  ·  3-year model</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Break-even in year 3, ~$2M annual revenue run-rate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1371600"/>
                <a:gridCol w="1371600"/>
                <a:gridCol w="1371600"/>
              </a:tblGrid>
              <a:tr h="338328">
                <a:tc>
                  <a:txBody>
                    <a:bodyPr/>
                    <a:lstStyle/>
                    <a:p>
                      <a:pPr algn="ctr" indent="0" marL="0">
                        <a:buNone/>
                      </a:pP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CE1C7"/>
                    </a:solidFill>
                  </a:tcPr>
                </a:tc>
                <a:tc>
                  <a:txBody>
                    <a:bodyPr/>
                    <a:lstStyle/>
                    <a:p>
                      <a:pPr algn="ctr" indent="0" marL="0">
                        <a:buNone/>
                      </a:pPr>
                      <a:r>
                        <a:rPr lang="en-US" sz="1250" b="1" dirty="0">
                          <a:solidFill>
                            <a:srgbClr val="F4EBD5"/>
                          </a:solidFill>
                          <a:latin typeface="Calibri" pitchFamily="34" charset="0"/>
                          <a:ea typeface="Calibri" pitchFamily="34" charset="-122"/>
                          <a:cs typeface="Calibri" pitchFamily="34" charset="-120"/>
                        </a:rPr>
                        <a:t>Year 1</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143D28"/>
                    </a:solidFill>
                  </a:tcPr>
                </a:tc>
                <a:tc>
                  <a:txBody>
                    <a:bodyPr/>
                    <a:lstStyle/>
                    <a:p>
                      <a:pPr algn="ctr" indent="0" marL="0">
                        <a:buNone/>
                      </a:pPr>
                      <a:r>
                        <a:rPr lang="en-US" sz="1250" b="1" dirty="0">
                          <a:solidFill>
                            <a:srgbClr val="F4EBD5"/>
                          </a:solidFill>
                          <a:latin typeface="Calibri" pitchFamily="34" charset="0"/>
                          <a:ea typeface="Calibri" pitchFamily="34" charset="-122"/>
                          <a:cs typeface="Calibri" pitchFamily="34" charset="-120"/>
                        </a:rPr>
                        <a:t>Year 2</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143D28"/>
                    </a:solidFill>
                  </a:tcPr>
                </a:tc>
                <a:tc>
                  <a:txBody>
                    <a:bodyPr/>
                    <a:lstStyle/>
                    <a:p>
                      <a:pPr algn="ctr" indent="0" marL="0">
                        <a:buNone/>
                      </a:pPr>
                      <a:r>
                        <a:rPr lang="en-US" sz="1250" b="1" dirty="0">
                          <a:solidFill>
                            <a:srgbClr val="F4EBD5"/>
                          </a:solidFill>
                          <a:latin typeface="Calibri" pitchFamily="34" charset="0"/>
                          <a:ea typeface="Calibri" pitchFamily="34" charset="-122"/>
                          <a:cs typeface="Calibri" pitchFamily="34" charset="-120"/>
                        </a:rPr>
                        <a:t>Year 3</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143D28"/>
                    </a:solidFill>
                  </a:tcPr>
                </a:tc>
              </a:tr>
              <a:tr h="33832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Paying subscribers (end of year)</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650</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2,000</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4,500</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3832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Annual revenue run-rate at year end (ARR)</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$296K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$912K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$2.05M</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3832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Revenue during the year</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$128K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$604K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$1.48M</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3832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Gross margin (after app-store fees, AI, hosting)</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~73%</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~73%</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~73%</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3832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Operating costs (marketing, salaries, other)</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$340K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$600K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$900K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38328">
                <a:tc>
                  <a:txBody>
                    <a:bodyPr/>
                    <a:lstStyle/>
                    <a:p>
                      <a:pPr algn="l" indent="0" marL="0">
                        <a:buNone/>
                      </a:pPr>
                      <a:r>
                        <a:rPr lang="en-US" sz="1250" b="1" dirty="0">
                          <a:solidFill>
                            <a:srgbClr val="1B2A21"/>
                          </a:solidFill>
                          <a:latin typeface="Calibri" pitchFamily="34" charset="0"/>
                          <a:ea typeface="Calibri" pitchFamily="34" charset="-122"/>
                          <a:cs typeface="Calibri" pitchFamily="34" charset="-120"/>
                        </a:rPr>
                        <a:t>Profit (loss)</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−$247K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−$159K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$182K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3832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Average monthly burn</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~$21K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~$13K</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21"/>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marL="91440" marR="91440"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096512"/>
            <a:ext cx="8229600" cy="594360"/>
          </a:xfrm>
          <a:prstGeom prst="rect">
            <a:avLst/>
          </a:prstGeom>
          <a:noFill/>
          <a:ln/>
        </p:spPr>
        <p:txBody>
          <a:bodyPr wrap="square" lIns="0" tIns="0" rIns="0" bIns="0" rtlCol="0" anchor="t"/>
          <a:lstStyle/>
          <a:p>
            <a:pPr indent="0" marL="0">
              <a:buNone/>
            </a:pPr>
            <a:r>
              <a:rPr lang="en-US" sz="1150" b="1" dirty="0">
                <a:solidFill>
                  <a:srgbClr val="4E5D53"/>
                </a:solidFill>
                <a:latin typeface="Calibri" pitchFamily="34" charset="0"/>
                <a:ea typeface="Calibri" pitchFamily="34" charset="-122"/>
                <a:cs typeface="Calibri" pitchFamily="34" charset="-120"/>
              </a:rPr>
              <a:t>Runway: </a:t>
            </a:r>
            <a:pPr indent="0" marL="0">
              <a:buNone/>
            </a:pPr>
            <a:r>
              <a:rPr lang="en-US" sz="1150" dirty="0">
                <a:solidFill>
                  <a:srgbClr val="4E5D53"/>
                </a:solidFill>
                <a:latin typeface="Calibri" pitchFamily="34" charset="0"/>
                <a:ea typeface="Calibri" pitchFamily="34" charset="-122"/>
                <a:cs typeface="Calibri" pitchFamily="34" charset="-120"/>
              </a:rPr>
              <a:t>the $450K covers about 18 months, with roughly $120K left at month 18 when we raise a seed round to scale apps 3–10. </a:t>
            </a:r>
            <a:pPr indent="0" marL="0">
              <a:buNone/>
            </a:pPr>
            <a:r>
              <a:rPr lang="en-US" sz="1150" b="1" dirty="0">
                <a:solidFill>
                  <a:srgbClr val="4E5D53"/>
                </a:solidFill>
                <a:latin typeface="Calibri" pitchFamily="34" charset="0"/>
                <a:ea typeface="Calibri" pitchFamily="34" charset="-122"/>
                <a:cs typeface="Calibri" pitchFamily="34" charset="-120"/>
              </a:rPr>
              <a:t>Assumptions: </a:t>
            </a:r>
            <a:pPr indent="0" marL="0">
              <a:buNone/>
            </a:pPr>
            <a:r>
              <a:rPr lang="en-US" sz="1150" dirty="0">
                <a:solidFill>
                  <a:srgbClr val="4E5D53"/>
                </a:solidFill>
                <a:latin typeface="Calibri" pitchFamily="34" charset="0"/>
                <a:ea typeface="Calibri" pitchFamily="34" charset="-122"/>
                <a:cs typeface="Calibri" pitchFamily="34" charset="-120"/>
              </a:rPr>
              <a:t>~$38 average monthly price, ~5% monthly cancellations, new apps only after the Phase 1 milestone. Projections, not guarantees.</a:t>
            </a:r>
            <a:endParaRPr lang="en-US" sz="1150" dirty="0"/>
          </a:p>
        </p:txBody>
      </p:sp>
      <p:sp>
        <p:nvSpPr>
          <p:cNvPr id="7" name="Text 3"/>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8" name="Text 4"/>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16 / 29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Use of Funds  ·  Milestones each dollar buys</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$450K over 18 months, released in two phases</a:t>
            </a:r>
            <a:endParaRPr lang="en-US" sz="2600" dirty="0"/>
          </a:p>
        </p:txBody>
      </p:sp>
      <p:graphicFrame>
        <p:nvGraphicFramePr>
          <p:cNvPr id="4" name="Chart 0" descr=""/>
          <p:cNvGraphicFramePr/>
          <p:nvPr/>
        </p:nvGraphicFramePr>
        <p:xfrm>
          <a:off x="274320" y="1280160"/>
          <a:ext cx="2514600" cy="2514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2880360" y="1399032"/>
            <a:ext cx="182880" cy="182880"/>
          </a:xfrm>
          <a:prstGeom prst="ellipse">
            <a:avLst/>
          </a:prstGeom>
          <a:solidFill>
            <a:srgbClr val="143D28"/>
          </a:solidFill>
          <a:ln w="12700">
            <a:solidFill>
              <a:srgbClr val="143D28"/>
            </a:solidFill>
            <a:prstDash val="solid"/>
          </a:ln>
        </p:spPr>
      </p:sp>
      <p:sp>
        <p:nvSpPr>
          <p:cNvPr id="6" name="Text 3"/>
          <p:cNvSpPr txBox="1"/>
          <p:nvPr/>
        </p:nvSpPr>
        <p:spPr>
          <a:xfrm>
            <a:off x="3127248" y="1298448"/>
            <a:ext cx="713232" cy="384048"/>
          </a:xfrm>
          <a:prstGeom prst="rect">
            <a:avLst/>
          </a:prstGeom>
          <a:noFill/>
          <a:ln/>
        </p:spPr>
        <p:txBody>
          <a:bodyPr wrap="square" lIns="0" tIns="0" rIns="0" bIns="0" rtlCol="0" anchor="ctr"/>
          <a:lstStyle/>
          <a:p>
            <a:pPr indent="0" marL="0">
              <a:buNone/>
            </a:pPr>
            <a:r>
              <a:rPr lang="en-US" sz="1500" b="1" dirty="0">
                <a:solidFill>
                  <a:srgbClr val="143D28"/>
                </a:solidFill>
                <a:latin typeface="Cambria" pitchFamily="34" charset="0"/>
                <a:ea typeface="Cambria" pitchFamily="34" charset="-122"/>
                <a:cs typeface="Cambria" pitchFamily="34" charset="-120"/>
              </a:rPr>
              <a:t>$160K</a:t>
            </a:r>
            <a:endParaRPr lang="en-US" sz="1500" dirty="0"/>
          </a:p>
        </p:txBody>
      </p:sp>
      <p:sp>
        <p:nvSpPr>
          <p:cNvPr id="7" name="Text 4"/>
          <p:cNvSpPr txBox="1"/>
          <p:nvPr/>
        </p:nvSpPr>
        <p:spPr>
          <a:xfrm>
            <a:off x="3840480" y="1298448"/>
            <a:ext cx="2423160" cy="384048"/>
          </a:xfrm>
          <a:prstGeom prst="rect">
            <a:avLst/>
          </a:prstGeom>
          <a:noFill/>
          <a:ln/>
        </p:spPr>
        <p:txBody>
          <a:bodyPr wrap="square" lIns="0" tIns="0" rIns="0" bIns="0" rtlCol="0" anchor="ctr"/>
          <a:lstStyle/>
          <a:p>
            <a:pPr indent="0" marL="0">
              <a:buNone/>
            </a:pPr>
            <a:r>
              <a:rPr lang="en-US" sz="1150" dirty="0">
                <a:solidFill>
                  <a:srgbClr val="1B2A21"/>
                </a:solidFill>
                <a:latin typeface="Calibri" pitchFamily="34" charset="0"/>
                <a:ea typeface="Calibri" pitchFamily="34" charset="-122"/>
                <a:cs typeface="Calibri" pitchFamily="34" charset="-120"/>
              </a:rPr>
              <a:t>Marketing: cold email, ads and outreach</a:t>
            </a:r>
            <a:endParaRPr lang="en-US" sz="1150" dirty="0"/>
          </a:p>
        </p:txBody>
      </p:sp>
      <p:sp>
        <p:nvSpPr>
          <p:cNvPr id="8" name="Shape 5"/>
          <p:cNvSpPr/>
          <p:nvPr/>
        </p:nvSpPr>
        <p:spPr>
          <a:xfrm>
            <a:off x="2880360" y="1856232"/>
            <a:ext cx="182880" cy="182880"/>
          </a:xfrm>
          <a:prstGeom prst="ellipse">
            <a:avLst/>
          </a:prstGeom>
          <a:solidFill>
            <a:srgbClr val="D98B3C"/>
          </a:solidFill>
          <a:ln w="12700">
            <a:solidFill>
              <a:srgbClr val="D98B3C"/>
            </a:solidFill>
            <a:prstDash val="solid"/>
          </a:ln>
        </p:spPr>
      </p:sp>
      <p:sp>
        <p:nvSpPr>
          <p:cNvPr id="9" name="Text 6"/>
          <p:cNvSpPr txBox="1"/>
          <p:nvPr/>
        </p:nvSpPr>
        <p:spPr>
          <a:xfrm>
            <a:off x="3127248" y="1755648"/>
            <a:ext cx="713232" cy="384048"/>
          </a:xfrm>
          <a:prstGeom prst="rect">
            <a:avLst/>
          </a:prstGeom>
          <a:noFill/>
          <a:ln/>
        </p:spPr>
        <p:txBody>
          <a:bodyPr wrap="square" lIns="0" tIns="0" rIns="0" bIns="0" rtlCol="0" anchor="ctr"/>
          <a:lstStyle/>
          <a:p>
            <a:pPr indent="0" marL="0">
              <a:buNone/>
            </a:pPr>
            <a:r>
              <a:rPr lang="en-US" sz="1500" b="1" dirty="0">
                <a:solidFill>
                  <a:srgbClr val="143D28"/>
                </a:solidFill>
                <a:latin typeface="Cambria" pitchFamily="34" charset="0"/>
                <a:ea typeface="Cambria" pitchFamily="34" charset="-122"/>
                <a:cs typeface="Cambria" pitchFamily="34" charset="-120"/>
              </a:rPr>
              <a:t>$120K</a:t>
            </a:r>
            <a:endParaRPr lang="en-US" sz="1500" dirty="0"/>
          </a:p>
        </p:txBody>
      </p:sp>
      <p:sp>
        <p:nvSpPr>
          <p:cNvPr id="10" name="Text 7"/>
          <p:cNvSpPr txBox="1"/>
          <p:nvPr/>
        </p:nvSpPr>
        <p:spPr>
          <a:xfrm>
            <a:off x="3840480" y="1755648"/>
            <a:ext cx="2423160" cy="384048"/>
          </a:xfrm>
          <a:prstGeom prst="rect">
            <a:avLst/>
          </a:prstGeom>
          <a:noFill/>
          <a:ln/>
        </p:spPr>
        <p:txBody>
          <a:bodyPr wrap="square" lIns="0" tIns="0" rIns="0" bIns="0" rtlCol="0" anchor="ctr"/>
          <a:lstStyle/>
          <a:p>
            <a:pPr indent="0" marL="0">
              <a:buNone/>
            </a:pPr>
            <a:r>
              <a:rPr lang="en-US" sz="1150" dirty="0">
                <a:solidFill>
                  <a:srgbClr val="1B2A21"/>
                </a:solidFill>
                <a:latin typeface="Calibri" pitchFamily="34" charset="0"/>
                <a:ea typeface="Calibri" pitchFamily="34" charset="-122"/>
                <a:cs typeface="Calibri" pitchFamily="34" charset="-120"/>
              </a:rPr>
              <a:t>Founder salary: 18 months full-time</a:t>
            </a:r>
            <a:endParaRPr lang="en-US" sz="1150" dirty="0"/>
          </a:p>
        </p:txBody>
      </p:sp>
      <p:sp>
        <p:nvSpPr>
          <p:cNvPr id="11" name="Shape 8"/>
          <p:cNvSpPr/>
          <p:nvPr/>
        </p:nvSpPr>
        <p:spPr>
          <a:xfrm>
            <a:off x="2880360" y="2313432"/>
            <a:ext cx="182880" cy="182880"/>
          </a:xfrm>
          <a:prstGeom prst="ellipse">
            <a:avLst/>
          </a:prstGeom>
          <a:solidFill>
            <a:srgbClr val="4F7F63"/>
          </a:solidFill>
          <a:ln w="12700">
            <a:solidFill>
              <a:srgbClr val="4F7F63"/>
            </a:solidFill>
            <a:prstDash val="solid"/>
          </a:ln>
        </p:spPr>
      </p:sp>
      <p:sp>
        <p:nvSpPr>
          <p:cNvPr id="12" name="Text 9"/>
          <p:cNvSpPr txBox="1"/>
          <p:nvPr/>
        </p:nvSpPr>
        <p:spPr>
          <a:xfrm>
            <a:off x="3127248" y="2212848"/>
            <a:ext cx="713232" cy="384048"/>
          </a:xfrm>
          <a:prstGeom prst="rect">
            <a:avLst/>
          </a:prstGeom>
          <a:noFill/>
          <a:ln/>
        </p:spPr>
        <p:txBody>
          <a:bodyPr wrap="square" lIns="0" tIns="0" rIns="0" bIns="0" rtlCol="0" anchor="ctr"/>
          <a:lstStyle/>
          <a:p>
            <a:pPr indent="0" marL="0">
              <a:buNone/>
            </a:pPr>
            <a:r>
              <a:rPr lang="en-US" sz="1500" b="1" dirty="0">
                <a:solidFill>
                  <a:srgbClr val="143D28"/>
                </a:solidFill>
                <a:latin typeface="Cambria" pitchFamily="34" charset="0"/>
                <a:ea typeface="Cambria" pitchFamily="34" charset="-122"/>
                <a:cs typeface="Cambria" pitchFamily="34" charset="-120"/>
              </a:rPr>
              <a:t>$90K</a:t>
            </a:r>
            <a:endParaRPr lang="en-US" sz="1500" dirty="0"/>
          </a:p>
        </p:txBody>
      </p:sp>
      <p:sp>
        <p:nvSpPr>
          <p:cNvPr id="13" name="Text 10"/>
          <p:cNvSpPr txBox="1"/>
          <p:nvPr/>
        </p:nvSpPr>
        <p:spPr>
          <a:xfrm>
            <a:off x="3840480" y="2212848"/>
            <a:ext cx="2423160" cy="384048"/>
          </a:xfrm>
          <a:prstGeom prst="rect">
            <a:avLst/>
          </a:prstGeom>
          <a:noFill/>
          <a:ln/>
        </p:spPr>
        <p:txBody>
          <a:bodyPr wrap="square" lIns="0" tIns="0" rIns="0" bIns="0" rtlCol="0" anchor="ctr"/>
          <a:lstStyle/>
          <a:p>
            <a:pPr indent="0" marL="0">
              <a:buNone/>
            </a:pPr>
            <a:r>
              <a:rPr lang="en-US" sz="1150" dirty="0">
                <a:solidFill>
                  <a:srgbClr val="1B2A21"/>
                </a:solidFill>
                <a:latin typeface="Calibri" pitchFamily="34" charset="0"/>
                <a:ea typeface="Calibri" pitchFamily="34" charset="-122"/>
                <a:cs typeface="Calibri" pitchFamily="34" charset="-120"/>
              </a:rPr>
              <a:t>Apps 3–10 with AppForge (Phase 2 only)</a:t>
            </a:r>
            <a:endParaRPr lang="en-US" sz="1150" dirty="0"/>
          </a:p>
        </p:txBody>
      </p:sp>
      <p:sp>
        <p:nvSpPr>
          <p:cNvPr id="14" name="Shape 11"/>
          <p:cNvSpPr/>
          <p:nvPr/>
        </p:nvSpPr>
        <p:spPr>
          <a:xfrm>
            <a:off x="2880360" y="2770632"/>
            <a:ext cx="182880" cy="182880"/>
          </a:xfrm>
          <a:prstGeom prst="ellipse">
            <a:avLst/>
          </a:prstGeom>
          <a:solidFill>
            <a:srgbClr val="8FA98E"/>
          </a:solidFill>
          <a:ln w="12700">
            <a:solidFill>
              <a:srgbClr val="8FA98E"/>
            </a:solidFill>
            <a:prstDash val="solid"/>
          </a:ln>
        </p:spPr>
      </p:sp>
      <p:sp>
        <p:nvSpPr>
          <p:cNvPr id="15" name="Text 12"/>
          <p:cNvSpPr txBox="1"/>
          <p:nvPr/>
        </p:nvSpPr>
        <p:spPr>
          <a:xfrm>
            <a:off x="3127248" y="2670048"/>
            <a:ext cx="713232" cy="384048"/>
          </a:xfrm>
          <a:prstGeom prst="rect">
            <a:avLst/>
          </a:prstGeom>
          <a:noFill/>
          <a:ln/>
        </p:spPr>
        <p:txBody>
          <a:bodyPr wrap="square" lIns="0" tIns="0" rIns="0" bIns="0" rtlCol="0" anchor="ctr"/>
          <a:lstStyle/>
          <a:p>
            <a:pPr indent="0" marL="0">
              <a:buNone/>
            </a:pPr>
            <a:r>
              <a:rPr lang="en-US" sz="1500" b="1" dirty="0">
                <a:solidFill>
                  <a:srgbClr val="143D28"/>
                </a:solidFill>
                <a:latin typeface="Cambria" pitchFamily="34" charset="0"/>
                <a:ea typeface="Cambria" pitchFamily="34" charset="-122"/>
                <a:cs typeface="Cambria" pitchFamily="34" charset="-120"/>
              </a:rPr>
              <a:t>$30K</a:t>
            </a:r>
            <a:endParaRPr lang="en-US" sz="1500" dirty="0"/>
          </a:p>
        </p:txBody>
      </p:sp>
      <p:sp>
        <p:nvSpPr>
          <p:cNvPr id="16" name="Text 13"/>
          <p:cNvSpPr txBox="1"/>
          <p:nvPr/>
        </p:nvSpPr>
        <p:spPr>
          <a:xfrm>
            <a:off x="3840480" y="2670048"/>
            <a:ext cx="2423160" cy="384048"/>
          </a:xfrm>
          <a:prstGeom prst="rect">
            <a:avLst/>
          </a:prstGeom>
          <a:noFill/>
          <a:ln/>
        </p:spPr>
        <p:txBody>
          <a:bodyPr wrap="square" lIns="0" tIns="0" rIns="0" bIns="0" rtlCol="0" anchor="ctr"/>
          <a:lstStyle/>
          <a:p>
            <a:pPr indent="0" marL="0">
              <a:buNone/>
            </a:pPr>
            <a:r>
              <a:rPr lang="en-US" sz="1150" dirty="0">
                <a:solidFill>
                  <a:srgbClr val="1B2A21"/>
                </a:solidFill>
                <a:latin typeface="Calibri" pitchFamily="34" charset="0"/>
                <a:ea typeface="Calibri" pitchFamily="34" charset="-122"/>
                <a:cs typeface="Calibri" pitchFamily="34" charset="-120"/>
              </a:rPr>
              <a:t>AI, hosting and infrastructure</a:t>
            </a:r>
            <a:endParaRPr lang="en-US" sz="1150" dirty="0"/>
          </a:p>
        </p:txBody>
      </p:sp>
      <p:sp>
        <p:nvSpPr>
          <p:cNvPr id="17" name="Shape 14"/>
          <p:cNvSpPr/>
          <p:nvPr/>
        </p:nvSpPr>
        <p:spPr>
          <a:xfrm>
            <a:off x="2880360" y="3227832"/>
            <a:ext cx="182880" cy="182880"/>
          </a:xfrm>
          <a:prstGeom prst="ellipse">
            <a:avLst/>
          </a:prstGeom>
          <a:solidFill>
            <a:srgbClr val="B9A67A"/>
          </a:solidFill>
          <a:ln w="12700">
            <a:solidFill>
              <a:srgbClr val="B9A67A"/>
            </a:solidFill>
            <a:prstDash val="solid"/>
          </a:ln>
        </p:spPr>
      </p:sp>
      <p:sp>
        <p:nvSpPr>
          <p:cNvPr id="18" name="Text 15"/>
          <p:cNvSpPr txBox="1"/>
          <p:nvPr/>
        </p:nvSpPr>
        <p:spPr>
          <a:xfrm>
            <a:off x="3127248" y="3127248"/>
            <a:ext cx="713232" cy="384048"/>
          </a:xfrm>
          <a:prstGeom prst="rect">
            <a:avLst/>
          </a:prstGeom>
          <a:noFill/>
          <a:ln/>
        </p:spPr>
        <p:txBody>
          <a:bodyPr wrap="square" lIns="0" tIns="0" rIns="0" bIns="0" rtlCol="0" anchor="ctr"/>
          <a:lstStyle/>
          <a:p>
            <a:pPr indent="0" marL="0">
              <a:buNone/>
            </a:pPr>
            <a:r>
              <a:rPr lang="en-US" sz="1500" b="1" dirty="0">
                <a:solidFill>
                  <a:srgbClr val="143D28"/>
                </a:solidFill>
                <a:latin typeface="Cambria" pitchFamily="34" charset="0"/>
                <a:ea typeface="Cambria" pitchFamily="34" charset="-122"/>
                <a:cs typeface="Cambria" pitchFamily="34" charset="-120"/>
              </a:rPr>
              <a:t>$25K</a:t>
            </a:r>
            <a:endParaRPr lang="en-US" sz="1500" dirty="0"/>
          </a:p>
        </p:txBody>
      </p:sp>
      <p:sp>
        <p:nvSpPr>
          <p:cNvPr id="19" name="Text 16"/>
          <p:cNvSpPr txBox="1"/>
          <p:nvPr/>
        </p:nvSpPr>
        <p:spPr>
          <a:xfrm>
            <a:off x="3840480" y="3127248"/>
            <a:ext cx="2423160" cy="384048"/>
          </a:xfrm>
          <a:prstGeom prst="rect">
            <a:avLst/>
          </a:prstGeom>
          <a:noFill/>
          <a:ln/>
        </p:spPr>
        <p:txBody>
          <a:bodyPr wrap="square" lIns="0" tIns="0" rIns="0" bIns="0" rtlCol="0" anchor="ctr"/>
          <a:lstStyle/>
          <a:p>
            <a:pPr indent="0" marL="0">
              <a:buNone/>
            </a:pPr>
            <a:r>
              <a:rPr lang="en-US" sz="1150" dirty="0">
                <a:solidFill>
                  <a:srgbClr val="1B2A21"/>
                </a:solidFill>
                <a:latin typeface="Calibri" pitchFamily="34" charset="0"/>
                <a:ea typeface="Calibri" pitchFamily="34" charset="-122"/>
                <a:cs typeface="Calibri" pitchFamily="34" charset="-120"/>
              </a:rPr>
              <a:t>Legal, accounting and operations</a:t>
            </a:r>
            <a:endParaRPr lang="en-US" sz="1150" dirty="0"/>
          </a:p>
        </p:txBody>
      </p:sp>
      <p:sp>
        <p:nvSpPr>
          <p:cNvPr id="20" name="Shape 17"/>
          <p:cNvSpPr/>
          <p:nvPr/>
        </p:nvSpPr>
        <p:spPr>
          <a:xfrm>
            <a:off x="2880360" y="3685032"/>
            <a:ext cx="182880" cy="182880"/>
          </a:xfrm>
          <a:prstGeom prst="ellipse">
            <a:avLst/>
          </a:prstGeom>
          <a:solidFill>
            <a:srgbClr val="D9CBA6"/>
          </a:solidFill>
          <a:ln w="12700">
            <a:solidFill>
              <a:srgbClr val="D9CBA6"/>
            </a:solidFill>
            <a:prstDash val="solid"/>
          </a:ln>
        </p:spPr>
      </p:sp>
      <p:sp>
        <p:nvSpPr>
          <p:cNvPr id="21" name="Text 18"/>
          <p:cNvSpPr txBox="1"/>
          <p:nvPr/>
        </p:nvSpPr>
        <p:spPr>
          <a:xfrm>
            <a:off x="3127248" y="3584448"/>
            <a:ext cx="713232" cy="384048"/>
          </a:xfrm>
          <a:prstGeom prst="rect">
            <a:avLst/>
          </a:prstGeom>
          <a:noFill/>
          <a:ln/>
        </p:spPr>
        <p:txBody>
          <a:bodyPr wrap="square" lIns="0" tIns="0" rIns="0" bIns="0" rtlCol="0" anchor="ctr"/>
          <a:lstStyle/>
          <a:p>
            <a:pPr indent="0" marL="0">
              <a:buNone/>
            </a:pPr>
            <a:r>
              <a:rPr lang="en-US" sz="1500" b="1" dirty="0">
                <a:solidFill>
                  <a:srgbClr val="143D28"/>
                </a:solidFill>
                <a:latin typeface="Cambria" pitchFamily="34" charset="0"/>
                <a:ea typeface="Cambria" pitchFamily="34" charset="-122"/>
                <a:cs typeface="Cambria" pitchFamily="34" charset="-120"/>
              </a:rPr>
              <a:t>$25K</a:t>
            </a:r>
            <a:endParaRPr lang="en-US" sz="1500" dirty="0"/>
          </a:p>
        </p:txBody>
      </p:sp>
      <p:sp>
        <p:nvSpPr>
          <p:cNvPr id="22" name="Text 19"/>
          <p:cNvSpPr txBox="1"/>
          <p:nvPr/>
        </p:nvSpPr>
        <p:spPr>
          <a:xfrm>
            <a:off x="3840480" y="3584448"/>
            <a:ext cx="2423160" cy="384048"/>
          </a:xfrm>
          <a:prstGeom prst="rect">
            <a:avLst/>
          </a:prstGeom>
          <a:noFill/>
          <a:ln/>
        </p:spPr>
        <p:txBody>
          <a:bodyPr wrap="square" lIns="0" tIns="0" rIns="0" bIns="0" rtlCol="0" anchor="ctr"/>
          <a:lstStyle/>
          <a:p>
            <a:pPr indent="0" marL="0">
              <a:buNone/>
            </a:pPr>
            <a:r>
              <a:rPr lang="en-US" sz="1150" dirty="0">
                <a:solidFill>
                  <a:srgbClr val="1B2A21"/>
                </a:solidFill>
                <a:latin typeface="Calibri" pitchFamily="34" charset="0"/>
                <a:ea typeface="Calibri" pitchFamily="34" charset="-122"/>
                <a:cs typeface="Calibri" pitchFamily="34" charset="-120"/>
              </a:rPr>
              <a:t>Reserve</a:t>
            </a:r>
            <a:endParaRPr lang="en-US" sz="1150" dirty="0"/>
          </a:p>
        </p:txBody>
      </p:sp>
      <p:sp>
        <p:nvSpPr>
          <p:cNvPr id="23" name="Shape 20"/>
          <p:cNvSpPr/>
          <p:nvPr/>
        </p:nvSpPr>
        <p:spPr>
          <a:xfrm>
            <a:off x="6400800" y="1280160"/>
            <a:ext cx="2286000" cy="2743200"/>
          </a:xfrm>
          <a:prstGeom prst="roundRect">
            <a:avLst>
              <a:gd name="adj" fmla="val 3200"/>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24" name="Text 21"/>
          <p:cNvSpPr txBox="1"/>
          <p:nvPr/>
        </p:nvSpPr>
        <p:spPr>
          <a:xfrm>
            <a:off x="6583680" y="1389888"/>
            <a:ext cx="1920240" cy="256032"/>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Milestones</a:t>
            </a:r>
            <a:endParaRPr lang="en-US" sz="1300" dirty="0"/>
          </a:p>
        </p:txBody>
      </p:sp>
      <p:sp>
        <p:nvSpPr>
          <p:cNvPr id="25" name="Text 22"/>
          <p:cNvSpPr txBox="1"/>
          <p:nvPr/>
        </p:nvSpPr>
        <p:spPr>
          <a:xfrm>
            <a:off x="6583680" y="1691640"/>
            <a:ext cx="1965960" cy="2286000"/>
          </a:xfrm>
          <a:prstGeom prst="rect">
            <a:avLst/>
          </a:prstGeom>
          <a:noFill/>
          <a:ln/>
        </p:spPr>
        <p:txBody>
          <a:bodyPr wrap="square" lIns="0" tIns="0" rIns="0" bIns="0" rtlCol="0" anchor="t"/>
          <a:lstStyle/>
          <a:p>
            <a:pPr marL="190500" indent="-190500">
              <a:spcAft>
                <a:spcPts val="600"/>
              </a:spcAft>
              <a:buSzPct val="100000"/>
              <a:buChar char="•"/>
            </a:pPr>
            <a:r>
              <a:rPr lang="en-US" sz="1150" b="1" dirty="0">
                <a:solidFill>
                  <a:srgbClr val="1B2A21"/>
                </a:solidFill>
                <a:latin typeface="Calibri" pitchFamily="34" charset="0"/>
                <a:ea typeface="Calibri" pitchFamily="34" charset="-122"/>
                <a:cs typeface="Calibri" pitchFamily="34" charset="-120"/>
              </a:rPr>
              <a:t>Month 3: </a:t>
            </a:r>
            <a:pPr indent="0" marL="0">
              <a:spcAft>
                <a:spcPts val="600"/>
              </a:spcAft>
              <a:buNone/>
            </a:pPr>
            <a:r>
              <a:rPr lang="en-US" sz="1150" dirty="0">
                <a:solidFill>
                  <a:srgbClr val="1B2A21"/>
                </a:solidFill>
                <a:latin typeface="Calibri" pitchFamily="34" charset="0"/>
                <a:ea typeface="Calibri" pitchFamily="34" charset="-122"/>
                <a:cs typeface="Calibri" pitchFamily="34" charset="-120"/>
              </a:rPr>
              <a:t>75 paying subscribers</a:t>
            </a:r>
            <a:endParaRPr lang="en-US" sz="1150" dirty="0"/>
          </a:p>
          <a:p>
            <a:pPr marL="190500" indent="-190500">
              <a:spcAft>
                <a:spcPts val="600"/>
              </a:spcAft>
              <a:buSzPct val="100000"/>
              <a:buChar char="•"/>
            </a:pPr>
            <a:r>
              <a:rPr lang="en-US" sz="1150" b="1" dirty="0">
                <a:solidFill>
                  <a:srgbClr val="1B2A21"/>
                </a:solidFill>
                <a:latin typeface="Calibri" pitchFamily="34" charset="0"/>
                <a:ea typeface="Calibri" pitchFamily="34" charset="-122"/>
                <a:cs typeface="Calibri" pitchFamily="34" charset="-120"/>
              </a:rPr>
              <a:t>Month 6: </a:t>
            </a:r>
            <a:pPr indent="0" marL="0">
              <a:spcAft>
                <a:spcPts val="600"/>
              </a:spcAft>
              <a:buNone/>
            </a:pPr>
            <a:r>
              <a:rPr lang="en-US" sz="1150" dirty="0">
                <a:solidFill>
                  <a:srgbClr val="1B2A21"/>
                </a:solidFill>
                <a:latin typeface="Calibri" pitchFamily="34" charset="0"/>
                <a:ea typeface="Calibri" pitchFamily="34" charset="-122"/>
                <a:cs typeface="Calibri" pitchFamily="34" charset="-120"/>
              </a:rPr>
              <a:t>150 paying (unlocks Phase 2)</a:t>
            </a:r>
            <a:endParaRPr lang="en-US" sz="1150" dirty="0"/>
          </a:p>
          <a:p>
            <a:pPr marL="190500" indent="-190500">
              <a:spcAft>
                <a:spcPts val="600"/>
              </a:spcAft>
              <a:buSzPct val="100000"/>
              <a:buChar char="•"/>
            </a:pPr>
            <a:r>
              <a:rPr lang="en-US" sz="1150" b="1" dirty="0">
                <a:solidFill>
                  <a:srgbClr val="1B2A21"/>
                </a:solidFill>
                <a:latin typeface="Calibri" pitchFamily="34" charset="0"/>
                <a:ea typeface="Calibri" pitchFamily="34" charset="-122"/>
                <a:cs typeface="Calibri" pitchFamily="34" charset="-120"/>
              </a:rPr>
              <a:t>Month 12: </a:t>
            </a:r>
            <a:pPr indent="0" marL="0">
              <a:spcAft>
                <a:spcPts val="600"/>
              </a:spcAft>
              <a:buNone/>
            </a:pPr>
            <a:r>
              <a:rPr lang="en-US" sz="1150" dirty="0">
                <a:solidFill>
                  <a:srgbClr val="1B2A21"/>
                </a:solidFill>
                <a:latin typeface="Calibri" pitchFamily="34" charset="0"/>
                <a:ea typeface="Calibri" pitchFamily="34" charset="-122"/>
                <a:cs typeface="Calibri" pitchFamily="34" charset="-120"/>
              </a:rPr>
              <a:t>650 paying; apps 3–6 live</a:t>
            </a:r>
            <a:endParaRPr lang="en-US" sz="1150" dirty="0"/>
          </a:p>
          <a:p>
            <a:pPr marL="190500" indent="-190500">
              <a:spcAft>
                <a:spcPts val="600"/>
              </a:spcAft>
              <a:buSzPct val="100000"/>
              <a:buChar char="•"/>
            </a:pPr>
            <a:r>
              <a:rPr lang="en-US" sz="1150" b="1" dirty="0">
                <a:solidFill>
                  <a:srgbClr val="1B2A21"/>
                </a:solidFill>
                <a:latin typeface="Calibri" pitchFamily="34" charset="0"/>
                <a:ea typeface="Calibri" pitchFamily="34" charset="-122"/>
                <a:cs typeface="Calibri" pitchFamily="34" charset="-120"/>
              </a:rPr>
              <a:t>Month 18: </a:t>
            </a:r>
            <a:pPr indent="0" marL="0">
              <a:spcAft>
                <a:spcPts val="600"/>
              </a:spcAft>
              <a:buNone/>
            </a:pPr>
            <a:r>
              <a:rPr lang="en-US" sz="1150" dirty="0">
                <a:solidFill>
                  <a:srgbClr val="1B2A21"/>
                </a:solidFill>
                <a:latin typeface="Calibri" pitchFamily="34" charset="0"/>
                <a:ea typeface="Calibri" pitchFamily="34" charset="-122"/>
                <a:cs typeface="Calibri" pitchFamily="34" charset="-120"/>
              </a:rPr>
              <a:t>~1,000 paying; 10 apps; seed round</a:t>
            </a:r>
            <a:endParaRPr lang="en-US" sz="1150" dirty="0"/>
          </a:p>
        </p:txBody>
      </p:sp>
      <p:sp>
        <p:nvSpPr>
          <p:cNvPr id="26" name="Text 23"/>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1200" i="1" dirty="0">
                <a:solidFill>
                  <a:srgbClr val="4E5D53"/>
                </a:solidFill>
                <a:latin typeface="Calibri" pitchFamily="34" charset="0"/>
                <a:ea typeface="Calibri" pitchFamily="34" charset="-122"/>
                <a:cs typeface="Calibri" pitchFamily="34" charset="-120"/>
              </a:rPr>
              <a:t>The $90K for new apps is spent only after the Phase 1 milestone. 1,000 subscribers at ~$38 ≈ $38K a month in revenue.</a:t>
            </a:r>
            <a:endParaRPr lang="en-US" sz="1200" dirty="0"/>
          </a:p>
        </p:txBody>
      </p:sp>
      <p:sp>
        <p:nvSpPr>
          <p:cNvPr id="28" name="Text 24"/>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9" name="Text 25"/>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17 / 29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3D28"/>
        </a:solidFill>
      </p:bgPr>
    </p:bg>
    <p:spTree>
      <p:nvGrpSpPr>
        <p:cNvPr id="1" name=""/>
        <p:cNvGrpSpPr/>
        <p:nvPr/>
      </p:nvGrpSpPr>
      <p:grpSpPr>
        <a:xfrm>
          <a:off x="0" y="0"/>
          <a:ext cx="0" cy="0"/>
          <a:chOff x="0" y="0"/>
          <a:chExt cx="0" cy="0"/>
        </a:xfrm>
      </p:grpSpPr>
      <p:sp>
        <p:nvSpPr>
          <p:cNvPr id="2" name="Shape 0"/>
          <p:cNvSpPr/>
          <p:nvPr/>
        </p:nvSpPr>
        <p:spPr>
          <a:xfrm>
            <a:off x="457200" y="411480"/>
            <a:ext cx="594360" cy="594360"/>
          </a:xfrm>
          <a:prstGeom prst="ellipse">
            <a:avLst/>
          </a:prstGeom>
          <a:solidFill>
            <a:srgbClr val="143D28"/>
          </a:solidFill>
          <a:ln w="19050">
            <a:solidFill>
              <a:srgbClr val="D98B3C"/>
            </a:solidFill>
            <a:prstDash val="solid"/>
          </a:ln>
        </p:spPr>
      </p:sp>
      <p:pic>
        <p:nvPicPr>
          <p:cNvPr id="3" name="Image 0" descr="preencoded.png">    </p:cNvPr>
          <p:cNvPicPr>
            <a:picLocks noChangeAspect="1"/>
          </p:cNvPicPr>
          <p:nvPr/>
        </p:nvPicPr>
        <p:blipFill>
          <a:blip r:embed="rId1"/>
          <a:stretch>
            <a:fillRect/>
          </a:stretch>
        </p:blipFill>
        <p:spPr>
          <a:xfrm>
            <a:off x="587959" y="542239"/>
            <a:ext cx="332842" cy="332842"/>
          </a:xfrm>
          <a:prstGeom prst="rect">
            <a:avLst/>
          </a:prstGeom>
        </p:spPr>
      </p:pic>
      <p:sp>
        <p:nvSpPr>
          <p:cNvPr id="4" name="Text 1"/>
          <p:cNvSpPr txBox="1"/>
          <p:nvPr/>
        </p:nvSpPr>
        <p:spPr>
          <a:xfrm>
            <a:off x="457200" y="118872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The Ask</a:t>
            </a:r>
            <a:endParaRPr lang="en-US" sz="1200" dirty="0"/>
          </a:p>
        </p:txBody>
      </p:sp>
      <p:sp>
        <p:nvSpPr>
          <p:cNvPr id="5" name="Text 2"/>
          <p:cNvSpPr txBox="1"/>
          <p:nvPr/>
        </p:nvSpPr>
        <p:spPr>
          <a:xfrm>
            <a:off x="457200" y="1463040"/>
            <a:ext cx="5212080" cy="1143000"/>
          </a:xfrm>
          <a:prstGeom prst="rect">
            <a:avLst/>
          </a:prstGeom>
          <a:noFill/>
          <a:ln/>
        </p:spPr>
        <p:txBody>
          <a:bodyPr wrap="square" lIns="0" tIns="0" rIns="0" bIns="0" rtlCol="0" anchor="t"/>
          <a:lstStyle/>
          <a:p>
            <a:pPr indent="0" marL="0">
              <a:buNone/>
            </a:pPr>
            <a:r>
              <a:rPr lang="en-US" sz="2600" b="1" dirty="0">
                <a:solidFill>
                  <a:srgbClr val="F4EBD5"/>
                </a:solidFill>
                <a:latin typeface="Cambria" pitchFamily="34" charset="0"/>
                <a:ea typeface="Cambria" pitchFamily="34" charset="-122"/>
                <a:cs typeface="Cambria" pitchFamily="34" charset="-120"/>
              </a:rPr>
              <a:t>Raising $450,000 to prove our apps, then scale to 10</a:t>
            </a:r>
            <a:endParaRPr lang="en-US" sz="2600" dirty="0"/>
          </a:p>
        </p:txBody>
      </p:sp>
      <p:sp>
        <p:nvSpPr>
          <p:cNvPr id="6" name="Text 3"/>
          <p:cNvSpPr txBox="1"/>
          <p:nvPr/>
        </p:nvSpPr>
        <p:spPr>
          <a:xfrm>
            <a:off x="457200" y="2560320"/>
            <a:ext cx="5212080" cy="1280160"/>
          </a:xfrm>
          <a:prstGeom prst="rect">
            <a:avLst/>
          </a:prstGeom>
          <a:noFill/>
          <a:ln/>
        </p:spPr>
        <p:txBody>
          <a:bodyPr wrap="square" lIns="0" tIns="0" rIns="0" bIns="0" rtlCol="0" anchor="t"/>
          <a:lstStyle/>
          <a:p>
            <a:pPr marL="190500" indent="-190500">
              <a:spcAft>
                <a:spcPts val="300"/>
              </a:spcAft>
              <a:buSzPct val="100000"/>
              <a:buChar char="•"/>
            </a:pPr>
            <a:r>
              <a:rPr lang="en-US" sz="1350" dirty="0">
                <a:solidFill>
                  <a:srgbClr val="F4EBD5"/>
                </a:solidFill>
                <a:latin typeface="Calibri" pitchFamily="34" charset="0"/>
                <a:ea typeface="Calibri" pitchFamily="34" charset="-122"/>
                <a:cs typeface="Calibri" pitchFamily="34" charset="-120"/>
              </a:rPr>
              <a:t>Founder full-time for 18 months</a:t>
            </a:r>
            <a:endParaRPr lang="en-US" sz="1350" dirty="0"/>
          </a:p>
          <a:p>
            <a:pPr marL="190500" indent="-190500">
              <a:spcAft>
                <a:spcPts val="300"/>
              </a:spcAft>
              <a:buSzPct val="100000"/>
              <a:buChar char="•"/>
            </a:pPr>
            <a:r>
              <a:rPr lang="en-US" sz="1350" dirty="0">
                <a:solidFill>
                  <a:srgbClr val="F4EBD5"/>
                </a:solidFill>
                <a:latin typeface="Calibri" pitchFamily="34" charset="0"/>
                <a:ea typeface="Calibri" pitchFamily="34" charset="-122"/>
                <a:cs typeface="Calibri" pitchFamily="34" charset="-120"/>
              </a:rPr>
              <a:t>Cold email and marketing to win paying users fast</a:t>
            </a:r>
            <a:endParaRPr lang="en-US" sz="1350" dirty="0"/>
          </a:p>
          <a:p>
            <a:pPr marL="190500" indent="-190500">
              <a:spcAft>
                <a:spcPts val="300"/>
              </a:spcAft>
              <a:buSzPct val="100000"/>
              <a:buChar char="•"/>
            </a:pPr>
            <a:r>
              <a:rPr lang="en-US" sz="1350" dirty="0">
                <a:solidFill>
                  <a:srgbClr val="F4EBD5"/>
                </a:solidFill>
                <a:latin typeface="Calibri" pitchFamily="34" charset="0"/>
                <a:ea typeface="Calibri" pitchFamily="34" charset="-122"/>
                <a:cs typeface="Calibri" pitchFamily="34" charset="-120"/>
              </a:rPr>
              <a:t>150 paying subscribers unlocks apps 3–10 with AppForge</a:t>
            </a:r>
            <a:endParaRPr lang="en-US" sz="1350" dirty="0"/>
          </a:p>
          <a:p>
            <a:pPr marL="190500" indent="-190500">
              <a:spcAft>
                <a:spcPts val="300"/>
              </a:spcAft>
              <a:buSzPct val="100000"/>
              <a:buChar char="•"/>
            </a:pPr>
            <a:r>
              <a:rPr lang="en-US" sz="1350" dirty="0">
                <a:solidFill>
                  <a:srgbClr val="F4EBD5"/>
                </a:solidFill>
                <a:latin typeface="Calibri" pitchFamily="34" charset="0"/>
                <a:ea typeface="Calibri" pitchFamily="34" charset="-122"/>
                <a:cs typeface="Calibri" pitchFamily="34" charset="-120"/>
              </a:rPr>
              <a:t>~1,000 paying subscribers by month 18, then a seed round</a:t>
            </a:r>
            <a:endParaRPr lang="en-US" sz="1350" dirty="0"/>
          </a:p>
        </p:txBody>
      </p:sp>
      <p:sp>
        <p:nvSpPr>
          <p:cNvPr id="7" name="Text 4"/>
          <p:cNvSpPr txBox="1"/>
          <p:nvPr/>
        </p:nvSpPr>
        <p:spPr>
          <a:xfrm>
            <a:off x="457200" y="3840480"/>
            <a:ext cx="5212080" cy="438912"/>
          </a:xfrm>
          <a:prstGeom prst="rect">
            <a:avLst/>
          </a:prstGeom>
          <a:noFill/>
          <a:ln/>
        </p:spPr>
        <p:txBody>
          <a:bodyPr wrap="square" lIns="0" tIns="0" rIns="0" bIns="0" rtlCol="0" anchor="t"/>
          <a:lstStyle/>
          <a:p>
            <a:pPr indent="0" marL="0">
              <a:buNone/>
            </a:pPr>
            <a:r>
              <a:rPr lang="en-US" sz="1200" dirty="0">
                <a:solidFill>
                  <a:srgbClr val="B7CDB6"/>
                </a:solidFill>
                <a:latin typeface="Calibri" pitchFamily="34" charset="0"/>
                <a:ea typeface="Calibri" pitchFamily="34" charset="-122"/>
                <a:cs typeface="Calibri" pitchFamily="34" charset="-120"/>
              </a:rPr>
              <a:t>Use of funds: $160K marketing · $120K founder salary · $90K apps 3–10 (after the milestone) · $80K AI, operations and reserve</a:t>
            </a:r>
            <a:endParaRPr lang="en-US" sz="1200" dirty="0"/>
          </a:p>
        </p:txBody>
      </p:sp>
      <p:sp>
        <p:nvSpPr>
          <p:cNvPr id="8" name="Text 5"/>
          <p:cNvSpPr txBox="1"/>
          <p:nvPr/>
        </p:nvSpPr>
        <p:spPr>
          <a:xfrm>
            <a:off x="457200" y="4343400"/>
            <a:ext cx="5212080" cy="274320"/>
          </a:xfrm>
          <a:prstGeom prst="rect">
            <a:avLst/>
          </a:prstGeom>
          <a:noFill/>
          <a:ln/>
        </p:spPr>
        <p:txBody>
          <a:bodyPr wrap="square" lIns="0" tIns="0" rIns="0" bIns="0" rtlCol="0" anchor="t"/>
          <a:lstStyle/>
          <a:p>
            <a:pPr indent="0" marL="0">
              <a:buNone/>
            </a:pPr>
            <a:r>
              <a:rPr lang="en-US" sz="1250" i="1" dirty="0">
                <a:solidFill>
                  <a:srgbClr val="B7CDB6"/>
                </a:solidFill>
                <a:latin typeface="Calibri" pitchFamily="34" charset="0"/>
                <a:ea typeface="Calibri" pitchFamily="34" charset="-122"/>
                <a:cs typeface="Calibri" pitchFamily="34" charset="-120"/>
              </a:rPr>
              <a:t>Pre-seed · terms open to discussion (SAFE or priced round)</a:t>
            </a:r>
            <a:endParaRPr lang="en-US" sz="1250" dirty="0"/>
          </a:p>
        </p:txBody>
      </p:sp>
      <p:sp>
        <p:nvSpPr>
          <p:cNvPr id="9" name="Shape 6"/>
          <p:cNvSpPr/>
          <p:nvPr/>
        </p:nvSpPr>
        <p:spPr>
          <a:xfrm>
            <a:off x="5943600" y="1325880"/>
            <a:ext cx="2743200" cy="3017520"/>
          </a:xfrm>
          <a:prstGeom prst="roundRect">
            <a:avLst>
              <a:gd name="adj" fmla="val 3333"/>
            </a:avLst>
          </a:prstGeom>
          <a:solidFill>
            <a:srgbClr val="1E5238"/>
          </a:solidFill>
          <a:ln w="15875">
            <a:solidFill>
              <a:srgbClr val="D98B3C"/>
            </a:solidFill>
            <a:prstDash val="solid"/>
          </a:ln>
        </p:spPr>
      </p:sp>
      <p:sp>
        <p:nvSpPr>
          <p:cNvPr id="10" name="Text 7"/>
          <p:cNvSpPr txBox="1"/>
          <p:nvPr/>
        </p:nvSpPr>
        <p:spPr>
          <a:xfrm>
            <a:off x="6172200" y="1481328"/>
            <a:ext cx="2286000" cy="274320"/>
          </a:xfrm>
          <a:prstGeom prst="rect">
            <a:avLst/>
          </a:prstGeom>
          <a:noFill/>
          <a:ln/>
        </p:spPr>
        <p:txBody>
          <a:bodyPr wrap="square" lIns="0" tIns="0" rIns="0" bIns="0" rtlCol="0" anchor="t"/>
          <a:lstStyle/>
          <a:p>
            <a:pPr indent="0" marL="0">
              <a:buNone/>
            </a:pPr>
            <a:r>
              <a:rPr lang="en-US" sz="1300" b="1" dirty="0">
                <a:solidFill>
                  <a:srgbClr val="D98B3C"/>
                </a:solidFill>
                <a:latin typeface="Calibri" pitchFamily="34" charset="0"/>
                <a:ea typeface="Calibri" pitchFamily="34" charset="-122"/>
                <a:cs typeface="Calibri" pitchFamily="34" charset="-120"/>
              </a:rPr>
              <a:t>Let's talk</a:t>
            </a:r>
            <a:endParaRPr lang="en-US" sz="1300" dirty="0"/>
          </a:p>
        </p:txBody>
      </p:sp>
      <p:sp>
        <p:nvSpPr>
          <p:cNvPr id="11" name="Text 8"/>
          <p:cNvSpPr txBox="1"/>
          <p:nvPr/>
        </p:nvSpPr>
        <p:spPr>
          <a:xfrm>
            <a:off x="6172200" y="1810512"/>
            <a:ext cx="2286000" cy="365760"/>
          </a:xfrm>
          <a:prstGeom prst="rect">
            <a:avLst/>
          </a:prstGeom>
          <a:noFill/>
          <a:ln/>
        </p:spPr>
        <p:txBody>
          <a:bodyPr wrap="square" lIns="0" tIns="0" rIns="0" bIns="0" rtlCol="0" anchor="t"/>
          <a:lstStyle/>
          <a:p>
            <a:pPr indent="0" marL="0">
              <a:buNone/>
            </a:pPr>
            <a:r>
              <a:rPr lang="en-US" sz="1900" b="1" dirty="0">
                <a:solidFill>
                  <a:srgbClr val="F4EBD5"/>
                </a:solidFill>
                <a:latin typeface="Cambria" pitchFamily="34" charset="0"/>
                <a:ea typeface="Cambria" pitchFamily="34" charset="-122"/>
                <a:cs typeface="Cambria" pitchFamily="34" charset="-120"/>
              </a:rPr>
              <a:t>James Chambers</a:t>
            </a:r>
            <a:endParaRPr lang="en-US" sz="1900" dirty="0"/>
          </a:p>
        </p:txBody>
      </p:sp>
      <p:pic>
        <p:nvPicPr>
          <p:cNvPr id="12" name="Image 1" descr="preencoded.png">    </p:cNvPr>
          <p:cNvPicPr>
            <a:picLocks noChangeAspect="1"/>
          </p:cNvPicPr>
          <p:nvPr/>
        </p:nvPicPr>
        <p:blipFill>
          <a:blip r:embed="rId2"/>
          <a:stretch>
            <a:fillRect/>
          </a:stretch>
        </p:blipFill>
        <p:spPr>
          <a:xfrm>
            <a:off x="6172200" y="2331720"/>
            <a:ext cx="237744" cy="237744"/>
          </a:xfrm>
          <a:prstGeom prst="rect">
            <a:avLst/>
          </a:prstGeom>
        </p:spPr>
      </p:pic>
      <p:sp>
        <p:nvSpPr>
          <p:cNvPr id="13" name="Text 9"/>
          <p:cNvSpPr txBox="1"/>
          <p:nvPr/>
        </p:nvSpPr>
        <p:spPr>
          <a:xfrm>
            <a:off x="6510528" y="2286000"/>
            <a:ext cx="2103120" cy="329184"/>
          </a:xfrm>
          <a:prstGeom prst="rect">
            <a:avLst/>
          </a:prstGeom>
          <a:noFill/>
          <a:ln/>
        </p:spPr>
        <p:txBody>
          <a:bodyPr wrap="square" lIns="0" tIns="0" rIns="0" bIns="0" rtlCol="0" anchor="ctr"/>
          <a:lstStyle/>
          <a:p>
            <a:pPr indent="0" marL="0">
              <a:buNone/>
            </a:pPr>
            <a:r>
              <a:rPr lang="en-US" sz="1200" dirty="0">
                <a:solidFill>
                  <a:srgbClr val="F4EBD5"/>
                </a:solidFill>
                <a:latin typeface="Calibri" pitchFamily="34" charset="0"/>
                <a:ea typeface="Calibri" pitchFamily="34" charset="-122"/>
                <a:cs typeface="Calibri" pitchFamily="34" charset="-120"/>
              </a:rPr>
              <a:t>James@cedarworksapps.com</a:t>
            </a:r>
            <a:endParaRPr lang="en-US" sz="1200" dirty="0"/>
          </a:p>
        </p:txBody>
      </p:sp>
      <p:pic>
        <p:nvPicPr>
          <p:cNvPr id="14" name="Image 2" descr="preencoded.png">    </p:cNvPr>
          <p:cNvPicPr>
            <a:picLocks noChangeAspect="1"/>
          </p:cNvPicPr>
          <p:nvPr/>
        </p:nvPicPr>
        <p:blipFill>
          <a:blip r:embed="rId3"/>
          <a:stretch>
            <a:fillRect/>
          </a:stretch>
        </p:blipFill>
        <p:spPr>
          <a:xfrm>
            <a:off x="6172200" y="2724912"/>
            <a:ext cx="237744" cy="237744"/>
          </a:xfrm>
          <a:prstGeom prst="rect">
            <a:avLst/>
          </a:prstGeom>
        </p:spPr>
      </p:pic>
      <p:sp>
        <p:nvSpPr>
          <p:cNvPr id="15" name="Text 10"/>
          <p:cNvSpPr txBox="1"/>
          <p:nvPr/>
        </p:nvSpPr>
        <p:spPr>
          <a:xfrm>
            <a:off x="6510528" y="2679192"/>
            <a:ext cx="2103120" cy="329184"/>
          </a:xfrm>
          <a:prstGeom prst="rect">
            <a:avLst/>
          </a:prstGeom>
          <a:noFill/>
          <a:ln/>
        </p:spPr>
        <p:txBody>
          <a:bodyPr wrap="square" lIns="0" tIns="0" rIns="0" bIns="0" rtlCol="0" anchor="ctr"/>
          <a:lstStyle/>
          <a:p>
            <a:pPr indent="0" marL="0">
              <a:buNone/>
            </a:pPr>
            <a:r>
              <a:rPr lang="en-US" sz="1200" dirty="0">
                <a:solidFill>
                  <a:srgbClr val="F4EBD5"/>
                </a:solidFill>
                <a:latin typeface="Calibri" pitchFamily="34" charset="0"/>
                <a:ea typeface="Calibri" pitchFamily="34" charset="-122"/>
                <a:cs typeface="Calibri" pitchFamily="34" charset="-120"/>
              </a:rPr>
              <a:t>Office 417-370-2084</a:t>
            </a:r>
            <a:endParaRPr lang="en-US" sz="1200" dirty="0"/>
          </a:p>
        </p:txBody>
      </p:sp>
      <p:pic>
        <p:nvPicPr>
          <p:cNvPr id="16" name="Image 3" descr="preencoded.png">    </p:cNvPr>
          <p:cNvPicPr>
            <a:picLocks noChangeAspect="1"/>
          </p:cNvPicPr>
          <p:nvPr/>
        </p:nvPicPr>
        <p:blipFill>
          <a:blip r:embed="rId4"/>
          <a:stretch>
            <a:fillRect/>
          </a:stretch>
        </p:blipFill>
        <p:spPr>
          <a:xfrm>
            <a:off x="6172200" y="3118104"/>
            <a:ext cx="237744" cy="237744"/>
          </a:xfrm>
          <a:prstGeom prst="rect">
            <a:avLst/>
          </a:prstGeom>
        </p:spPr>
      </p:pic>
      <p:sp>
        <p:nvSpPr>
          <p:cNvPr id="17" name="Text 11"/>
          <p:cNvSpPr txBox="1"/>
          <p:nvPr/>
        </p:nvSpPr>
        <p:spPr>
          <a:xfrm>
            <a:off x="6510528" y="3072384"/>
            <a:ext cx="2103120" cy="329184"/>
          </a:xfrm>
          <a:prstGeom prst="rect">
            <a:avLst/>
          </a:prstGeom>
          <a:noFill/>
          <a:ln/>
        </p:spPr>
        <p:txBody>
          <a:bodyPr wrap="square" lIns="0" tIns="0" rIns="0" bIns="0" rtlCol="0" anchor="ctr"/>
          <a:lstStyle/>
          <a:p>
            <a:pPr indent="0" marL="0">
              <a:buNone/>
            </a:pPr>
            <a:r>
              <a:rPr lang="en-US" sz="1200" dirty="0">
                <a:solidFill>
                  <a:srgbClr val="F4EBD5"/>
                </a:solidFill>
                <a:latin typeface="Calibri" pitchFamily="34" charset="0"/>
                <a:ea typeface="Calibri" pitchFamily="34" charset="-122"/>
                <a:cs typeface="Calibri" pitchFamily="34" charset="-120"/>
              </a:rPr>
              <a:t>cedarworksapps.com</a:t>
            </a:r>
            <a:endParaRPr lang="en-US" sz="1200" dirty="0"/>
          </a:p>
        </p:txBody>
      </p:sp>
      <p:pic>
        <p:nvPicPr>
          <p:cNvPr id="18" name="Image 4" descr="preencoded.png">    </p:cNvPr>
          <p:cNvPicPr>
            <a:picLocks noChangeAspect="1"/>
          </p:cNvPicPr>
          <p:nvPr/>
        </p:nvPicPr>
        <p:blipFill>
          <a:blip r:embed="rId5"/>
          <a:stretch>
            <a:fillRect/>
          </a:stretch>
        </p:blipFill>
        <p:spPr>
          <a:xfrm>
            <a:off x="6172200" y="3511296"/>
            <a:ext cx="237744" cy="237744"/>
          </a:xfrm>
          <a:prstGeom prst="rect">
            <a:avLst/>
          </a:prstGeom>
        </p:spPr>
      </p:pic>
      <p:sp>
        <p:nvSpPr>
          <p:cNvPr id="19" name="Text 12"/>
          <p:cNvSpPr txBox="1"/>
          <p:nvPr/>
        </p:nvSpPr>
        <p:spPr>
          <a:xfrm>
            <a:off x="6510528" y="3465576"/>
            <a:ext cx="2103120" cy="329184"/>
          </a:xfrm>
          <a:prstGeom prst="rect">
            <a:avLst/>
          </a:prstGeom>
          <a:noFill/>
          <a:ln/>
        </p:spPr>
        <p:txBody>
          <a:bodyPr wrap="square" lIns="0" tIns="0" rIns="0" bIns="0" rtlCol="0" anchor="ctr"/>
          <a:lstStyle/>
          <a:p>
            <a:pPr indent="0" marL="0">
              <a:buNone/>
            </a:pPr>
            <a:r>
              <a:rPr lang="en-US" sz="1200" dirty="0">
                <a:solidFill>
                  <a:srgbClr val="F4EBD5"/>
                </a:solidFill>
                <a:latin typeface="Calibri" pitchFamily="34" charset="0"/>
                <a:ea typeface="Calibri" pitchFamily="34" charset="-122"/>
                <a:cs typeface="Calibri" pitchFamily="34" charset="-120"/>
              </a:rPr>
              <a:t>pastorai.io · tryreadyroom.com</a:t>
            </a:r>
            <a:endParaRPr lang="en-US" sz="1200" dirty="0"/>
          </a:p>
        </p:txBody>
      </p:sp>
      <p:sp>
        <p:nvSpPr>
          <p:cNvPr id="21" name="Text 13"/>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B7CDB6"/>
                </a:solidFill>
                <a:latin typeface="Calibri" pitchFamily="34" charset="0"/>
                <a:ea typeface="Calibri" pitchFamily="34" charset="-122"/>
                <a:cs typeface="Calibri" pitchFamily="34" charset="-120"/>
              </a:rPr>
              <a:t>Cedarworks Apps  ·  Confidential</a:t>
            </a:r>
            <a:endParaRPr lang="en-US" sz="900" dirty="0"/>
          </a:p>
        </p:txBody>
      </p:sp>
      <p:sp>
        <p:nvSpPr>
          <p:cNvPr id="22" name="Text 14"/>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B7CDB6"/>
                </a:solidFill>
                <a:latin typeface="Calibri" pitchFamily="34" charset="0"/>
                <a:ea typeface="Calibri" pitchFamily="34" charset="-122"/>
                <a:cs typeface="Calibri" pitchFamily="34" charset="-120"/>
              </a:rPr>
              <a:t>18 / 29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3D28"/>
        </a:solidFill>
      </p:bgPr>
    </p:bg>
    <p:spTree>
      <p:nvGrpSpPr>
        <p:cNvPr id="1" name=""/>
        <p:cNvGrpSpPr/>
        <p:nvPr/>
      </p:nvGrpSpPr>
      <p:grpSpPr>
        <a:xfrm>
          <a:off x="0" y="0"/>
          <a:ext cx="0" cy="0"/>
          <a:chOff x="0" y="0"/>
          <a:chExt cx="0" cy="0"/>
        </a:xfrm>
      </p:grpSpPr>
      <p:sp>
        <p:nvSpPr>
          <p:cNvPr id="2" name="Text 0"/>
          <p:cNvSpPr txBox="1"/>
          <p:nvPr/>
        </p:nvSpPr>
        <p:spPr>
          <a:xfrm>
            <a:off x="457200" y="182880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457200" y="2148840"/>
            <a:ext cx="7772400" cy="1097280"/>
          </a:xfrm>
          <a:prstGeom prst="rect">
            <a:avLst/>
          </a:prstGeom>
          <a:noFill/>
          <a:ln/>
        </p:spPr>
        <p:txBody>
          <a:bodyPr wrap="square" lIns="0" tIns="0" rIns="0" bIns="0" rtlCol="0" anchor="t"/>
          <a:lstStyle/>
          <a:p>
            <a:pPr indent="0" marL="0">
              <a:buNone/>
            </a:pPr>
            <a:r>
              <a:rPr lang="en-US" sz="2600" b="1" dirty="0">
                <a:solidFill>
                  <a:srgbClr val="F4EBD5"/>
                </a:solidFill>
                <a:latin typeface="Cambria" pitchFamily="34" charset="0"/>
                <a:ea typeface="Cambria" pitchFamily="34" charset="-122"/>
                <a:cs typeface="Cambria" pitchFamily="34" charset="-120"/>
              </a:rPr>
              <a:t>Product screens, AppForge in detail, unit economics and key terms</a:t>
            </a:r>
            <a:endParaRPr lang="en-US" sz="2600" dirty="0"/>
          </a:p>
        </p:txBody>
      </p:sp>
      <p:sp>
        <p:nvSpPr>
          <p:cNvPr id="5" name="Text 2"/>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B7CDB6"/>
                </a:solidFill>
                <a:latin typeface="Calibri" pitchFamily="34" charset="0"/>
                <a:ea typeface="Calibri" pitchFamily="34" charset="-122"/>
                <a:cs typeface="Calibri" pitchFamily="34" charset="-120"/>
              </a:rPr>
              <a:t>Cedarworks Apps  ·  Confidential</a:t>
            </a:r>
            <a:endParaRPr lang="en-US" sz="900" dirty="0"/>
          </a:p>
        </p:txBody>
      </p:sp>
      <p:sp>
        <p:nvSpPr>
          <p:cNvPr id="6" name="Text 3"/>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B7CDB6"/>
                </a:solidFill>
                <a:latin typeface="Calibri" pitchFamily="34" charset="0"/>
                <a:ea typeface="Calibri" pitchFamily="34" charset="-122"/>
                <a:cs typeface="Calibri" pitchFamily="34" charset="-120"/>
              </a:rPr>
              <a:t>19 / 29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Solution &amp; Product  ·  PastorAI  ·  inside the app</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One dashboard for the whole ministry week</a:t>
            </a:r>
            <a:endParaRPr lang="en-US" sz="2600" dirty="0"/>
          </a:p>
        </p:txBody>
      </p:sp>
      <p:sp>
        <p:nvSpPr>
          <p:cNvPr id="4" name="Shape 2"/>
          <p:cNvSpPr/>
          <p:nvPr/>
        </p:nvSpPr>
        <p:spPr>
          <a:xfrm>
            <a:off x="429768" y="1389888"/>
            <a:ext cx="5541264" cy="3246120"/>
          </a:xfrm>
          <a:prstGeom prst="rect">
            <a:avLst/>
          </a:prstGeom>
          <a:solidFill>
            <a:srgbClr val="ECE1C7"/>
          </a:solidFill>
          <a:ln w="12700">
            <a:solidFill>
              <a:srgbClr val="ECE1C7"/>
            </a:solidFill>
            <a:prstDash val="solid"/>
          </a:ln>
          <a:effectLst>
            <a:outerShdw sx="100000" sy="100000" kx="0" ky="0" algn="bl" rotWithShape="0" blurRad="101600" dist="381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57200" y="1417320"/>
            <a:ext cx="5486400" cy="3191256"/>
          </a:xfrm>
          <a:prstGeom prst="rect">
            <a:avLst/>
          </a:prstGeom>
        </p:spPr>
      </p:pic>
      <p:sp>
        <p:nvSpPr>
          <p:cNvPr id="6" name="Shape 3"/>
          <p:cNvSpPr/>
          <p:nvPr/>
        </p:nvSpPr>
        <p:spPr>
          <a:xfrm>
            <a:off x="6217920" y="1463040"/>
            <a:ext cx="329184" cy="329184"/>
          </a:xfrm>
          <a:prstGeom prst="ellipse">
            <a:avLst/>
          </a:prstGeom>
          <a:solidFill>
            <a:srgbClr val="D98B3C"/>
          </a:solidFill>
          <a:ln w="12700">
            <a:solidFill>
              <a:srgbClr val="D98B3C"/>
            </a:solidFill>
            <a:prstDash val="solid"/>
          </a:ln>
        </p:spPr>
      </p:sp>
      <p:sp>
        <p:nvSpPr>
          <p:cNvPr id="7" name="Text 4"/>
          <p:cNvSpPr txBox="1"/>
          <p:nvPr/>
        </p:nvSpPr>
        <p:spPr>
          <a:xfrm>
            <a:off x="6217920" y="1463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6675120" y="1453896"/>
            <a:ext cx="201168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Pick a tool</a:t>
            </a:r>
            <a:endParaRPr lang="en-US" sz="1400" dirty="0"/>
          </a:p>
        </p:txBody>
      </p:sp>
      <p:sp>
        <p:nvSpPr>
          <p:cNvPr id="9" name="Text 6"/>
          <p:cNvSpPr txBox="1"/>
          <p:nvPr/>
        </p:nvSpPr>
        <p:spPr>
          <a:xfrm>
            <a:off x="6675120" y="1737360"/>
            <a:ext cx="2011680" cy="73152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Eight ministry tools, one click away in the sidebar.</a:t>
            </a:r>
            <a:endParaRPr lang="en-US" sz="1250" dirty="0"/>
          </a:p>
        </p:txBody>
      </p:sp>
      <p:sp>
        <p:nvSpPr>
          <p:cNvPr id="10" name="Shape 7"/>
          <p:cNvSpPr/>
          <p:nvPr/>
        </p:nvSpPr>
        <p:spPr>
          <a:xfrm>
            <a:off x="6217920" y="2514600"/>
            <a:ext cx="329184" cy="329184"/>
          </a:xfrm>
          <a:prstGeom prst="ellipse">
            <a:avLst/>
          </a:prstGeom>
          <a:solidFill>
            <a:srgbClr val="D98B3C"/>
          </a:solidFill>
          <a:ln w="12700">
            <a:solidFill>
              <a:srgbClr val="D98B3C"/>
            </a:solidFill>
            <a:prstDash val="solid"/>
          </a:ln>
        </p:spPr>
      </p:sp>
      <p:sp>
        <p:nvSpPr>
          <p:cNvPr id="11" name="Text 8"/>
          <p:cNvSpPr txBox="1"/>
          <p:nvPr/>
        </p:nvSpPr>
        <p:spPr>
          <a:xfrm>
            <a:off x="6217920" y="25146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6675120" y="2505456"/>
            <a:ext cx="201168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Create in minutes</a:t>
            </a:r>
            <a:endParaRPr lang="en-US" sz="1400" dirty="0"/>
          </a:p>
        </p:txBody>
      </p:sp>
      <p:sp>
        <p:nvSpPr>
          <p:cNvPr id="13" name="Text 10"/>
          <p:cNvSpPr txBox="1"/>
          <p:nvPr/>
        </p:nvSpPr>
        <p:spPr>
          <a:xfrm>
            <a:off x="6675120" y="2788920"/>
            <a:ext cx="2011680" cy="73152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For example, a full sermon outline with scripture, illustrations and application.</a:t>
            </a:r>
            <a:endParaRPr lang="en-US" sz="1250" dirty="0"/>
          </a:p>
        </p:txBody>
      </p:sp>
      <p:sp>
        <p:nvSpPr>
          <p:cNvPr id="14" name="Shape 11"/>
          <p:cNvSpPr/>
          <p:nvPr/>
        </p:nvSpPr>
        <p:spPr>
          <a:xfrm>
            <a:off x="6217920" y="3566160"/>
            <a:ext cx="329184" cy="329184"/>
          </a:xfrm>
          <a:prstGeom prst="ellipse">
            <a:avLst/>
          </a:prstGeom>
          <a:solidFill>
            <a:srgbClr val="D98B3C"/>
          </a:solidFill>
          <a:ln w="12700">
            <a:solidFill>
              <a:srgbClr val="D98B3C"/>
            </a:solidFill>
            <a:prstDash val="solid"/>
          </a:ln>
        </p:spPr>
      </p:sp>
      <p:sp>
        <p:nvSpPr>
          <p:cNvPr id="15" name="Text 12"/>
          <p:cNvSpPr txBox="1"/>
          <p:nvPr/>
        </p:nvSpPr>
        <p:spPr>
          <a:xfrm>
            <a:off x="6217920" y="35661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6675120" y="3557016"/>
            <a:ext cx="201168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Try free, then subscribe</a:t>
            </a:r>
            <a:endParaRPr lang="en-US" sz="1400" dirty="0"/>
          </a:p>
        </p:txBody>
      </p:sp>
      <p:sp>
        <p:nvSpPr>
          <p:cNvPr id="17" name="Text 14"/>
          <p:cNvSpPr txBox="1"/>
          <p:nvPr/>
        </p:nvSpPr>
        <p:spPr>
          <a:xfrm>
            <a:off x="6675120" y="3840480"/>
            <a:ext cx="2011680" cy="73152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A 14-day free trial, with the $47/month upgrade built into the app.</a:t>
            </a:r>
            <a:endParaRPr lang="en-US" sz="1250" dirty="0"/>
          </a:p>
        </p:txBody>
      </p:sp>
      <p:sp>
        <p:nvSpPr>
          <p:cNvPr id="19" name="Text 15"/>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0" name="Text 16"/>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20 / 29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Solution &amp; Product  ·  Ready Room  ·  inside the app</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Pick a prospect, pick a drill, start selling</a:t>
            </a:r>
            <a:endParaRPr lang="en-US" sz="2600" dirty="0"/>
          </a:p>
        </p:txBody>
      </p:sp>
      <p:sp>
        <p:nvSpPr>
          <p:cNvPr id="4" name="Shape 2"/>
          <p:cNvSpPr/>
          <p:nvPr/>
        </p:nvSpPr>
        <p:spPr>
          <a:xfrm>
            <a:off x="429768" y="1389888"/>
            <a:ext cx="5541264" cy="3246120"/>
          </a:xfrm>
          <a:prstGeom prst="rect">
            <a:avLst/>
          </a:prstGeom>
          <a:solidFill>
            <a:srgbClr val="ECE1C7"/>
          </a:solidFill>
          <a:ln w="12700">
            <a:solidFill>
              <a:srgbClr val="ECE1C7"/>
            </a:solidFill>
            <a:prstDash val="solid"/>
          </a:ln>
          <a:effectLst>
            <a:outerShdw sx="100000" sy="100000" kx="0" ky="0" algn="bl" rotWithShape="0" blurRad="101600" dist="381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57200" y="1417320"/>
            <a:ext cx="5486400" cy="3191256"/>
          </a:xfrm>
          <a:prstGeom prst="rect">
            <a:avLst/>
          </a:prstGeom>
        </p:spPr>
      </p:pic>
      <p:sp>
        <p:nvSpPr>
          <p:cNvPr id="6" name="Shape 3"/>
          <p:cNvSpPr/>
          <p:nvPr/>
        </p:nvSpPr>
        <p:spPr>
          <a:xfrm>
            <a:off x="6217920" y="1463040"/>
            <a:ext cx="329184" cy="329184"/>
          </a:xfrm>
          <a:prstGeom prst="ellipse">
            <a:avLst/>
          </a:prstGeom>
          <a:solidFill>
            <a:srgbClr val="D98B3C"/>
          </a:solidFill>
          <a:ln w="12700">
            <a:solidFill>
              <a:srgbClr val="D98B3C"/>
            </a:solidFill>
            <a:prstDash val="solid"/>
          </a:ln>
        </p:spPr>
      </p:sp>
      <p:sp>
        <p:nvSpPr>
          <p:cNvPr id="7" name="Text 4"/>
          <p:cNvSpPr txBox="1"/>
          <p:nvPr/>
        </p:nvSpPr>
        <p:spPr>
          <a:xfrm>
            <a:off x="6217920" y="1463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6675120" y="1453896"/>
            <a:ext cx="201168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Choose a drill</a:t>
            </a:r>
            <a:endParaRPr lang="en-US" sz="1400" dirty="0"/>
          </a:p>
        </p:txBody>
      </p:sp>
      <p:sp>
        <p:nvSpPr>
          <p:cNvPr id="9" name="Text 6"/>
          <p:cNvSpPr txBox="1"/>
          <p:nvPr/>
        </p:nvSpPr>
        <p:spPr>
          <a:xfrm>
            <a:off x="6675120" y="1737360"/>
            <a:ext cx="2011680" cy="466344"/>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Discovery or objections.</a:t>
            </a:r>
            <a:endParaRPr lang="en-US" sz="1250" dirty="0"/>
          </a:p>
        </p:txBody>
      </p:sp>
      <p:sp>
        <p:nvSpPr>
          <p:cNvPr id="10" name="Shape 7"/>
          <p:cNvSpPr/>
          <p:nvPr/>
        </p:nvSpPr>
        <p:spPr>
          <a:xfrm>
            <a:off x="6217920" y="2249424"/>
            <a:ext cx="329184" cy="329184"/>
          </a:xfrm>
          <a:prstGeom prst="ellipse">
            <a:avLst/>
          </a:prstGeom>
          <a:solidFill>
            <a:srgbClr val="D98B3C"/>
          </a:solidFill>
          <a:ln w="12700">
            <a:solidFill>
              <a:srgbClr val="D98B3C"/>
            </a:solidFill>
            <a:prstDash val="solid"/>
          </a:ln>
        </p:spPr>
      </p:sp>
      <p:sp>
        <p:nvSpPr>
          <p:cNvPr id="11" name="Text 8"/>
          <p:cNvSpPr txBox="1"/>
          <p:nvPr/>
        </p:nvSpPr>
        <p:spPr>
          <a:xfrm>
            <a:off x="6217920" y="22494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6675120" y="2240280"/>
            <a:ext cx="201168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Set the difficulty</a:t>
            </a:r>
            <a:endParaRPr lang="en-US" sz="1400" dirty="0"/>
          </a:p>
        </p:txBody>
      </p:sp>
      <p:sp>
        <p:nvSpPr>
          <p:cNvPr id="13" name="Text 10"/>
          <p:cNvSpPr txBox="1"/>
          <p:nvPr/>
        </p:nvSpPr>
        <p:spPr>
          <a:xfrm>
            <a:off x="6675120" y="2523744"/>
            <a:ext cx="2011680" cy="466344"/>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Easy, medium or hard.</a:t>
            </a:r>
            <a:endParaRPr lang="en-US" sz="1250" dirty="0"/>
          </a:p>
        </p:txBody>
      </p:sp>
      <p:sp>
        <p:nvSpPr>
          <p:cNvPr id="14" name="Shape 11"/>
          <p:cNvSpPr/>
          <p:nvPr/>
        </p:nvSpPr>
        <p:spPr>
          <a:xfrm>
            <a:off x="6217920" y="3035808"/>
            <a:ext cx="329184" cy="329184"/>
          </a:xfrm>
          <a:prstGeom prst="ellipse">
            <a:avLst/>
          </a:prstGeom>
          <a:solidFill>
            <a:srgbClr val="D98B3C"/>
          </a:solidFill>
          <a:ln w="12700">
            <a:solidFill>
              <a:srgbClr val="D98B3C"/>
            </a:solidFill>
            <a:prstDash val="solid"/>
          </a:ln>
        </p:spPr>
      </p:sp>
      <p:sp>
        <p:nvSpPr>
          <p:cNvPr id="15" name="Text 12"/>
          <p:cNvSpPr txBox="1"/>
          <p:nvPr/>
        </p:nvSpPr>
        <p:spPr>
          <a:xfrm>
            <a:off x="6217920" y="30358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6675120" y="3026664"/>
            <a:ext cx="201168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Pick a prospect</a:t>
            </a:r>
            <a:endParaRPr lang="en-US" sz="1400" dirty="0"/>
          </a:p>
        </p:txBody>
      </p:sp>
      <p:sp>
        <p:nvSpPr>
          <p:cNvPr id="17" name="Text 14"/>
          <p:cNvSpPr txBox="1"/>
          <p:nvPr/>
        </p:nvSpPr>
        <p:spPr>
          <a:xfrm>
            <a:off x="6675120" y="3310128"/>
            <a:ext cx="2011680" cy="466344"/>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18+ industries, each with a realistic AI buyer.</a:t>
            </a:r>
            <a:endParaRPr lang="en-US" sz="1250" dirty="0"/>
          </a:p>
        </p:txBody>
      </p:sp>
      <p:sp>
        <p:nvSpPr>
          <p:cNvPr id="18" name="Shape 15"/>
          <p:cNvSpPr/>
          <p:nvPr/>
        </p:nvSpPr>
        <p:spPr>
          <a:xfrm>
            <a:off x="6217920" y="3822192"/>
            <a:ext cx="329184" cy="329184"/>
          </a:xfrm>
          <a:prstGeom prst="ellipse">
            <a:avLst/>
          </a:prstGeom>
          <a:solidFill>
            <a:srgbClr val="D98B3C"/>
          </a:solidFill>
          <a:ln w="12700">
            <a:solidFill>
              <a:srgbClr val="D98B3C"/>
            </a:solidFill>
            <a:prstDash val="solid"/>
          </a:ln>
        </p:spPr>
      </p:sp>
      <p:sp>
        <p:nvSpPr>
          <p:cNvPr id="19" name="Text 16"/>
          <p:cNvSpPr txBox="1"/>
          <p:nvPr/>
        </p:nvSpPr>
        <p:spPr>
          <a:xfrm>
            <a:off x="621792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6675120" y="3813048"/>
            <a:ext cx="2011680" cy="274320"/>
          </a:xfrm>
          <a:prstGeom prst="rect">
            <a:avLst/>
          </a:prstGeom>
          <a:noFill/>
          <a:ln/>
        </p:spPr>
        <p:txBody>
          <a:bodyPr wrap="square" lIns="0" tIns="0" rIns="0" bIns="0" rtlCol="0" anchor="t"/>
          <a:lstStyle/>
          <a:p>
            <a:pPr indent="0" marL="0">
              <a:buNone/>
            </a:pPr>
            <a:r>
              <a:rPr lang="en-US" sz="1400" b="1" dirty="0">
                <a:solidFill>
                  <a:srgbClr val="143D28"/>
                </a:solidFill>
                <a:latin typeface="Calibri" pitchFamily="34" charset="0"/>
                <a:ea typeface="Calibri" pitchFamily="34" charset="-122"/>
                <a:cs typeface="Calibri" pitchFamily="34" charset="-120"/>
              </a:rPr>
              <a:t>Get scored</a:t>
            </a:r>
            <a:endParaRPr lang="en-US" sz="1400" dirty="0"/>
          </a:p>
        </p:txBody>
      </p:sp>
      <p:sp>
        <p:nvSpPr>
          <p:cNvPr id="21" name="Text 18"/>
          <p:cNvSpPr txBox="1"/>
          <p:nvPr/>
        </p:nvSpPr>
        <p:spPr>
          <a:xfrm>
            <a:off x="6675120" y="4096512"/>
            <a:ext cx="2011680" cy="466344"/>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An AI coach grades every call, including real calls you upload.</a:t>
            </a:r>
            <a:endParaRPr lang="en-US" sz="1250" dirty="0"/>
          </a:p>
        </p:txBody>
      </p:sp>
      <p:sp>
        <p:nvSpPr>
          <p:cNvPr id="23" name="Text 19"/>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4" name="Text 20"/>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21 / 29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Solution &amp; Product  ·  AppForge step 1: Know</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Brain and Chief of Staff: AppForge learns the business</a:t>
            </a:r>
            <a:endParaRPr lang="en-US" sz="2600" dirty="0"/>
          </a:p>
        </p:txBody>
      </p:sp>
      <p:sp>
        <p:nvSpPr>
          <p:cNvPr id="4" name="Shape 2"/>
          <p:cNvSpPr/>
          <p:nvPr/>
        </p:nvSpPr>
        <p:spPr>
          <a:xfrm>
            <a:off x="429768" y="1389888"/>
            <a:ext cx="4443984" cy="2798064"/>
          </a:xfrm>
          <a:prstGeom prst="rect">
            <a:avLst/>
          </a:prstGeom>
          <a:solidFill>
            <a:srgbClr val="ECE1C7"/>
          </a:solidFill>
          <a:ln w="12700">
            <a:solidFill>
              <a:srgbClr val="ECE1C7"/>
            </a:solidFill>
            <a:prstDash val="solid"/>
          </a:ln>
          <a:effectLst>
            <a:outerShdw sx="100000" sy="100000" kx="0" ky="0" algn="bl" rotWithShape="0" blurRad="101600" dist="381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457200" y="1417320"/>
            <a:ext cx="4389120" cy="2743200"/>
          </a:xfrm>
          <a:prstGeom prst="rect">
            <a:avLst/>
          </a:prstGeom>
        </p:spPr>
      </p:pic>
      <p:sp>
        <p:nvSpPr>
          <p:cNvPr id="6" name="Text 3"/>
          <p:cNvSpPr txBox="1"/>
          <p:nvPr/>
        </p:nvSpPr>
        <p:spPr>
          <a:xfrm>
            <a:off x="457200" y="4297680"/>
            <a:ext cx="4389120" cy="274320"/>
          </a:xfrm>
          <a:prstGeom prst="rect">
            <a:avLst/>
          </a:prstGeom>
          <a:noFill/>
          <a:ln/>
        </p:spPr>
        <p:txBody>
          <a:bodyPr wrap="square" lIns="0" tIns="0" rIns="0" bIns="0" rtlCol="0" anchor="t"/>
          <a:lstStyle/>
          <a:p>
            <a:pPr indent="0" marL="0">
              <a:buNone/>
            </a:pPr>
            <a:r>
              <a:rPr lang="en-US" sz="1100" i="1" dirty="0">
                <a:solidFill>
                  <a:srgbClr val="4E5D53"/>
                </a:solidFill>
                <a:latin typeface="Calibri" pitchFamily="34" charset="0"/>
                <a:ea typeface="Calibri" pitchFamily="34" charset="-122"/>
                <a:cs typeface="Calibri" pitchFamily="34" charset="-120"/>
              </a:rPr>
              <a:t>AppForge's Brain screen</a:t>
            </a:r>
            <a:endParaRPr lang="en-US" sz="1100" dirty="0"/>
          </a:p>
        </p:txBody>
      </p:sp>
      <p:sp>
        <p:nvSpPr>
          <p:cNvPr id="7" name="Text 4"/>
          <p:cNvSpPr txBox="1"/>
          <p:nvPr/>
        </p:nvSpPr>
        <p:spPr>
          <a:xfrm>
            <a:off x="5166360" y="1417320"/>
            <a:ext cx="3520440" cy="274320"/>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Brain</a:t>
            </a:r>
            <a:endParaRPr lang="en-US" sz="1600" dirty="0"/>
          </a:p>
        </p:txBody>
      </p:sp>
      <p:sp>
        <p:nvSpPr>
          <p:cNvPr id="8" name="Text 5"/>
          <p:cNvSpPr txBox="1"/>
          <p:nvPr/>
        </p:nvSpPr>
        <p:spPr>
          <a:xfrm>
            <a:off x="5166360" y="1719072"/>
            <a:ext cx="3520440" cy="1371600"/>
          </a:xfrm>
          <a:prstGeom prst="rect">
            <a:avLst/>
          </a:prstGeom>
          <a:noFill/>
          <a:ln/>
        </p:spPr>
        <p:txBody>
          <a:bodyPr wrap="square" lIns="0" tIns="0" rIns="0" bIns="0" rtlCol="0" anchor="t"/>
          <a:lstStyle/>
          <a:p>
            <a:pPr indent="0" marL="0">
              <a:buNone/>
            </a:pPr>
            <a:r>
              <a:rPr lang="en-US" sz="1250" dirty="0">
                <a:solidFill>
                  <a:srgbClr val="1B2A21"/>
                </a:solidFill>
                <a:latin typeface="Calibri" pitchFamily="34" charset="0"/>
                <a:ea typeface="Calibri" pitchFamily="34" charset="-122"/>
                <a:cs typeface="Calibri" pitchFamily="34" charset="-120"/>
              </a:rPr>
              <a:t>Stores what the AI should know about the owner and business, in 7 areas: business, offers and products, audience, brand voice, story, goals and competitors. It's used to pick apps that fit the owner and to write marketing in their voice.</a:t>
            </a:r>
            <a:endParaRPr lang="en-US" sz="1250" dirty="0"/>
          </a:p>
        </p:txBody>
      </p:sp>
      <p:sp>
        <p:nvSpPr>
          <p:cNvPr id="9" name="Text 6"/>
          <p:cNvSpPr txBox="1"/>
          <p:nvPr/>
        </p:nvSpPr>
        <p:spPr>
          <a:xfrm>
            <a:off x="5166360" y="3108960"/>
            <a:ext cx="3520440" cy="274320"/>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Chief of Staff</a:t>
            </a:r>
            <a:endParaRPr lang="en-US" sz="1600" dirty="0"/>
          </a:p>
        </p:txBody>
      </p:sp>
      <p:sp>
        <p:nvSpPr>
          <p:cNvPr id="10" name="Text 7"/>
          <p:cNvSpPr txBox="1"/>
          <p:nvPr/>
        </p:nvSpPr>
        <p:spPr>
          <a:xfrm>
            <a:off x="5166360" y="3410712"/>
            <a:ext cx="3520440" cy="1188720"/>
          </a:xfrm>
          <a:prstGeom prst="rect">
            <a:avLst/>
          </a:prstGeom>
          <a:noFill/>
          <a:ln/>
        </p:spPr>
        <p:txBody>
          <a:bodyPr wrap="square" lIns="0" tIns="0" rIns="0" bIns="0" rtlCol="0" anchor="t"/>
          <a:lstStyle/>
          <a:p>
            <a:pPr indent="0" marL="0">
              <a:buNone/>
            </a:pPr>
            <a:r>
              <a:rPr lang="en-US" sz="1250" dirty="0">
                <a:solidFill>
                  <a:srgbClr val="1B2A21"/>
                </a:solidFill>
                <a:latin typeface="Calibri" pitchFamily="34" charset="0"/>
                <a:ea typeface="Calibri" pitchFamily="34" charset="-122"/>
                <a:cs typeface="Calibri" pitchFamily="34" charset="-120"/>
              </a:rPr>
              <a:t>An AI business partner grounded in the Brain. Ask it a question, such as “I want to develop an app for…”, and it researches the answer and helps decide what to do next.</a:t>
            </a:r>
            <a:endParaRPr lang="en-US" sz="1250" dirty="0"/>
          </a:p>
        </p:txBody>
      </p:sp>
      <p:sp>
        <p:nvSpPr>
          <p:cNvPr id="12" name="Text 8"/>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13" name="Text 9"/>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22 / 29</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Solution &amp; Product  ·  AppForge step 2: Find</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Start from apps people already pay for</a:t>
            </a:r>
            <a:endParaRPr lang="en-US" sz="2600" dirty="0"/>
          </a:p>
        </p:txBody>
      </p:sp>
      <p:sp>
        <p:nvSpPr>
          <p:cNvPr id="4" name="Text 2"/>
          <p:cNvSpPr txBox="1"/>
          <p:nvPr/>
        </p:nvSpPr>
        <p:spPr>
          <a:xfrm>
            <a:off x="457200" y="1417320"/>
            <a:ext cx="3429000" cy="3200400"/>
          </a:xfrm>
          <a:prstGeom prst="rect">
            <a:avLst/>
          </a:prstGeom>
          <a:noFill/>
          <a:ln/>
        </p:spPr>
        <p:txBody>
          <a:bodyPr wrap="square" lIns="0" tIns="0" rIns="0" bIns="0" rtlCol="0" anchor="t"/>
          <a:lstStyle/>
          <a:p>
            <a:pPr marL="190500" indent="-190500">
              <a:spcAft>
                <a:spcPts val="700"/>
              </a:spcAft>
              <a:buSzPct val="100000"/>
              <a:buChar char="•"/>
            </a:pPr>
            <a:r>
              <a:rPr lang="en-US" sz="1250" b="1" dirty="0">
                <a:solidFill>
                  <a:srgbClr val="1B2A21"/>
                </a:solidFill>
                <a:latin typeface="Calibri" pitchFamily="34" charset="0"/>
                <a:ea typeface="Calibri" pitchFamily="34" charset="-122"/>
                <a:cs typeface="Calibri" pitchFamily="34" charset="-120"/>
              </a:rPr>
              <a:t>Top 100 Apps Explorer: </a:t>
            </a:r>
            <a:pPr indent="0" marL="0">
              <a:spcAft>
                <a:spcPts val="700"/>
              </a:spcAft>
              <a:buNone/>
            </a:pPr>
            <a:r>
              <a:rPr lang="en-US" sz="1250" dirty="0">
                <a:solidFill>
                  <a:srgbClr val="1B2A21"/>
                </a:solidFill>
                <a:latin typeface="Calibri" pitchFamily="34" charset="0"/>
                <a:ea typeface="Calibri" pitchFamily="34" charset="-122"/>
                <a:cs typeface="Calibri" pitchFamily="34" charset="-120"/>
              </a:rPr>
              <a:t>ranks the top-grossing apps by category and how they make money (subscription, freemium, ads).</a:t>
            </a:r>
            <a:endParaRPr lang="en-US" sz="1250" dirty="0"/>
          </a:p>
          <a:p>
            <a:pPr marL="190500" indent="-190500">
              <a:spcAft>
                <a:spcPts val="700"/>
              </a:spcAft>
              <a:buSzPct val="100000"/>
              <a:buChar char="•"/>
            </a:pPr>
            <a:r>
              <a:rPr lang="en-US" sz="1250" b="1" dirty="0">
                <a:solidFill>
                  <a:srgbClr val="1B2A21"/>
                </a:solidFill>
                <a:latin typeface="Calibri" pitchFamily="34" charset="0"/>
                <a:ea typeface="Calibri" pitchFamily="34" charset="-122"/>
                <a:cs typeface="Calibri" pitchFamily="34" charset="-120"/>
              </a:rPr>
              <a:t>Build a better version: </a:t>
            </a:r>
            <a:pPr indent="0" marL="0">
              <a:spcAft>
                <a:spcPts val="700"/>
              </a:spcAft>
              <a:buNone/>
            </a:pPr>
            <a:r>
              <a:rPr lang="en-US" sz="1250" dirty="0">
                <a:solidFill>
                  <a:srgbClr val="1B2A21"/>
                </a:solidFill>
                <a:latin typeface="Calibri" pitchFamily="34" charset="0"/>
                <a:ea typeface="Calibri" pitchFamily="34" charset="-122"/>
                <a:cs typeface="Calibri" pitchFamily="34" charset="-120"/>
              </a:rPr>
              <a:t>one click starts a new app from a proven idea, focused on a niche the big apps underserve.</a:t>
            </a:r>
            <a:endParaRPr lang="en-US" sz="1250" dirty="0"/>
          </a:p>
          <a:p>
            <a:pPr marL="190500" indent="-190500">
              <a:spcAft>
                <a:spcPts val="700"/>
              </a:spcAft>
              <a:buSzPct val="100000"/>
              <a:buChar char="•"/>
            </a:pPr>
            <a:r>
              <a:rPr lang="en-US" sz="1250" b="1" dirty="0">
                <a:solidFill>
                  <a:srgbClr val="1B2A21"/>
                </a:solidFill>
                <a:latin typeface="Calibri" pitchFamily="34" charset="0"/>
                <a:ea typeface="Calibri" pitchFamily="34" charset="-122"/>
                <a:cs typeface="Calibri" pitchFamily="34" charset="-120"/>
              </a:rPr>
              <a:t>App Types &amp; Opportunities: </a:t>
            </a:r>
            <a:pPr indent="0" marL="0">
              <a:spcAft>
                <a:spcPts val="700"/>
              </a:spcAft>
              <a:buNone/>
            </a:pPr>
            <a:r>
              <a:rPr lang="en-US" sz="1250" dirty="0">
                <a:solidFill>
                  <a:srgbClr val="1B2A21"/>
                </a:solidFill>
                <a:latin typeface="Calibri" pitchFamily="34" charset="0"/>
                <a:ea typeface="Calibri" pitchFamily="34" charset="-122"/>
                <a:cs typeface="Calibri" pitchFamily="34" charset="-120"/>
              </a:rPr>
              <a:t>suggest specific, scored app ideas.</a:t>
            </a:r>
            <a:endParaRPr lang="en-US" sz="1250" dirty="0"/>
          </a:p>
          <a:p>
            <a:pPr marL="190500" indent="-190500">
              <a:spcAft>
                <a:spcPts val="700"/>
              </a:spcAft>
              <a:buSzPct val="100000"/>
              <a:buChar char="•"/>
            </a:pPr>
            <a:r>
              <a:rPr lang="en-US" sz="1250" b="1" dirty="0">
                <a:solidFill>
                  <a:srgbClr val="1B2A21"/>
                </a:solidFill>
                <a:latin typeface="Calibri" pitchFamily="34" charset="0"/>
                <a:ea typeface="Calibri" pitchFamily="34" charset="-122"/>
                <a:cs typeface="Calibri" pitchFamily="34" charset="-120"/>
              </a:rPr>
              <a:t>Market Analysis &amp; Viability Scorer: </a:t>
            </a:r>
            <a:pPr indent="0" marL="0">
              <a:spcAft>
                <a:spcPts val="700"/>
              </a:spcAft>
              <a:buNone/>
            </a:pPr>
            <a:r>
              <a:rPr lang="en-US" sz="1250" dirty="0">
                <a:solidFill>
                  <a:srgbClr val="1B2A21"/>
                </a:solidFill>
                <a:latin typeface="Calibri" pitchFamily="34" charset="0"/>
                <a:ea typeface="Calibri" pitchFamily="34" charset="-122"/>
                <a:cs typeface="Calibri" pitchFamily="34" charset="-120"/>
              </a:rPr>
              <a:t>check demand, competition and fit before we build.</a:t>
            </a:r>
            <a:endParaRPr lang="en-US" sz="1250" dirty="0"/>
          </a:p>
        </p:txBody>
      </p:sp>
      <p:sp>
        <p:nvSpPr>
          <p:cNvPr id="5" name="Shape 3"/>
          <p:cNvSpPr/>
          <p:nvPr/>
        </p:nvSpPr>
        <p:spPr>
          <a:xfrm>
            <a:off x="4133088" y="1389888"/>
            <a:ext cx="4581144" cy="2880360"/>
          </a:xfrm>
          <a:prstGeom prst="rect">
            <a:avLst/>
          </a:prstGeom>
          <a:solidFill>
            <a:srgbClr val="ECE1C7"/>
          </a:solidFill>
          <a:ln w="12700">
            <a:solidFill>
              <a:srgbClr val="ECE1C7"/>
            </a:solidFill>
            <a:prstDash val="solid"/>
          </a:ln>
          <a:effectLst>
            <a:outerShdw sx="100000" sy="100000" kx="0" ky="0" algn="bl" rotWithShape="0" blurRad="101600" dist="38100" dir="54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4160520" y="1417320"/>
            <a:ext cx="4526280" cy="2825496"/>
          </a:xfrm>
          <a:prstGeom prst="rect">
            <a:avLst/>
          </a:prstGeom>
        </p:spPr>
      </p:pic>
      <p:sp>
        <p:nvSpPr>
          <p:cNvPr id="7" name="Text 4"/>
          <p:cNvSpPr txBox="1"/>
          <p:nvPr/>
        </p:nvSpPr>
        <p:spPr>
          <a:xfrm>
            <a:off x="4160520" y="4343400"/>
            <a:ext cx="4526280" cy="274320"/>
          </a:xfrm>
          <a:prstGeom prst="rect">
            <a:avLst/>
          </a:prstGeom>
          <a:noFill/>
          <a:ln/>
        </p:spPr>
        <p:txBody>
          <a:bodyPr wrap="square" lIns="0" tIns="0" rIns="0" bIns="0" rtlCol="0" anchor="t"/>
          <a:lstStyle/>
          <a:p>
            <a:pPr indent="0" marL="0">
              <a:buNone/>
            </a:pPr>
            <a:r>
              <a:rPr lang="en-US" sz="1100" i="1" dirty="0">
                <a:solidFill>
                  <a:srgbClr val="4E5D53"/>
                </a:solidFill>
                <a:latin typeface="Calibri" pitchFamily="34" charset="0"/>
                <a:ea typeface="Calibri" pitchFamily="34" charset="-122"/>
                <a:cs typeface="Calibri" pitchFamily="34" charset="-120"/>
              </a:rPr>
              <a:t>Top 100 Apps Explorer. Revenue ranges are AppForge's AI estimates.</a:t>
            </a:r>
            <a:endParaRPr lang="en-US" sz="1100" dirty="0"/>
          </a:p>
        </p:txBody>
      </p:sp>
      <p:sp>
        <p:nvSpPr>
          <p:cNvPr id="9" name="Text 5"/>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10" name="Text 6"/>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23 / 29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Solution &amp; Product  ·  AppForge step 3: Build</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AppForge plans the app and writes the code</a:t>
            </a:r>
            <a:endParaRPr lang="en-US" sz="2600" dirty="0"/>
          </a:p>
        </p:txBody>
      </p:sp>
      <p:sp>
        <p:nvSpPr>
          <p:cNvPr id="4" name="Shape 2"/>
          <p:cNvSpPr/>
          <p:nvPr/>
        </p:nvSpPr>
        <p:spPr>
          <a:xfrm>
            <a:off x="457200" y="1417320"/>
            <a:ext cx="4023360" cy="1069848"/>
          </a:xfrm>
          <a:prstGeom prst="roundRect">
            <a:avLst>
              <a:gd name="adj" fmla="val 6838"/>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58368" y="1673352"/>
            <a:ext cx="548640" cy="548640"/>
          </a:xfrm>
          <a:prstGeom prst="ellipse">
            <a:avLst/>
          </a:prstGeom>
          <a:solidFill>
            <a:srgbClr val="FFFFFF"/>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801014" y="1815998"/>
            <a:ext cx="263347" cy="263347"/>
          </a:xfrm>
          <a:prstGeom prst="rect">
            <a:avLst/>
          </a:prstGeom>
        </p:spPr>
      </p:pic>
      <p:sp>
        <p:nvSpPr>
          <p:cNvPr id="7" name="Text 4"/>
          <p:cNvSpPr txBox="1"/>
          <p:nvPr/>
        </p:nvSpPr>
        <p:spPr>
          <a:xfrm>
            <a:off x="1371600" y="1600200"/>
            <a:ext cx="297180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Projects</a:t>
            </a:r>
            <a:endParaRPr lang="en-US" sz="1600" dirty="0"/>
          </a:p>
        </p:txBody>
      </p:sp>
      <p:sp>
        <p:nvSpPr>
          <p:cNvPr id="8" name="Text 5"/>
          <p:cNvSpPr txBox="1"/>
          <p:nvPr/>
        </p:nvSpPr>
        <p:spPr>
          <a:xfrm>
            <a:off x="1371600" y="1920240"/>
            <a:ext cx="2971800" cy="50292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Each app gets its own workspace, plan and milestones.</a:t>
            </a:r>
            <a:endParaRPr lang="en-US" sz="1300" dirty="0"/>
          </a:p>
        </p:txBody>
      </p:sp>
      <p:sp>
        <p:nvSpPr>
          <p:cNvPr id="9" name="Shape 6"/>
          <p:cNvSpPr/>
          <p:nvPr/>
        </p:nvSpPr>
        <p:spPr>
          <a:xfrm>
            <a:off x="4663440" y="1417320"/>
            <a:ext cx="4023360" cy="1069848"/>
          </a:xfrm>
          <a:prstGeom prst="roundRect">
            <a:avLst>
              <a:gd name="adj" fmla="val 6838"/>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4864608" y="1673352"/>
            <a:ext cx="548640" cy="548640"/>
          </a:xfrm>
          <a:prstGeom prst="ellipse">
            <a:avLst/>
          </a:prstGeom>
          <a:solidFill>
            <a:srgbClr val="FFFFFF"/>
          </a:solidFill>
          <a:ln w="19050">
            <a:solidFill>
              <a:srgbClr val="D98B3C"/>
            </a:solidFill>
            <a:prstDash val="solid"/>
          </a:ln>
        </p:spPr>
      </p:sp>
      <p:pic>
        <p:nvPicPr>
          <p:cNvPr id="11" name="Image 1" descr="preencoded.png">    </p:cNvPr>
          <p:cNvPicPr>
            <a:picLocks noChangeAspect="1"/>
          </p:cNvPicPr>
          <p:nvPr/>
        </p:nvPicPr>
        <p:blipFill>
          <a:blip r:embed="rId2"/>
          <a:stretch>
            <a:fillRect/>
          </a:stretch>
        </p:blipFill>
        <p:spPr>
          <a:xfrm>
            <a:off x="5007254" y="1815998"/>
            <a:ext cx="263347" cy="263347"/>
          </a:xfrm>
          <a:prstGeom prst="rect">
            <a:avLst/>
          </a:prstGeom>
        </p:spPr>
      </p:pic>
      <p:sp>
        <p:nvSpPr>
          <p:cNvPr id="12" name="Text 8"/>
          <p:cNvSpPr txBox="1"/>
          <p:nvPr/>
        </p:nvSpPr>
        <p:spPr>
          <a:xfrm>
            <a:off x="5577840" y="1600200"/>
            <a:ext cx="297180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Tech Stack</a:t>
            </a:r>
            <a:endParaRPr lang="en-US" sz="1600" dirty="0"/>
          </a:p>
        </p:txBody>
      </p:sp>
      <p:sp>
        <p:nvSpPr>
          <p:cNvPr id="13" name="Text 9"/>
          <p:cNvSpPr txBox="1"/>
          <p:nvPr/>
        </p:nvSpPr>
        <p:spPr>
          <a:xfrm>
            <a:off x="5577840" y="1920240"/>
            <a:ext cx="2971800" cy="50292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Picks the technology, reusing our proven AI, voice and billing setup.</a:t>
            </a:r>
            <a:endParaRPr lang="en-US" sz="1300" dirty="0"/>
          </a:p>
        </p:txBody>
      </p:sp>
      <p:sp>
        <p:nvSpPr>
          <p:cNvPr id="14" name="Shape 10"/>
          <p:cNvSpPr/>
          <p:nvPr/>
        </p:nvSpPr>
        <p:spPr>
          <a:xfrm>
            <a:off x="457200" y="2624328"/>
            <a:ext cx="4023360" cy="1069848"/>
          </a:xfrm>
          <a:prstGeom prst="roundRect">
            <a:avLst>
              <a:gd name="adj" fmla="val 6838"/>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5" name="Shape 11"/>
          <p:cNvSpPr/>
          <p:nvPr/>
        </p:nvSpPr>
        <p:spPr>
          <a:xfrm>
            <a:off x="658368" y="2880360"/>
            <a:ext cx="548640" cy="548640"/>
          </a:xfrm>
          <a:prstGeom prst="ellipse">
            <a:avLst/>
          </a:prstGeom>
          <a:solidFill>
            <a:srgbClr val="FFFFFF"/>
          </a:solidFill>
          <a:ln w="19050">
            <a:solidFill>
              <a:srgbClr val="D98B3C"/>
            </a:solidFill>
            <a:prstDash val="solid"/>
          </a:ln>
        </p:spPr>
      </p:sp>
      <p:pic>
        <p:nvPicPr>
          <p:cNvPr id="16" name="Image 2" descr="preencoded.png">    </p:cNvPr>
          <p:cNvPicPr>
            <a:picLocks noChangeAspect="1"/>
          </p:cNvPicPr>
          <p:nvPr/>
        </p:nvPicPr>
        <p:blipFill>
          <a:blip r:embed="rId3"/>
          <a:stretch>
            <a:fillRect/>
          </a:stretch>
        </p:blipFill>
        <p:spPr>
          <a:xfrm>
            <a:off x="801014" y="3023006"/>
            <a:ext cx="263347" cy="263347"/>
          </a:xfrm>
          <a:prstGeom prst="rect">
            <a:avLst/>
          </a:prstGeom>
        </p:spPr>
      </p:pic>
      <p:sp>
        <p:nvSpPr>
          <p:cNvPr id="17" name="Text 12"/>
          <p:cNvSpPr txBox="1"/>
          <p:nvPr/>
        </p:nvSpPr>
        <p:spPr>
          <a:xfrm>
            <a:off x="1371600" y="2807208"/>
            <a:ext cx="297180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Build</a:t>
            </a:r>
            <a:endParaRPr lang="en-US" sz="1600" dirty="0"/>
          </a:p>
        </p:txBody>
      </p:sp>
      <p:sp>
        <p:nvSpPr>
          <p:cNvPr id="18" name="Text 13"/>
          <p:cNvSpPr txBox="1"/>
          <p:nvPr/>
        </p:nvSpPr>
        <p:spPr>
          <a:xfrm>
            <a:off x="1371600" y="3127248"/>
            <a:ext cx="2971800" cy="50292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Generates the working app code.</a:t>
            </a:r>
            <a:endParaRPr lang="en-US" sz="1300" dirty="0"/>
          </a:p>
        </p:txBody>
      </p:sp>
      <p:sp>
        <p:nvSpPr>
          <p:cNvPr id="19" name="Shape 14"/>
          <p:cNvSpPr/>
          <p:nvPr/>
        </p:nvSpPr>
        <p:spPr>
          <a:xfrm>
            <a:off x="4663440" y="2624328"/>
            <a:ext cx="4023360" cy="1069848"/>
          </a:xfrm>
          <a:prstGeom prst="roundRect">
            <a:avLst>
              <a:gd name="adj" fmla="val 6838"/>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20" name="Shape 15"/>
          <p:cNvSpPr/>
          <p:nvPr/>
        </p:nvSpPr>
        <p:spPr>
          <a:xfrm>
            <a:off x="4864608" y="2880360"/>
            <a:ext cx="548640" cy="548640"/>
          </a:xfrm>
          <a:prstGeom prst="ellipse">
            <a:avLst/>
          </a:prstGeom>
          <a:solidFill>
            <a:srgbClr val="FFFFFF"/>
          </a:solidFill>
          <a:ln w="19050">
            <a:solidFill>
              <a:srgbClr val="D98B3C"/>
            </a:solidFill>
            <a:prstDash val="solid"/>
          </a:ln>
        </p:spPr>
      </p:sp>
      <p:pic>
        <p:nvPicPr>
          <p:cNvPr id="21" name="Image 3" descr="preencoded.png">    </p:cNvPr>
          <p:cNvPicPr>
            <a:picLocks noChangeAspect="1"/>
          </p:cNvPicPr>
          <p:nvPr/>
        </p:nvPicPr>
        <p:blipFill>
          <a:blip r:embed="rId4"/>
          <a:stretch>
            <a:fillRect/>
          </a:stretch>
        </p:blipFill>
        <p:spPr>
          <a:xfrm>
            <a:off x="5007254" y="3023006"/>
            <a:ext cx="263347" cy="263347"/>
          </a:xfrm>
          <a:prstGeom prst="rect">
            <a:avLst/>
          </a:prstGeom>
        </p:spPr>
      </p:pic>
      <p:sp>
        <p:nvSpPr>
          <p:cNvPr id="22" name="Text 16"/>
          <p:cNvSpPr txBox="1"/>
          <p:nvPr/>
        </p:nvSpPr>
        <p:spPr>
          <a:xfrm>
            <a:off x="5577840" y="2807208"/>
            <a:ext cx="2971800" cy="292608"/>
          </a:xfrm>
          <a:prstGeom prst="rect">
            <a:avLst/>
          </a:prstGeom>
          <a:noFill/>
          <a:ln/>
        </p:spPr>
        <p:txBody>
          <a:bodyPr wrap="square" lIns="0" tIns="0" rIns="0" bIns="0" rtlCol="0" anchor="t"/>
          <a:lstStyle/>
          <a:p>
            <a:pPr indent="0" marL="0">
              <a:buNone/>
            </a:pPr>
            <a:r>
              <a:rPr lang="en-US" sz="1600" b="1" dirty="0">
                <a:solidFill>
                  <a:srgbClr val="143D28"/>
                </a:solidFill>
                <a:latin typeface="Cambria" pitchFamily="34" charset="0"/>
                <a:ea typeface="Cambria" pitchFamily="34" charset="-122"/>
                <a:cs typeface="Cambria" pitchFamily="34" charset="-120"/>
              </a:rPr>
              <a:t>Store Listing</a:t>
            </a:r>
            <a:endParaRPr lang="en-US" sz="1600" dirty="0"/>
          </a:p>
        </p:txBody>
      </p:sp>
      <p:sp>
        <p:nvSpPr>
          <p:cNvPr id="23" name="Text 17"/>
          <p:cNvSpPr txBox="1"/>
          <p:nvPr/>
        </p:nvSpPr>
        <p:spPr>
          <a:xfrm>
            <a:off x="5577840" y="3127248"/>
            <a:ext cx="2971800" cy="502920"/>
          </a:xfrm>
          <a:prstGeom prst="rect">
            <a:avLst/>
          </a:prstGeom>
          <a:noFill/>
          <a:ln/>
        </p:spPr>
        <p:txBody>
          <a:bodyPr wrap="square" lIns="0" tIns="0" rIns="0" bIns="0" rtlCol="0" anchor="t"/>
          <a:lstStyle/>
          <a:p>
            <a:pPr indent="0" marL="0">
              <a:buNone/>
            </a:pPr>
            <a:r>
              <a:rPr lang="en-US" sz="1300" dirty="0">
                <a:solidFill>
                  <a:srgbClr val="1B2A21"/>
                </a:solidFill>
                <a:latin typeface="Calibri" pitchFamily="34" charset="0"/>
                <a:ea typeface="Calibri" pitchFamily="34" charset="-122"/>
                <a:cs typeface="Calibri" pitchFamily="34" charset="-120"/>
              </a:rPr>
              <a:t>Writes the App Store and Google Play listing.</a:t>
            </a:r>
            <a:endParaRPr lang="en-US" sz="1300" dirty="0"/>
          </a:p>
        </p:txBody>
      </p:sp>
      <p:sp>
        <p:nvSpPr>
          <p:cNvPr id="24" name="Shape 18"/>
          <p:cNvSpPr/>
          <p:nvPr/>
        </p:nvSpPr>
        <p:spPr>
          <a:xfrm>
            <a:off x="457200" y="3904488"/>
            <a:ext cx="8229600" cy="713232"/>
          </a:xfrm>
          <a:prstGeom prst="roundRect">
            <a:avLst>
              <a:gd name="adj" fmla="val 10256"/>
            </a:avLst>
          </a:prstGeom>
          <a:solidFill>
            <a:srgbClr val="ECE1C7"/>
          </a:solidFill>
          <a:ln w="12700">
            <a:solidFill>
              <a:srgbClr val="ECE1C7"/>
            </a:solidFill>
            <a:prstDash val="solid"/>
          </a:ln>
        </p:spPr>
      </p:sp>
      <p:sp>
        <p:nvSpPr>
          <p:cNvPr id="25" name="Text 19"/>
          <p:cNvSpPr txBox="1"/>
          <p:nvPr/>
        </p:nvSpPr>
        <p:spPr>
          <a:xfrm>
            <a:off x="685800" y="3950208"/>
            <a:ext cx="7772400" cy="621792"/>
          </a:xfrm>
          <a:prstGeom prst="rect">
            <a:avLst/>
          </a:prstGeom>
          <a:noFill/>
          <a:ln/>
        </p:spPr>
        <p:txBody>
          <a:bodyPr wrap="square" lIns="0" tIns="0" rIns="0" bIns="0" rtlCol="0" anchor="ctr"/>
          <a:lstStyle/>
          <a:p>
            <a:pPr indent="0" marL="0">
              <a:buNone/>
            </a:pPr>
            <a:r>
              <a:rPr lang="en-US" sz="1250" b="1" dirty="0">
                <a:solidFill>
                  <a:srgbClr val="143D28"/>
                </a:solidFill>
                <a:latin typeface="Calibri" pitchFamily="34" charset="0"/>
                <a:ea typeface="Calibri" pitchFamily="34" charset="-122"/>
                <a:cs typeface="Calibri" pitchFamily="34" charset="-120"/>
              </a:rPr>
              <a:t>Business HQ: </a:t>
            </a:r>
            <a:pPr indent="0" marL="0">
              <a:buNone/>
            </a:pPr>
            <a:r>
              <a:rPr lang="en-US" sz="1250" dirty="0">
                <a:solidFill>
                  <a:srgbClr val="143D28"/>
                </a:solidFill>
                <a:latin typeface="Calibri" pitchFamily="34" charset="0"/>
                <a:ea typeface="Calibri" pitchFamily="34" charset="-122"/>
                <a:cs typeface="Calibri" pitchFamily="34" charset="-120"/>
              </a:rPr>
              <a:t>every new app plugs into our shared operating system (dashboards, goals, key metrics, procedures and milestones), so one small team can run ten apps.</a:t>
            </a:r>
            <a:endParaRPr lang="en-US" sz="1250" dirty="0"/>
          </a:p>
        </p:txBody>
      </p:sp>
      <p:sp>
        <p:nvSpPr>
          <p:cNvPr id="27" name="Text 20"/>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8" name="Text 21"/>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24 / 29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Solution &amp; Product  ·  AppForge step 4: Market</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A ready-made marketing funnel for every app</a:t>
            </a:r>
            <a:endParaRPr lang="en-US" sz="2600" dirty="0"/>
          </a:p>
        </p:txBody>
      </p:sp>
      <p:sp>
        <p:nvSpPr>
          <p:cNvPr id="4" name="Shape 2"/>
          <p:cNvSpPr/>
          <p:nvPr/>
        </p:nvSpPr>
        <p:spPr>
          <a:xfrm>
            <a:off x="457200" y="1463040"/>
            <a:ext cx="3840480" cy="658368"/>
          </a:xfrm>
          <a:prstGeom prst="roundRect">
            <a:avLst>
              <a:gd name="adj" fmla="val 11111"/>
            </a:avLst>
          </a:prstGeom>
          <a:solidFill>
            <a:srgbClr val="143D28"/>
          </a:solidFill>
          <a:ln w="12700">
            <a:solidFill>
              <a:srgbClr val="143D28"/>
            </a:solidFill>
            <a:prstDash val="solid"/>
          </a:ln>
        </p:spPr>
      </p:sp>
      <p:sp>
        <p:nvSpPr>
          <p:cNvPr id="5" name="Text 3"/>
          <p:cNvSpPr txBox="1"/>
          <p:nvPr/>
        </p:nvSpPr>
        <p:spPr>
          <a:xfrm>
            <a:off x="457200" y="1517904"/>
            <a:ext cx="384048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Attract</a:t>
            </a:r>
            <a:endParaRPr lang="en-US" sz="1300" dirty="0"/>
          </a:p>
          <a:p>
            <a:pPr algn="ctr" indent="0" marL="0">
              <a:buNone/>
            </a:pPr>
            <a:r>
              <a:rPr lang="en-US" sz="1150" dirty="0">
                <a:solidFill>
                  <a:srgbClr val="FFFFFF"/>
                </a:solidFill>
                <a:latin typeface="Calibri" pitchFamily="34" charset="0"/>
                <a:ea typeface="Calibri" pitchFamily="34" charset="-122"/>
                <a:cs typeface="Calibri" pitchFamily="34" charset="-120"/>
              </a:rPr>
              <a:t>ads and social posts</a:t>
            </a:r>
            <a:endParaRPr lang="en-US" sz="1300" dirty="0"/>
          </a:p>
        </p:txBody>
      </p:sp>
      <p:sp>
        <p:nvSpPr>
          <p:cNvPr id="6" name="Shape 4"/>
          <p:cNvSpPr/>
          <p:nvPr/>
        </p:nvSpPr>
        <p:spPr>
          <a:xfrm>
            <a:off x="731520" y="2240280"/>
            <a:ext cx="3291840" cy="658368"/>
          </a:xfrm>
          <a:prstGeom prst="roundRect">
            <a:avLst>
              <a:gd name="adj" fmla="val 11111"/>
            </a:avLst>
          </a:prstGeom>
          <a:solidFill>
            <a:srgbClr val="1E5238"/>
          </a:solidFill>
          <a:ln w="12700">
            <a:solidFill>
              <a:srgbClr val="1E5238"/>
            </a:solidFill>
            <a:prstDash val="solid"/>
          </a:ln>
        </p:spPr>
      </p:sp>
      <p:sp>
        <p:nvSpPr>
          <p:cNvPr id="7" name="Text 5"/>
          <p:cNvSpPr txBox="1"/>
          <p:nvPr/>
        </p:nvSpPr>
        <p:spPr>
          <a:xfrm>
            <a:off x="731520" y="2295144"/>
            <a:ext cx="32918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Engage</a:t>
            </a:r>
            <a:endParaRPr lang="en-US" sz="1300" dirty="0"/>
          </a:p>
          <a:p>
            <a:pPr algn="ctr" indent="0" marL="0">
              <a:buNone/>
            </a:pPr>
            <a:r>
              <a:rPr lang="en-US" sz="1150" dirty="0">
                <a:solidFill>
                  <a:srgbClr val="FFFFFF"/>
                </a:solidFill>
                <a:latin typeface="Calibri" pitchFamily="34" charset="0"/>
                <a:ea typeface="Calibri" pitchFamily="34" charset="-122"/>
                <a:cs typeface="Calibri" pitchFamily="34" charset="-120"/>
              </a:rPr>
              <a:t>cold emails and presentations</a:t>
            </a:r>
            <a:endParaRPr lang="en-US" sz="1300" dirty="0"/>
          </a:p>
        </p:txBody>
      </p:sp>
      <p:sp>
        <p:nvSpPr>
          <p:cNvPr id="8" name="Shape 6"/>
          <p:cNvSpPr/>
          <p:nvPr/>
        </p:nvSpPr>
        <p:spPr>
          <a:xfrm>
            <a:off x="1005840" y="3017520"/>
            <a:ext cx="2743200" cy="658368"/>
          </a:xfrm>
          <a:prstGeom prst="roundRect">
            <a:avLst>
              <a:gd name="adj" fmla="val 11111"/>
            </a:avLst>
          </a:prstGeom>
          <a:solidFill>
            <a:srgbClr val="4F7F63"/>
          </a:solidFill>
          <a:ln w="12700">
            <a:solidFill>
              <a:srgbClr val="4F7F63"/>
            </a:solidFill>
            <a:prstDash val="solid"/>
          </a:ln>
        </p:spPr>
      </p:sp>
      <p:sp>
        <p:nvSpPr>
          <p:cNvPr id="9" name="Text 7"/>
          <p:cNvSpPr txBox="1"/>
          <p:nvPr/>
        </p:nvSpPr>
        <p:spPr>
          <a:xfrm>
            <a:off x="1005840" y="3072384"/>
            <a:ext cx="274320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Convert</a:t>
            </a:r>
            <a:endParaRPr lang="en-US" sz="1300" dirty="0"/>
          </a:p>
          <a:p>
            <a:pPr algn="ctr" indent="0" marL="0">
              <a:buNone/>
            </a:pPr>
            <a:r>
              <a:rPr lang="en-US" sz="1150" dirty="0">
                <a:solidFill>
                  <a:srgbClr val="FFFFFF"/>
                </a:solidFill>
                <a:latin typeface="Calibri" pitchFamily="34" charset="0"/>
                <a:ea typeface="Calibri" pitchFamily="34" charset="-122"/>
                <a:cs typeface="Calibri" pitchFamily="34" charset="-120"/>
              </a:rPr>
              <a:t>free trial</a:t>
            </a:r>
            <a:endParaRPr lang="en-US" sz="1300" dirty="0"/>
          </a:p>
        </p:txBody>
      </p:sp>
      <p:sp>
        <p:nvSpPr>
          <p:cNvPr id="10" name="Shape 8"/>
          <p:cNvSpPr/>
          <p:nvPr/>
        </p:nvSpPr>
        <p:spPr>
          <a:xfrm>
            <a:off x="1280160" y="3794760"/>
            <a:ext cx="2194560" cy="658368"/>
          </a:xfrm>
          <a:prstGeom prst="roundRect">
            <a:avLst>
              <a:gd name="adj" fmla="val 11111"/>
            </a:avLst>
          </a:prstGeom>
          <a:solidFill>
            <a:srgbClr val="D98B3C"/>
          </a:solidFill>
          <a:ln w="12700">
            <a:solidFill>
              <a:srgbClr val="D98B3C"/>
            </a:solidFill>
            <a:prstDash val="solid"/>
          </a:ln>
        </p:spPr>
      </p:sp>
      <p:sp>
        <p:nvSpPr>
          <p:cNvPr id="11" name="Text 9"/>
          <p:cNvSpPr txBox="1"/>
          <p:nvPr/>
        </p:nvSpPr>
        <p:spPr>
          <a:xfrm>
            <a:off x="1280160" y="3849624"/>
            <a:ext cx="219456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Subscribe</a:t>
            </a:r>
            <a:endParaRPr lang="en-US" sz="1300" dirty="0"/>
          </a:p>
          <a:p>
            <a:pPr algn="ctr" indent="0" marL="0">
              <a:buNone/>
            </a:pPr>
            <a:r>
              <a:rPr lang="en-US" sz="1150" dirty="0">
                <a:solidFill>
                  <a:srgbClr val="FFFFFF"/>
                </a:solidFill>
                <a:latin typeface="Calibri" pitchFamily="34" charset="0"/>
                <a:ea typeface="Calibri" pitchFamily="34" charset="-122"/>
                <a:cs typeface="Calibri" pitchFamily="34" charset="-120"/>
              </a:rPr>
              <a:t>monthly or annual plan</a:t>
            </a:r>
            <a:endParaRPr lang="en-US" sz="1300" dirty="0"/>
          </a:p>
        </p:txBody>
      </p:sp>
      <p:sp>
        <p:nvSpPr>
          <p:cNvPr id="12" name="Text 10"/>
          <p:cNvSpPr txBox="1"/>
          <p:nvPr/>
        </p:nvSpPr>
        <p:spPr>
          <a:xfrm>
            <a:off x="4572000" y="1417320"/>
            <a:ext cx="4114800" cy="2743200"/>
          </a:xfrm>
          <a:prstGeom prst="rect">
            <a:avLst/>
          </a:prstGeom>
          <a:noFill/>
          <a:ln/>
        </p:spPr>
        <p:txBody>
          <a:bodyPr wrap="square" lIns="0" tIns="0" rIns="0" bIns="0" rtlCol="0" anchor="t"/>
          <a:lstStyle/>
          <a:p>
            <a:pPr marL="190500" indent="-190500">
              <a:spcAft>
                <a:spcPts val="500"/>
              </a:spcAft>
              <a:buSzPct val="100000"/>
              <a:buChar char="•"/>
            </a:pPr>
            <a:r>
              <a:rPr lang="en-US" sz="1250" b="1" dirty="0">
                <a:solidFill>
                  <a:srgbClr val="1B2A21"/>
                </a:solidFill>
                <a:latin typeface="Calibri" pitchFamily="34" charset="0"/>
                <a:ea typeface="Calibri" pitchFamily="34" charset="-122"/>
                <a:cs typeface="Calibri" pitchFamily="34" charset="-120"/>
              </a:rPr>
              <a:t>Attractive Character: </a:t>
            </a:r>
            <a:pPr indent="0" marL="0">
              <a:spcAft>
                <a:spcPts val="500"/>
              </a:spcAft>
              <a:buNone/>
            </a:pPr>
            <a:r>
              <a:rPr lang="en-US" sz="1250" dirty="0">
                <a:solidFill>
                  <a:srgbClr val="1B2A21"/>
                </a:solidFill>
                <a:latin typeface="Calibri" pitchFamily="34" charset="0"/>
                <a:ea typeface="Calibri" pitchFamily="34" charset="-122"/>
                <a:cs typeface="Calibri" pitchFamily="34" charset="-120"/>
              </a:rPr>
              <a:t>the brand persona and founder story behind the marketing</a:t>
            </a:r>
            <a:endParaRPr lang="en-US" sz="1250" dirty="0"/>
          </a:p>
          <a:p>
            <a:pPr marL="190500" indent="-190500">
              <a:spcAft>
                <a:spcPts val="500"/>
              </a:spcAft>
              <a:buSzPct val="100000"/>
              <a:buChar char="•"/>
            </a:pPr>
            <a:r>
              <a:rPr lang="en-US" sz="1250" b="1" dirty="0">
                <a:solidFill>
                  <a:srgbClr val="1B2A21"/>
                </a:solidFill>
                <a:latin typeface="Calibri" pitchFamily="34" charset="0"/>
                <a:ea typeface="Calibri" pitchFamily="34" charset="-122"/>
                <a:cs typeface="Calibri" pitchFamily="34" charset="-120"/>
              </a:rPr>
              <a:t>Framework Extractor: </a:t>
            </a:r>
            <a:pPr indent="0" marL="0">
              <a:spcAft>
                <a:spcPts val="500"/>
              </a:spcAft>
              <a:buNone/>
            </a:pPr>
            <a:r>
              <a:rPr lang="en-US" sz="1250" dirty="0">
                <a:solidFill>
                  <a:srgbClr val="1B2A21"/>
                </a:solidFill>
                <a:latin typeface="Calibri" pitchFamily="34" charset="0"/>
                <a:ea typeface="Calibri" pitchFamily="34" charset="-122"/>
                <a:cs typeface="Calibri" pitchFamily="34" charset="-120"/>
              </a:rPr>
              <a:t>turns the owner's know-how into frameworks the content is built on</a:t>
            </a:r>
            <a:endParaRPr lang="en-US" sz="1250" dirty="0"/>
          </a:p>
          <a:p>
            <a:pPr marL="190500" indent="-190500">
              <a:spcAft>
                <a:spcPts val="500"/>
              </a:spcAft>
              <a:buSzPct val="100000"/>
              <a:buChar char="•"/>
            </a:pPr>
            <a:r>
              <a:rPr lang="en-US" sz="1250" b="1" dirty="0">
                <a:solidFill>
                  <a:srgbClr val="1B2A21"/>
                </a:solidFill>
                <a:latin typeface="Calibri" pitchFamily="34" charset="0"/>
                <a:ea typeface="Calibri" pitchFamily="34" charset="-122"/>
                <a:cs typeface="Calibri" pitchFamily="34" charset="-120"/>
              </a:rPr>
              <a:t>One-to-Many Emails: </a:t>
            </a:r>
            <a:pPr indent="0" marL="0">
              <a:spcAft>
                <a:spcPts val="500"/>
              </a:spcAft>
              <a:buNone/>
            </a:pPr>
            <a:r>
              <a:rPr lang="en-US" sz="1250" dirty="0">
                <a:solidFill>
                  <a:srgbClr val="1B2A21"/>
                </a:solidFill>
                <a:latin typeface="Calibri" pitchFamily="34" charset="0"/>
                <a:ea typeface="Calibri" pitchFamily="34" charset="-122"/>
                <a:cs typeface="Calibri" pitchFamily="34" charset="-120"/>
              </a:rPr>
              <a:t>cold-email campaigns that bring in trial users</a:t>
            </a:r>
            <a:endParaRPr lang="en-US" sz="1250" dirty="0"/>
          </a:p>
          <a:p>
            <a:pPr marL="190500" indent="-190500">
              <a:spcAft>
                <a:spcPts val="500"/>
              </a:spcAft>
              <a:buSzPct val="100000"/>
              <a:buChar char="•"/>
            </a:pPr>
            <a:r>
              <a:rPr lang="en-US" sz="1250" b="1" dirty="0">
                <a:solidFill>
                  <a:srgbClr val="1B2A21"/>
                </a:solidFill>
                <a:latin typeface="Calibri" pitchFamily="34" charset="0"/>
                <a:ea typeface="Calibri" pitchFamily="34" charset="-122"/>
                <a:cs typeface="Calibri" pitchFamily="34" charset="-120"/>
              </a:rPr>
              <a:t>One-to-Many Social &amp; Ads: </a:t>
            </a:r>
            <a:pPr indent="0" marL="0">
              <a:spcAft>
                <a:spcPts val="500"/>
              </a:spcAft>
              <a:buNone/>
            </a:pPr>
            <a:r>
              <a:rPr lang="en-US" sz="1250" dirty="0">
                <a:solidFill>
                  <a:srgbClr val="1B2A21"/>
                </a:solidFill>
                <a:latin typeface="Calibri" pitchFamily="34" charset="0"/>
                <a:ea typeface="Calibri" pitchFamily="34" charset="-122"/>
                <a:cs typeface="Calibri" pitchFamily="34" charset="-120"/>
              </a:rPr>
              <a:t>social posts and ad copy</a:t>
            </a:r>
            <a:endParaRPr lang="en-US" sz="1250" dirty="0"/>
          </a:p>
          <a:p>
            <a:pPr marL="190500" indent="-190500">
              <a:spcAft>
                <a:spcPts val="500"/>
              </a:spcAft>
              <a:buSzPct val="100000"/>
              <a:buChar char="•"/>
            </a:pPr>
            <a:r>
              <a:rPr lang="en-US" sz="1250" b="1" dirty="0">
                <a:solidFill>
                  <a:srgbClr val="1B2A21"/>
                </a:solidFill>
                <a:latin typeface="Calibri" pitchFamily="34" charset="0"/>
                <a:ea typeface="Calibri" pitchFamily="34" charset="-122"/>
                <a:cs typeface="Calibri" pitchFamily="34" charset="-120"/>
              </a:rPr>
              <a:t>One-to-Many Presentations: </a:t>
            </a:r>
            <a:pPr indent="0" marL="0">
              <a:spcAft>
                <a:spcPts val="500"/>
              </a:spcAft>
              <a:buNone/>
            </a:pPr>
            <a:r>
              <a:rPr lang="en-US" sz="1250" dirty="0">
                <a:solidFill>
                  <a:srgbClr val="1B2A21"/>
                </a:solidFill>
                <a:latin typeface="Calibri" pitchFamily="34" charset="0"/>
                <a:ea typeface="Calibri" pitchFamily="34" charset="-122"/>
                <a:cs typeface="Calibri" pitchFamily="34" charset="-120"/>
              </a:rPr>
              <a:t>presentations that sell to many people at once</a:t>
            </a:r>
            <a:endParaRPr lang="en-US" sz="1250" dirty="0"/>
          </a:p>
        </p:txBody>
      </p:sp>
      <p:sp>
        <p:nvSpPr>
          <p:cNvPr id="13" name="Text 11"/>
          <p:cNvSpPr txBox="1"/>
          <p:nvPr/>
        </p:nvSpPr>
        <p:spPr>
          <a:xfrm>
            <a:off x="4572000" y="4297680"/>
            <a:ext cx="4114800" cy="292608"/>
          </a:xfrm>
          <a:prstGeom prst="rect">
            <a:avLst/>
          </a:prstGeom>
          <a:noFill/>
          <a:ln/>
        </p:spPr>
        <p:txBody>
          <a:bodyPr wrap="square" lIns="0" tIns="0" rIns="0" bIns="0" rtlCol="0" anchor="t"/>
          <a:lstStyle/>
          <a:p>
            <a:pPr indent="0" marL="0">
              <a:buNone/>
            </a:pPr>
            <a:r>
              <a:rPr lang="en-US" sz="1250" i="1" dirty="0">
                <a:solidFill>
                  <a:srgbClr val="143D28"/>
                </a:solidFill>
                <a:latin typeface="Calibri" pitchFamily="34" charset="0"/>
                <a:ea typeface="Calibri" pitchFamily="34" charset="-122"/>
                <a:cs typeface="Calibri" pitchFamily="34" charset="-120"/>
              </a:rPr>
              <a:t>All of it is written from the Brain, in the owner's voice.</a:t>
            </a:r>
            <a:endParaRPr lang="en-US" sz="1250" dirty="0"/>
          </a:p>
        </p:txBody>
      </p:sp>
      <p:sp>
        <p:nvSpPr>
          <p:cNvPr id="15" name="Text 12"/>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16" name="Text 13"/>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25 / 29</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3D28"/>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Solution &amp; Product  ·  Why AppForge matters</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F4EBD5"/>
                </a:solidFill>
                <a:latin typeface="Cambria" pitchFamily="34" charset="0"/>
                <a:ea typeface="Cambria" pitchFamily="34" charset="-122"/>
                <a:cs typeface="Cambria" pitchFamily="34" charset="-120"/>
              </a:rPr>
              <a:t>Why AppForge matters to investors</a:t>
            </a:r>
            <a:endParaRPr lang="en-US" sz="2600" dirty="0"/>
          </a:p>
        </p:txBody>
      </p:sp>
      <p:sp>
        <p:nvSpPr>
          <p:cNvPr id="4" name="Shape 2"/>
          <p:cNvSpPr/>
          <p:nvPr/>
        </p:nvSpPr>
        <p:spPr>
          <a:xfrm>
            <a:off x="457200" y="1371600"/>
            <a:ext cx="4023360" cy="1051560"/>
          </a:xfrm>
          <a:prstGeom prst="roundRect">
            <a:avLst>
              <a:gd name="adj" fmla="val 6957"/>
            </a:avLst>
          </a:prstGeom>
          <a:solidFill>
            <a:srgbClr val="1E5238"/>
          </a:solidFill>
          <a:ln w="12700">
            <a:solidFill>
              <a:srgbClr val="1E5238"/>
            </a:solidFill>
            <a:prstDash val="solid"/>
          </a:ln>
        </p:spPr>
      </p:sp>
      <p:sp>
        <p:nvSpPr>
          <p:cNvPr id="5" name="Shape 3"/>
          <p:cNvSpPr/>
          <p:nvPr/>
        </p:nvSpPr>
        <p:spPr>
          <a:xfrm>
            <a:off x="658368" y="1618488"/>
            <a:ext cx="548640" cy="548640"/>
          </a:xfrm>
          <a:prstGeom prst="ellipse">
            <a:avLst/>
          </a:prstGeom>
          <a:solidFill>
            <a:srgbClr val="1E5238"/>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801014" y="1761134"/>
            <a:ext cx="263347" cy="263347"/>
          </a:xfrm>
          <a:prstGeom prst="rect">
            <a:avLst/>
          </a:prstGeom>
        </p:spPr>
      </p:pic>
      <p:sp>
        <p:nvSpPr>
          <p:cNvPr id="7" name="Text 4"/>
          <p:cNvSpPr txBox="1"/>
          <p:nvPr/>
        </p:nvSpPr>
        <p:spPr>
          <a:xfrm>
            <a:off x="1371600" y="1536192"/>
            <a:ext cx="29718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Less guesswork</a:t>
            </a:r>
            <a:endParaRPr lang="en-US" sz="1600" dirty="0"/>
          </a:p>
        </p:txBody>
      </p:sp>
      <p:sp>
        <p:nvSpPr>
          <p:cNvPr id="8" name="Text 5"/>
          <p:cNvSpPr txBox="1"/>
          <p:nvPr/>
        </p:nvSpPr>
        <p:spPr>
          <a:xfrm>
            <a:off x="1371600" y="1847088"/>
            <a:ext cx="2971800" cy="548640"/>
          </a:xfrm>
          <a:prstGeom prst="rect">
            <a:avLst/>
          </a:prstGeom>
          <a:noFill/>
          <a:ln/>
        </p:spPr>
        <p:txBody>
          <a:bodyPr wrap="square" lIns="0" tIns="0" rIns="0" bIns="0" rtlCol="0" anchor="t"/>
          <a:lstStyle/>
          <a:p>
            <a:pPr indent="0" marL="0">
              <a:buNone/>
            </a:pPr>
            <a:r>
              <a:rPr lang="en-US" sz="1300" dirty="0">
                <a:solidFill>
                  <a:srgbClr val="B7CDB6"/>
                </a:solidFill>
                <a:latin typeface="Calibri" pitchFamily="34" charset="0"/>
                <a:ea typeface="Calibri" pitchFamily="34" charset="-122"/>
                <a:cs typeface="Calibri" pitchFamily="34" charset="-120"/>
              </a:rPr>
              <a:t>Every new app starts from proven demand and a viability score.</a:t>
            </a:r>
            <a:endParaRPr lang="en-US" sz="1300" dirty="0"/>
          </a:p>
        </p:txBody>
      </p:sp>
      <p:sp>
        <p:nvSpPr>
          <p:cNvPr id="9" name="Shape 6"/>
          <p:cNvSpPr/>
          <p:nvPr/>
        </p:nvSpPr>
        <p:spPr>
          <a:xfrm>
            <a:off x="4663440" y="1371600"/>
            <a:ext cx="4023360" cy="1051560"/>
          </a:xfrm>
          <a:prstGeom prst="roundRect">
            <a:avLst>
              <a:gd name="adj" fmla="val 6957"/>
            </a:avLst>
          </a:prstGeom>
          <a:solidFill>
            <a:srgbClr val="1E5238"/>
          </a:solidFill>
          <a:ln w="12700">
            <a:solidFill>
              <a:srgbClr val="1E5238"/>
            </a:solidFill>
            <a:prstDash val="solid"/>
          </a:ln>
        </p:spPr>
      </p:sp>
      <p:sp>
        <p:nvSpPr>
          <p:cNvPr id="10" name="Shape 7"/>
          <p:cNvSpPr/>
          <p:nvPr/>
        </p:nvSpPr>
        <p:spPr>
          <a:xfrm>
            <a:off x="4864608" y="1618488"/>
            <a:ext cx="548640" cy="548640"/>
          </a:xfrm>
          <a:prstGeom prst="ellipse">
            <a:avLst/>
          </a:prstGeom>
          <a:solidFill>
            <a:srgbClr val="1E5238"/>
          </a:solidFill>
          <a:ln w="19050">
            <a:solidFill>
              <a:srgbClr val="D98B3C"/>
            </a:solidFill>
            <a:prstDash val="solid"/>
          </a:ln>
        </p:spPr>
      </p:sp>
      <p:pic>
        <p:nvPicPr>
          <p:cNvPr id="11" name="Image 1" descr="preencoded.png">    </p:cNvPr>
          <p:cNvPicPr>
            <a:picLocks noChangeAspect="1"/>
          </p:cNvPicPr>
          <p:nvPr/>
        </p:nvPicPr>
        <p:blipFill>
          <a:blip r:embed="rId2"/>
          <a:stretch>
            <a:fillRect/>
          </a:stretch>
        </p:blipFill>
        <p:spPr>
          <a:xfrm>
            <a:off x="5007254" y="1761134"/>
            <a:ext cx="263347" cy="263347"/>
          </a:xfrm>
          <a:prstGeom prst="rect">
            <a:avLst/>
          </a:prstGeom>
        </p:spPr>
      </p:pic>
      <p:sp>
        <p:nvSpPr>
          <p:cNvPr id="12" name="Text 8"/>
          <p:cNvSpPr txBox="1"/>
          <p:nvPr/>
        </p:nvSpPr>
        <p:spPr>
          <a:xfrm>
            <a:off x="5577840" y="1536192"/>
            <a:ext cx="29718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Faster launches</a:t>
            </a:r>
            <a:endParaRPr lang="en-US" sz="1600" dirty="0"/>
          </a:p>
        </p:txBody>
      </p:sp>
      <p:sp>
        <p:nvSpPr>
          <p:cNvPr id="13" name="Text 9"/>
          <p:cNvSpPr txBox="1"/>
          <p:nvPr/>
        </p:nvSpPr>
        <p:spPr>
          <a:xfrm>
            <a:off x="5577840" y="1847088"/>
            <a:ext cx="2971800" cy="548640"/>
          </a:xfrm>
          <a:prstGeom prst="rect">
            <a:avLst/>
          </a:prstGeom>
          <a:noFill/>
          <a:ln/>
        </p:spPr>
        <p:txBody>
          <a:bodyPr wrap="square" lIns="0" tIns="0" rIns="0" bIns="0" rtlCol="0" anchor="t"/>
          <a:lstStyle/>
          <a:p>
            <a:pPr indent="0" marL="0">
              <a:buNone/>
            </a:pPr>
            <a:r>
              <a:rPr lang="en-US" sz="1300" dirty="0">
                <a:solidFill>
                  <a:srgbClr val="B7CDB6"/>
                </a:solidFill>
                <a:latin typeface="Calibri" pitchFamily="34" charset="0"/>
                <a:ea typeface="Calibri" pitchFamily="34" charset="-122"/>
                <a:cs typeface="Calibri" pitchFamily="34" charset="-120"/>
              </a:rPr>
              <a:t>AppForge writes the code, so a new app takes far less time to build.</a:t>
            </a:r>
            <a:endParaRPr lang="en-US" sz="1300" dirty="0"/>
          </a:p>
        </p:txBody>
      </p:sp>
      <p:sp>
        <p:nvSpPr>
          <p:cNvPr id="14" name="Shape 10"/>
          <p:cNvSpPr/>
          <p:nvPr/>
        </p:nvSpPr>
        <p:spPr>
          <a:xfrm>
            <a:off x="457200" y="2560320"/>
            <a:ext cx="4023360" cy="1051560"/>
          </a:xfrm>
          <a:prstGeom prst="roundRect">
            <a:avLst>
              <a:gd name="adj" fmla="val 6957"/>
            </a:avLst>
          </a:prstGeom>
          <a:solidFill>
            <a:srgbClr val="1E5238"/>
          </a:solidFill>
          <a:ln w="12700">
            <a:solidFill>
              <a:srgbClr val="1E5238"/>
            </a:solidFill>
            <a:prstDash val="solid"/>
          </a:ln>
        </p:spPr>
      </p:sp>
      <p:sp>
        <p:nvSpPr>
          <p:cNvPr id="15" name="Shape 11"/>
          <p:cNvSpPr/>
          <p:nvPr/>
        </p:nvSpPr>
        <p:spPr>
          <a:xfrm>
            <a:off x="658368" y="2807208"/>
            <a:ext cx="548640" cy="548640"/>
          </a:xfrm>
          <a:prstGeom prst="ellipse">
            <a:avLst/>
          </a:prstGeom>
          <a:solidFill>
            <a:srgbClr val="1E5238"/>
          </a:solidFill>
          <a:ln w="19050">
            <a:solidFill>
              <a:srgbClr val="D98B3C"/>
            </a:solidFill>
            <a:prstDash val="solid"/>
          </a:ln>
        </p:spPr>
      </p:sp>
      <p:pic>
        <p:nvPicPr>
          <p:cNvPr id="16" name="Image 2" descr="preencoded.png">    </p:cNvPr>
          <p:cNvPicPr>
            <a:picLocks noChangeAspect="1"/>
          </p:cNvPicPr>
          <p:nvPr/>
        </p:nvPicPr>
        <p:blipFill>
          <a:blip r:embed="rId3"/>
          <a:stretch>
            <a:fillRect/>
          </a:stretch>
        </p:blipFill>
        <p:spPr>
          <a:xfrm>
            <a:off x="801014" y="2949854"/>
            <a:ext cx="263347" cy="263347"/>
          </a:xfrm>
          <a:prstGeom prst="rect">
            <a:avLst/>
          </a:prstGeom>
        </p:spPr>
      </p:pic>
      <p:sp>
        <p:nvSpPr>
          <p:cNvPr id="17" name="Text 12"/>
          <p:cNvSpPr txBox="1"/>
          <p:nvPr/>
        </p:nvSpPr>
        <p:spPr>
          <a:xfrm>
            <a:off x="1371600" y="2724912"/>
            <a:ext cx="29718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Lower cost per app</a:t>
            </a:r>
            <a:endParaRPr lang="en-US" sz="1600" dirty="0"/>
          </a:p>
        </p:txBody>
      </p:sp>
      <p:sp>
        <p:nvSpPr>
          <p:cNvPr id="18" name="Text 13"/>
          <p:cNvSpPr txBox="1"/>
          <p:nvPr/>
        </p:nvSpPr>
        <p:spPr>
          <a:xfrm>
            <a:off x="1371600" y="3035808"/>
            <a:ext cx="2971800" cy="548640"/>
          </a:xfrm>
          <a:prstGeom prst="rect">
            <a:avLst/>
          </a:prstGeom>
          <a:noFill/>
          <a:ln/>
        </p:spPr>
        <p:txBody>
          <a:bodyPr wrap="square" lIns="0" tIns="0" rIns="0" bIns="0" rtlCol="0" anchor="t"/>
          <a:lstStyle/>
          <a:p>
            <a:pPr indent="0" marL="0">
              <a:buNone/>
            </a:pPr>
            <a:r>
              <a:rPr lang="en-US" sz="1300" dirty="0">
                <a:solidFill>
                  <a:srgbClr val="B7CDB6"/>
                </a:solidFill>
                <a:latin typeface="Calibri" pitchFamily="34" charset="0"/>
                <a:ea typeface="Calibri" pitchFamily="34" charset="-122"/>
                <a:cs typeface="Calibri" pitchFamily="34" charset="-120"/>
              </a:rPr>
              <a:t>Shared code, AI stack and Business HQ keep each app's cost low.</a:t>
            </a:r>
            <a:endParaRPr lang="en-US" sz="1300" dirty="0"/>
          </a:p>
        </p:txBody>
      </p:sp>
      <p:sp>
        <p:nvSpPr>
          <p:cNvPr id="19" name="Shape 14"/>
          <p:cNvSpPr/>
          <p:nvPr/>
        </p:nvSpPr>
        <p:spPr>
          <a:xfrm>
            <a:off x="4663440" y="2560320"/>
            <a:ext cx="4023360" cy="1051560"/>
          </a:xfrm>
          <a:prstGeom prst="roundRect">
            <a:avLst>
              <a:gd name="adj" fmla="val 6957"/>
            </a:avLst>
          </a:prstGeom>
          <a:solidFill>
            <a:srgbClr val="1E5238"/>
          </a:solidFill>
          <a:ln w="12700">
            <a:solidFill>
              <a:srgbClr val="1E5238"/>
            </a:solidFill>
            <a:prstDash val="solid"/>
          </a:ln>
        </p:spPr>
      </p:sp>
      <p:sp>
        <p:nvSpPr>
          <p:cNvPr id="20" name="Shape 15"/>
          <p:cNvSpPr/>
          <p:nvPr/>
        </p:nvSpPr>
        <p:spPr>
          <a:xfrm>
            <a:off x="4864608" y="2807208"/>
            <a:ext cx="548640" cy="548640"/>
          </a:xfrm>
          <a:prstGeom prst="ellipse">
            <a:avLst/>
          </a:prstGeom>
          <a:solidFill>
            <a:srgbClr val="1E5238"/>
          </a:solidFill>
          <a:ln w="19050">
            <a:solidFill>
              <a:srgbClr val="D98B3C"/>
            </a:solidFill>
            <a:prstDash val="solid"/>
          </a:ln>
        </p:spPr>
      </p:sp>
      <p:pic>
        <p:nvPicPr>
          <p:cNvPr id="21" name="Image 3" descr="preencoded.png">    </p:cNvPr>
          <p:cNvPicPr>
            <a:picLocks noChangeAspect="1"/>
          </p:cNvPicPr>
          <p:nvPr/>
        </p:nvPicPr>
        <p:blipFill>
          <a:blip r:embed="rId4"/>
          <a:stretch>
            <a:fillRect/>
          </a:stretch>
        </p:blipFill>
        <p:spPr>
          <a:xfrm>
            <a:off x="5007254" y="2949854"/>
            <a:ext cx="263347" cy="263347"/>
          </a:xfrm>
          <a:prstGeom prst="rect">
            <a:avLst/>
          </a:prstGeom>
        </p:spPr>
      </p:pic>
      <p:sp>
        <p:nvSpPr>
          <p:cNvPr id="22" name="Text 16"/>
          <p:cNvSpPr txBox="1"/>
          <p:nvPr/>
        </p:nvSpPr>
        <p:spPr>
          <a:xfrm>
            <a:off x="5577840" y="2724912"/>
            <a:ext cx="2971800" cy="292608"/>
          </a:xfrm>
          <a:prstGeom prst="rect">
            <a:avLst/>
          </a:prstGeom>
          <a:noFill/>
          <a:ln/>
        </p:spPr>
        <p:txBody>
          <a:bodyPr wrap="square" lIns="0" tIns="0" rIns="0" bIns="0" rtlCol="0" anchor="t"/>
          <a:lstStyle/>
          <a:p>
            <a:pPr indent="0" marL="0">
              <a:buNone/>
            </a:pPr>
            <a:r>
              <a:rPr lang="en-US" sz="1600" b="1" dirty="0">
                <a:solidFill>
                  <a:srgbClr val="F4EBD5"/>
                </a:solidFill>
                <a:latin typeface="Calibri" pitchFamily="34" charset="0"/>
                <a:ea typeface="Calibri" pitchFamily="34" charset="-122"/>
                <a:cs typeface="Calibri" pitchFamily="34" charset="-120"/>
              </a:rPr>
              <a:t>Marketing from day one</a:t>
            </a:r>
            <a:endParaRPr lang="en-US" sz="1600" dirty="0"/>
          </a:p>
        </p:txBody>
      </p:sp>
      <p:sp>
        <p:nvSpPr>
          <p:cNvPr id="23" name="Text 17"/>
          <p:cNvSpPr txBox="1"/>
          <p:nvPr/>
        </p:nvSpPr>
        <p:spPr>
          <a:xfrm>
            <a:off x="5577840" y="3035808"/>
            <a:ext cx="2971800" cy="548640"/>
          </a:xfrm>
          <a:prstGeom prst="rect">
            <a:avLst/>
          </a:prstGeom>
          <a:noFill/>
          <a:ln/>
        </p:spPr>
        <p:txBody>
          <a:bodyPr wrap="square" lIns="0" tIns="0" rIns="0" bIns="0" rtlCol="0" anchor="t"/>
          <a:lstStyle/>
          <a:p>
            <a:pPr indent="0" marL="0">
              <a:buNone/>
            </a:pPr>
            <a:r>
              <a:rPr lang="en-US" sz="1300" dirty="0">
                <a:solidFill>
                  <a:srgbClr val="B7CDB6"/>
                </a:solidFill>
                <a:latin typeface="Calibri" pitchFamily="34" charset="0"/>
                <a:ea typeface="Calibri" pitchFamily="34" charset="-122"/>
                <a:cs typeface="Calibri" pitchFamily="34" charset="-120"/>
              </a:rPr>
              <a:t>Every app launches with its funnel, emails and ads ready.</a:t>
            </a:r>
            <a:endParaRPr lang="en-US" sz="1300" dirty="0"/>
          </a:p>
        </p:txBody>
      </p:sp>
      <p:sp>
        <p:nvSpPr>
          <p:cNvPr id="24" name="Text 18"/>
          <p:cNvSpPr txBox="1"/>
          <p:nvPr/>
        </p:nvSpPr>
        <p:spPr>
          <a:xfrm>
            <a:off x="457200" y="3840480"/>
            <a:ext cx="8229600" cy="685800"/>
          </a:xfrm>
          <a:prstGeom prst="rect">
            <a:avLst/>
          </a:prstGeom>
          <a:noFill/>
          <a:ln/>
        </p:spPr>
        <p:txBody>
          <a:bodyPr wrap="square" lIns="0" tIns="0" rIns="0" bIns="0" rtlCol="0" anchor="t"/>
          <a:lstStyle/>
          <a:p>
            <a:pPr indent="0" marL="0">
              <a:buNone/>
            </a:pPr>
            <a:r>
              <a:rPr lang="en-US" sz="1350" i="1" dirty="0">
                <a:solidFill>
                  <a:srgbClr val="F4EBD5"/>
                </a:solidFill>
                <a:latin typeface="Cambria" pitchFamily="34" charset="0"/>
                <a:ea typeface="Cambria" pitchFamily="34" charset="-122"/>
                <a:cs typeface="Cambria" pitchFamily="34" charset="-120"/>
              </a:rPr>
              <a:t>PastorAI and Ready Room were built before AppForge, and the lessons from building them went into it. Apps 3–10 will be the first built with AppForge.</a:t>
            </a:r>
            <a:endParaRPr lang="en-US" sz="1350" dirty="0"/>
          </a:p>
        </p:txBody>
      </p:sp>
      <p:sp>
        <p:nvSpPr>
          <p:cNvPr id="26" name="Text 19"/>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B7CDB6"/>
                </a:solidFill>
                <a:latin typeface="Calibri" pitchFamily="34" charset="0"/>
                <a:ea typeface="Calibri" pitchFamily="34" charset="-122"/>
                <a:cs typeface="Calibri" pitchFamily="34" charset="-120"/>
              </a:rPr>
              <a:t>Cedarworks Apps  ·  Confidential</a:t>
            </a:r>
            <a:endParaRPr lang="en-US" sz="900" dirty="0"/>
          </a:p>
        </p:txBody>
      </p:sp>
      <p:sp>
        <p:nvSpPr>
          <p:cNvPr id="27" name="Text 20"/>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B7CDB6"/>
                </a:solidFill>
                <a:latin typeface="Calibri" pitchFamily="34" charset="0"/>
                <a:ea typeface="Calibri" pitchFamily="34" charset="-122"/>
                <a:cs typeface="Calibri" pitchFamily="34" charset="-120"/>
              </a:rPr>
              <a:t>26 / 29</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Market Opportunity  ·  Why now &amp; customer segments</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Why the timing is right</a:t>
            </a:r>
            <a:endParaRPr lang="en-US" sz="2600" dirty="0"/>
          </a:p>
        </p:txBody>
      </p:sp>
      <p:sp>
        <p:nvSpPr>
          <p:cNvPr id="4" name="Shape 2"/>
          <p:cNvSpPr/>
          <p:nvPr/>
        </p:nvSpPr>
        <p:spPr>
          <a:xfrm>
            <a:off x="457200" y="1371600"/>
            <a:ext cx="2606040" cy="2194560"/>
          </a:xfrm>
          <a:prstGeom prst="roundRect">
            <a:avLst>
              <a:gd name="adj" fmla="val 3333"/>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85800" y="1536192"/>
            <a:ext cx="502920" cy="502920"/>
          </a:xfrm>
          <a:prstGeom prst="ellipse">
            <a:avLst/>
          </a:prstGeom>
          <a:solidFill>
            <a:srgbClr val="FFFFFF"/>
          </a:solidFill>
          <a:ln w="19050">
            <a:solidFill>
              <a:srgbClr val="D98B3C"/>
            </a:solidFill>
            <a:prstDash val="solid"/>
          </a:ln>
        </p:spPr>
      </p:sp>
      <p:pic>
        <p:nvPicPr>
          <p:cNvPr id="6" name="Image 0" descr="preencoded.png">    </p:cNvPr>
          <p:cNvPicPr>
            <a:picLocks noChangeAspect="1"/>
          </p:cNvPicPr>
          <p:nvPr/>
        </p:nvPicPr>
        <p:blipFill>
          <a:blip r:embed="rId1"/>
          <a:stretch>
            <a:fillRect/>
          </a:stretch>
        </p:blipFill>
        <p:spPr>
          <a:xfrm>
            <a:off x="816559" y="1666951"/>
            <a:ext cx="241402" cy="241402"/>
          </a:xfrm>
          <a:prstGeom prst="rect">
            <a:avLst/>
          </a:prstGeom>
        </p:spPr>
      </p:pic>
      <p:sp>
        <p:nvSpPr>
          <p:cNvPr id="7" name="Text 4"/>
          <p:cNvSpPr txBox="1"/>
          <p:nvPr/>
        </p:nvSpPr>
        <p:spPr>
          <a:xfrm>
            <a:off x="685800" y="2148840"/>
            <a:ext cx="2194560" cy="292608"/>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AI got affordable</a:t>
            </a:r>
            <a:endParaRPr lang="en-US" sz="1500" dirty="0"/>
          </a:p>
        </p:txBody>
      </p:sp>
      <p:sp>
        <p:nvSpPr>
          <p:cNvPr id="8" name="Text 5"/>
          <p:cNvSpPr txBox="1"/>
          <p:nvPr/>
        </p:nvSpPr>
        <p:spPr>
          <a:xfrm>
            <a:off x="685800" y="2468880"/>
            <a:ext cx="2194560" cy="105156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The cost of running language and voice AI has fallen sharply since 2023, so $29–$47/month apps can earn healthy margins.</a:t>
            </a:r>
            <a:endParaRPr lang="en-US" sz="1250" dirty="0"/>
          </a:p>
        </p:txBody>
      </p:sp>
      <p:sp>
        <p:nvSpPr>
          <p:cNvPr id="9" name="Shape 6"/>
          <p:cNvSpPr/>
          <p:nvPr/>
        </p:nvSpPr>
        <p:spPr>
          <a:xfrm>
            <a:off x="3264408" y="1371600"/>
            <a:ext cx="2606040" cy="2194560"/>
          </a:xfrm>
          <a:prstGeom prst="roundRect">
            <a:avLst>
              <a:gd name="adj" fmla="val 3333"/>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3493008" y="1536192"/>
            <a:ext cx="502920" cy="502920"/>
          </a:xfrm>
          <a:prstGeom prst="ellipse">
            <a:avLst/>
          </a:prstGeom>
          <a:solidFill>
            <a:srgbClr val="FFFFFF"/>
          </a:solidFill>
          <a:ln w="19050">
            <a:solidFill>
              <a:srgbClr val="D98B3C"/>
            </a:solidFill>
            <a:prstDash val="solid"/>
          </a:ln>
        </p:spPr>
      </p:sp>
      <p:pic>
        <p:nvPicPr>
          <p:cNvPr id="11" name="Image 1" descr="preencoded.png">    </p:cNvPr>
          <p:cNvPicPr>
            <a:picLocks noChangeAspect="1"/>
          </p:cNvPicPr>
          <p:nvPr/>
        </p:nvPicPr>
        <p:blipFill>
          <a:blip r:embed="rId2"/>
          <a:stretch>
            <a:fillRect/>
          </a:stretch>
        </p:blipFill>
        <p:spPr>
          <a:xfrm>
            <a:off x="3623767" y="1666951"/>
            <a:ext cx="241402" cy="241402"/>
          </a:xfrm>
          <a:prstGeom prst="rect">
            <a:avLst/>
          </a:prstGeom>
        </p:spPr>
      </p:pic>
      <p:sp>
        <p:nvSpPr>
          <p:cNvPr id="12" name="Text 8"/>
          <p:cNvSpPr txBox="1"/>
          <p:nvPr/>
        </p:nvSpPr>
        <p:spPr>
          <a:xfrm>
            <a:off x="3493008" y="2148840"/>
            <a:ext cx="2194560" cy="292608"/>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People expect AI help</a:t>
            </a:r>
            <a:endParaRPr lang="en-US" sz="1500" dirty="0"/>
          </a:p>
        </p:txBody>
      </p:sp>
      <p:sp>
        <p:nvSpPr>
          <p:cNvPr id="13" name="Text 9"/>
          <p:cNvSpPr txBox="1"/>
          <p:nvPr/>
        </p:nvSpPr>
        <p:spPr>
          <a:xfrm>
            <a:off x="3493008" y="2468880"/>
            <a:ext cx="2194560" cy="105156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Most professionals have tried AI chat and found it doesn't fit their daily work. Focused apps fill that gap.</a:t>
            </a:r>
            <a:endParaRPr lang="en-US" sz="1250" dirty="0"/>
          </a:p>
        </p:txBody>
      </p:sp>
      <p:sp>
        <p:nvSpPr>
          <p:cNvPr id="14" name="Shape 10"/>
          <p:cNvSpPr/>
          <p:nvPr/>
        </p:nvSpPr>
        <p:spPr>
          <a:xfrm>
            <a:off x="6071616" y="1371600"/>
            <a:ext cx="2606040" cy="2194560"/>
          </a:xfrm>
          <a:prstGeom prst="roundRect">
            <a:avLst>
              <a:gd name="adj" fmla="val 3333"/>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5" name="Shape 11"/>
          <p:cNvSpPr/>
          <p:nvPr/>
        </p:nvSpPr>
        <p:spPr>
          <a:xfrm>
            <a:off x="6300216" y="1536192"/>
            <a:ext cx="502920" cy="502920"/>
          </a:xfrm>
          <a:prstGeom prst="ellipse">
            <a:avLst/>
          </a:prstGeom>
          <a:solidFill>
            <a:srgbClr val="FFFFFF"/>
          </a:solidFill>
          <a:ln w="19050">
            <a:solidFill>
              <a:srgbClr val="D98B3C"/>
            </a:solidFill>
            <a:prstDash val="solid"/>
          </a:ln>
        </p:spPr>
      </p:sp>
      <p:pic>
        <p:nvPicPr>
          <p:cNvPr id="16" name="Image 2" descr="preencoded.png">    </p:cNvPr>
          <p:cNvPicPr>
            <a:picLocks noChangeAspect="1"/>
          </p:cNvPicPr>
          <p:nvPr/>
        </p:nvPicPr>
        <p:blipFill>
          <a:blip r:embed="rId3"/>
          <a:stretch>
            <a:fillRect/>
          </a:stretch>
        </p:blipFill>
        <p:spPr>
          <a:xfrm>
            <a:off x="6430975" y="1666951"/>
            <a:ext cx="241402" cy="241402"/>
          </a:xfrm>
          <a:prstGeom prst="rect">
            <a:avLst/>
          </a:prstGeom>
        </p:spPr>
      </p:pic>
      <p:sp>
        <p:nvSpPr>
          <p:cNvPr id="17" name="Text 12"/>
          <p:cNvSpPr txBox="1"/>
          <p:nvPr/>
        </p:nvSpPr>
        <p:spPr>
          <a:xfrm>
            <a:off x="6300216" y="2148840"/>
            <a:ext cx="2194560" cy="292608"/>
          </a:xfrm>
          <a:prstGeom prst="rect">
            <a:avLst/>
          </a:prstGeom>
          <a:noFill/>
          <a:ln/>
        </p:spPr>
        <p:txBody>
          <a:bodyPr wrap="square" lIns="0" tIns="0" rIns="0" bIns="0" rtlCol="0" anchor="t"/>
          <a:lstStyle/>
          <a:p>
            <a:pPr indent="0" marL="0">
              <a:buNone/>
            </a:pPr>
            <a:r>
              <a:rPr lang="en-US" sz="1500" b="1" dirty="0">
                <a:solidFill>
                  <a:srgbClr val="143D28"/>
                </a:solidFill>
                <a:latin typeface="Cambria" pitchFamily="34" charset="0"/>
                <a:ea typeface="Cambria" pitchFamily="34" charset="-122"/>
                <a:cs typeface="Cambria" pitchFamily="34" charset="-120"/>
              </a:rPr>
              <a:t>Small teams can ship fast</a:t>
            </a:r>
            <a:endParaRPr lang="en-US" sz="1500" dirty="0"/>
          </a:p>
        </p:txBody>
      </p:sp>
      <p:sp>
        <p:nvSpPr>
          <p:cNvPr id="18" name="Text 13"/>
          <p:cNvSpPr txBox="1"/>
          <p:nvPr/>
        </p:nvSpPr>
        <p:spPr>
          <a:xfrm>
            <a:off x="6300216" y="2468880"/>
            <a:ext cx="2194560" cy="1051560"/>
          </a:xfrm>
          <a:prstGeom prst="rect">
            <a:avLst/>
          </a:prstGeom>
          <a:noFill/>
          <a:ln/>
        </p:spPr>
        <p:txBody>
          <a:bodyPr wrap="square" lIns="0" tIns="0" rIns="0" bIns="0" rtlCol="0" anchor="t"/>
          <a:lstStyle/>
          <a:p>
            <a:pPr indent="0" marL="0">
              <a:buNone/>
            </a:pPr>
            <a:r>
              <a:rPr lang="en-US" sz="1250" dirty="0">
                <a:solidFill>
                  <a:srgbClr val="4E5D53"/>
                </a:solidFill>
                <a:latin typeface="Calibri" pitchFamily="34" charset="0"/>
                <a:ea typeface="Calibri" pitchFamily="34" charset="-122"/>
                <a:cs typeface="Calibri" pitchFamily="34" charset="-120"/>
              </a:rPr>
              <a:t>App stores handle distribution and billing, and AppForge lets one team launch app after app.</a:t>
            </a:r>
            <a:endParaRPr lang="en-US" sz="1250" dirty="0"/>
          </a:p>
        </p:txBody>
      </p:sp>
      <p:sp>
        <p:nvSpPr>
          <p:cNvPr id="19" name="Shape 14"/>
          <p:cNvSpPr/>
          <p:nvPr/>
        </p:nvSpPr>
        <p:spPr>
          <a:xfrm>
            <a:off x="457200" y="3730752"/>
            <a:ext cx="8229600" cy="886968"/>
          </a:xfrm>
          <a:prstGeom prst="roundRect">
            <a:avLst>
              <a:gd name="adj" fmla="val 8247"/>
            </a:avLst>
          </a:prstGeom>
          <a:solidFill>
            <a:srgbClr val="ECE1C7"/>
          </a:solidFill>
          <a:ln w="12700">
            <a:solidFill>
              <a:srgbClr val="ECE1C7"/>
            </a:solidFill>
            <a:prstDash val="solid"/>
          </a:ln>
        </p:spPr>
      </p:sp>
      <p:sp>
        <p:nvSpPr>
          <p:cNvPr id="20" name="Text 15"/>
          <p:cNvSpPr txBox="1"/>
          <p:nvPr/>
        </p:nvSpPr>
        <p:spPr>
          <a:xfrm>
            <a:off x="685800" y="3785616"/>
            <a:ext cx="7772400" cy="777240"/>
          </a:xfrm>
          <a:prstGeom prst="rect">
            <a:avLst/>
          </a:prstGeom>
          <a:noFill/>
          <a:ln/>
        </p:spPr>
        <p:txBody>
          <a:bodyPr wrap="square" lIns="0" tIns="0" rIns="0" bIns="0" rtlCol="0" anchor="ctr"/>
          <a:lstStyle/>
          <a:p>
            <a:pPr indent="0" marL="0">
              <a:buNone/>
            </a:pPr>
            <a:r>
              <a:rPr lang="en-US" sz="1250" b="1" dirty="0">
                <a:solidFill>
                  <a:srgbClr val="143D28"/>
                </a:solidFill>
                <a:latin typeface="Calibri" pitchFamily="34" charset="0"/>
                <a:ea typeface="Calibri" pitchFamily="34" charset="-122"/>
                <a:cs typeface="Calibri" pitchFamily="34" charset="-120"/>
              </a:rPr>
              <a:t>Who we sell to: </a:t>
            </a:r>
            <a:pPr indent="0" marL="0">
              <a:buNone/>
            </a:pPr>
            <a:r>
              <a:rPr lang="en-US" sz="1250" dirty="0">
                <a:solidFill>
                  <a:srgbClr val="143D28"/>
                </a:solidFill>
                <a:latin typeface="Calibri" pitchFamily="34" charset="0"/>
                <a:ea typeface="Calibri" pitchFamily="34" charset="-122"/>
                <a:cs typeface="Calibri" pitchFamily="34" charset="-120"/>
              </a:rPr>
              <a:t>pastors and staff at small and mid-size churches; individual sales reps and small sales teams; sales managers and church networks buying group plans; and new niches chosen by AppForge.</a:t>
            </a:r>
            <a:endParaRPr lang="en-US" sz="1250" dirty="0"/>
          </a:p>
        </p:txBody>
      </p:sp>
      <p:sp>
        <p:nvSpPr>
          <p:cNvPr id="22" name="Text 16"/>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23" name="Text 17"/>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27 / 29</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  ·  Business Model  ·  Unit economics (what each subscriber is worth)</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Each subscriber is worth ~3× what it costs to win</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120640"/>
                <a:gridCol w="1554480"/>
                <a:gridCol w="1554480"/>
              </a:tblGrid>
              <a:tr h="384048">
                <a:tc>
                  <a:txBody>
                    <a:bodyPr/>
                    <a:lstStyle/>
                    <a:p>
                      <a:pPr algn="l" indent="0" marL="0">
                        <a:buNone/>
                      </a:pPr>
                      <a:r>
                        <a:rPr lang="en-US" sz="1250" b="1" dirty="0">
                          <a:solidFill>
                            <a:srgbClr val="143D28"/>
                          </a:solidFill>
                          <a:latin typeface="Calibri" pitchFamily="34" charset="0"/>
                          <a:ea typeface="Calibri" pitchFamily="34" charset="-122"/>
                          <a:cs typeface="Calibri" pitchFamily="34" charset="-120"/>
                        </a:rPr>
                        <a:t>Per subscriber</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ECE1C7"/>
                    </a:solidFill>
                  </a:tcPr>
                </a:tc>
                <a:tc>
                  <a:txBody>
                    <a:bodyPr/>
                    <a:lstStyle/>
                    <a:p>
                      <a:pPr algn="ctr" indent="0" marL="0">
                        <a:buNone/>
                      </a:pPr>
                      <a:r>
                        <a:rPr lang="en-US" sz="1250" b="1" dirty="0">
                          <a:solidFill>
                            <a:srgbClr val="F4EBD5"/>
                          </a:solidFill>
                          <a:latin typeface="Calibri" pitchFamily="34" charset="0"/>
                          <a:ea typeface="Calibri" pitchFamily="34" charset="-122"/>
                          <a:cs typeface="Calibri" pitchFamily="34" charset="-120"/>
                        </a:rPr>
                        <a:t>PastorAI</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143D28"/>
                    </a:solidFill>
                  </a:tcPr>
                </a:tc>
                <a:tc>
                  <a:txBody>
                    <a:bodyPr/>
                    <a:lstStyle/>
                    <a:p>
                      <a:pPr algn="ctr" indent="0" marL="0">
                        <a:buNone/>
                      </a:pPr>
                      <a:r>
                        <a:rPr lang="en-US" sz="1250" b="1" dirty="0">
                          <a:solidFill>
                            <a:srgbClr val="F4EBD5"/>
                          </a:solidFill>
                          <a:latin typeface="Calibri" pitchFamily="34" charset="0"/>
                          <a:ea typeface="Calibri" pitchFamily="34" charset="-122"/>
                          <a:cs typeface="Calibri" pitchFamily="34" charset="-120"/>
                        </a:rPr>
                        <a:t>Ready Room</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143D28"/>
                    </a:solidFill>
                  </a:tcPr>
                </a:tc>
              </a:tr>
              <a:tr h="38404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Monthly price</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$47</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$29</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What we keep after the 15% app-store fee</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$39.95</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$24.65</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Estimated AI and hosting cost per user</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Gross margin (share of revenue left after those costs)</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~77%</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~68%</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Lifetime value: profit over an average ~20-month subscription</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~$720</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~$390</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Most we'll spend to win one customer (CAC)</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$240</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$130</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B2A21"/>
                          </a:solidFill>
                          <a:latin typeface="Calibri" pitchFamily="34" charset="0"/>
                          <a:ea typeface="Calibri" pitchFamily="34" charset="-122"/>
                          <a:cs typeface="Calibri" pitchFamily="34" charset="-120"/>
                        </a:rPr>
                        <a:t>Months to earn that cost back</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3D28"/>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109728" marR="109728" marT="0" marB="0" anchor="ctr">
                    <a:lnL w="9525" cap="flat" cmpd="sng" algn="ctr">
                      <a:solidFill>
                        <a:srgbClr val="ECE1C7"/>
                      </a:solidFill>
                      <a:prstDash val="solid"/>
                      <a:round/>
                      <a:headEnd type="none" w="med" len="med"/>
                      <a:tailEnd type="none" w="med" len="med"/>
                    </a:lnL>
                    <a:lnR w="9525" cap="flat" cmpd="sng" algn="ctr">
                      <a:solidFill>
                        <a:srgbClr val="ECE1C7"/>
                      </a:solidFill>
                      <a:prstDash val="solid"/>
                      <a:round/>
                      <a:headEnd type="none" w="med" len="med"/>
                      <a:tailEnd type="none" w="med" len="med"/>
                    </a:lnR>
                    <a:lnT w="9525" cap="flat" cmpd="sng" algn="ctr">
                      <a:solidFill>
                        <a:srgbClr val="ECE1C7"/>
                      </a:solidFill>
                      <a:prstDash val="solid"/>
                      <a:round/>
                      <a:headEnd type="none" w="med" len="med"/>
                      <a:tailEnd type="none" w="med" len="med"/>
                    </a:lnT>
                    <a:lnB w="9525" cap="flat" cmpd="sng" algn="ctr">
                      <a:solidFill>
                        <a:srgbClr val="ECE1C7"/>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4E5D53"/>
                </a:solidFill>
                <a:latin typeface="Calibri" pitchFamily="34" charset="0"/>
                <a:ea typeface="Calibri" pitchFamily="34" charset="-122"/>
                <a:cs typeface="Calibri" pitchFamily="34" charset="-120"/>
              </a:rPr>
              <a:t>Rows after the price are planning assumptions (5% of subscribers cancel each month), not results yet.</a:t>
            </a:r>
            <a:endParaRPr lang="en-US" sz="1100" dirty="0"/>
          </a:p>
        </p:txBody>
      </p:sp>
      <p:sp>
        <p:nvSpPr>
          <p:cNvPr id="7" name="Text 3"/>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8" name="Text 4"/>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28 / 29</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56032"/>
          </a:xfrm>
          <a:prstGeom prst="rect">
            <a:avLst/>
          </a:prstGeom>
          <a:noFill/>
          <a:ln/>
        </p:spPr>
        <p:txBody>
          <a:bodyPr wrap="square" lIns="0" tIns="0" rIns="0" bIns="0" rtlCol="0" anchor="ctr"/>
          <a:lstStyle/>
          <a:p>
            <a:pPr indent="0" marL="0">
              <a:buNone/>
            </a:pPr>
            <a:r>
              <a:rPr lang="en-US" sz="1200" b="1" dirty="0">
                <a:solidFill>
                  <a:srgbClr val="D98B3C"/>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457200" y="621792"/>
            <a:ext cx="8229600" cy="777240"/>
          </a:xfrm>
          <a:prstGeom prst="rect">
            <a:avLst/>
          </a:prstGeom>
          <a:noFill/>
          <a:ln/>
        </p:spPr>
        <p:txBody>
          <a:bodyPr wrap="square" lIns="0" tIns="0" rIns="0" bIns="0" rtlCol="0" anchor="t"/>
          <a:lstStyle/>
          <a:p>
            <a:pPr indent="0" marL="0">
              <a:buNone/>
            </a:pPr>
            <a:r>
              <a:rPr lang="en-US" sz="2600" b="1" dirty="0">
                <a:solidFill>
                  <a:srgbClr val="143D28"/>
                </a:solidFill>
                <a:latin typeface="Cambria" pitchFamily="34" charset="0"/>
                <a:ea typeface="Cambria" pitchFamily="34" charset="-122"/>
                <a:cs typeface="Cambria" pitchFamily="34" charset="-120"/>
              </a:rPr>
              <a:t>Key terms used in this deck</a:t>
            </a:r>
            <a:endParaRPr lang="en-US" sz="2600" dirty="0"/>
          </a:p>
        </p:txBody>
      </p:sp>
      <p:sp>
        <p:nvSpPr>
          <p:cNvPr id="4" name="Shape 2"/>
          <p:cNvSpPr/>
          <p:nvPr/>
        </p:nvSpPr>
        <p:spPr>
          <a:xfrm>
            <a:off x="457200" y="1280160"/>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40080" y="1353312"/>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TAM / SAM / SOM</a:t>
            </a:r>
            <a:endParaRPr lang="en-US" sz="1300" dirty="0"/>
          </a:p>
        </p:txBody>
      </p:sp>
      <p:sp>
        <p:nvSpPr>
          <p:cNvPr id="6" name="Text 4"/>
          <p:cNvSpPr txBox="1"/>
          <p:nvPr/>
        </p:nvSpPr>
        <p:spPr>
          <a:xfrm>
            <a:off x="640080" y="1618488"/>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Total market / the part we can reach / our target share</a:t>
            </a:r>
            <a:endParaRPr lang="en-US" sz="1150" dirty="0"/>
          </a:p>
        </p:txBody>
      </p:sp>
      <p:sp>
        <p:nvSpPr>
          <p:cNvPr id="7" name="Shape 5"/>
          <p:cNvSpPr/>
          <p:nvPr/>
        </p:nvSpPr>
        <p:spPr>
          <a:xfrm>
            <a:off x="4663440" y="1280160"/>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4846320" y="1353312"/>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MRR / ARR</a:t>
            </a:r>
            <a:endParaRPr lang="en-US" sz="1300" dirty="0"/>
          </a:p>
        </p:txBody>
      </p:sp>
      <p:sp>
        <p:nvSpPr>
          <p:cNvPr id="9" name="Text 7"/>
          <p:cNvSpPr txBox="1"/>
          <p:nvPr/>
        </p:nvSpPr>
        <p:spPr>
          <a:xfrm>
            <a:off x="4846320" y="1618488"/>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Monthly / annual recurring revenue from subscriptions</a:t>
            </a:r>
            <a:endParaRPr lang="en-US" sz="1150" dirty="0"/>
          </a:p>
        </p:txBody>
      </p:sp>
      <p:sp>
        <p:nvSpPr>
          <p:cNvPr id="10" name="Shape 8"/>
          <p:cNvSpPr/>
          <p:nvPr/>
        </p:nvSpPr>
        <p:spPr>
          <a:xfrm>
            <a:off x="457200" y="2139696"/>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640080" y="2212848"/>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Churn</a:t>
            </a:r>
            <a:endParaRPr lang="en-US" sz="1300" dirty="0"/>
          </a:p>
        </p:txBody>
      </p:sp>
      <p:sp>
        <p:nvSpPr>
          <p:cNvPr id="12" name="Text 10"/>
          <p:cNvSpPr txBox="1"/>
          <p:nvPr/>
        </p:nvSpPr>
        <p:spPr>
          <a:xfrm>
            <a:off x="640080" y="2478024"/>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Share of subscribers who cancel each month</a:t>
            </a:r>
            <a:endParaRPr lang="en-US" sz="1150" dirty="0"/>
          </a:p>
        </p:txBody>
      </p:sp>
      <p:sp>
        <p:nvSpPr>
          <p:cNvPr id="13" name="Shape 11"/>
          <p:cNvSpPr/>
          <p:nvPr/>
        </p:nvSpPr>
        <p:spPr>
          <a:xfrm>
            <a:off x="4663440" y="2139696"/>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4" name="Text 12"/>
          <p:cNvSpPr txBox="1"/>
          <p:nvPr/>
        </p:nvSpPr>
        <p:spPr>
          <a:xfrm>
            <a:off x="4846320" y="2212848"/>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Trial-to-paid conversion</a:t>
            </a:r>
            <a:endParaRPr lang="en-US" sz="1300" dirty="0"/>
          </a:p>
        </p:txBody>
      </p:sp>
      <p:sp>
        <p:nvSpPr>
          <p:cNvPr id="15" name="Text 13"/>
          <p:cNvSpPr txBox="1"/>
          <p:nvPr/>
        </p:nvSpPr>
        <p:spPr>
          <a:xfrm>
            <a:off x="4846320" y="2478024"/>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Share of free-trial users who become paying subscribers</a:t>
            </a:r>
            <a:endParaRPr lang="en-US" sz="1150" dirty="0"/>
          </a:p>
        </p:txBody>
      </p:sp>
      <p:sp>
        <p:nvSpPr>
          <p:cNvPr id="16" name="Shape 14"/>
          <p:cNvSpPr/>
          <p:nvPr/>
        </p:nvSpPr>
        <p:spPr>
          <a:xfrm>
            <a:off x="457200" y="2999232"/>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17" name="Text 15"/>
          <p:cNvSpPr txBox="1"/>
          <p:nvPr/>
        </p:nvSpPr>
        <p:spPr>
          <a:xfrm>
            <a:off x="640080" y="3072384"/>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Gross margin</a:t>
            </a:r>
            <a:endParaRPr lang="en-US" sz="1300" dirty="0"/>
          </a:p>
        </p:txBody>
      </p:sp>
      <p:sp>
        <p:nvSpPr>
          <p:cNvPr id="18" name="Text 16"/>
          <p:cNvSpPr txBox="1"/>
          <p:nvPr/>
        </p:nvSpPr>
        <p:spPr>
          <a:xfrm>
            <a:off x="640080" y="3337560"/>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Share of revenue left after app-store fees, AI and hosting</a:t>
            </a:r>
            <a:endParaRPr lang="en-US" sz="1150" dirty="0"/>
          </a:p>
        </p:txBody>
      </p:sp>
      <p:sp>
        <p:nvSpPr>
          <p:cNvPr id="19" name="Shape 17"/>
          <p:cNvSpPr/>
          <p:nvPr/>
        </p:nvSpPr>
        <p:spPr>
          <a:xfrm>
            <a:off x="4663440" y="2999232"/>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4846320" y="3072384"/>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LTV (lifetime value)</a:t>
            </a:r>
            <a:endParaRPr lang="en-US" sz="1300" dirty="0"/>
          </a:p>
        </p:txBody>
      </p:sp>
      <p:sp>
        <p:nvSpPr>
          <p:cNvPr id="21" name="Text 19"/>
          <p:cNvSpPr txBox="1"/>
          <p:nvPr/>
        </p:nvSpPr>
        <p:spPr>
          <a:xfrm>
            <a:off x="4846320" y="3337560"/>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Profit from one subscriber over their whole subscription</a:t>
            </a:r>
            <a:endParaRPr lang="en-US" sz="1150" dirty="0"/>
          </a:p>
        </p:txBody>
      </p:sp>
      <p:sp>
        <p:nvSpPr>
          <p:cNvPr id="22" name="Shape 20"/>
          <p:cNvSpPr/>
          <p:nvPr/>
        </p:nvSpPr>
        <p:spPr>
          <a:xfrm>
            <a:off x="457200" y="3858768"/>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23" name="Text 21"/>
          <p:cNvSpPr txBox="1"/>
          <p:nvPr/>
        </p:nvSpPr>
        <p:spPr>
          <a:xfrm>
            <a:off x="640080" y="3931920"/>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CAC</a:t>
            </a:r>
            <a:endParaRPr lang="en-US" sz="1300" dirty="0"/>
          </a:p>
        </p:txBody>
      </p:sp>
      <p:sp>
        <p:nvSpPr>
          <p:cNvPr id="24" name="Text 22"/>
          <p:cNvSpPr txBox="1"/>
          <p:nvPr/>
        </p:nvSpPr>
        <p:spPr>
          <a:xfrm>
            <a:off x="640080" y="4197096"/>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Customer acquisition cost: spend to win one subscriber</a:t>
            </a:r>
            <a:endParaRPr lang="en-US" sz="1150" dirty="0"/>
          </a:p>
        </p:txBody>
      </p:sp>
      <p:sp>
        <p:nvSpPr>
          <p:cNvPr id="25" name="Shape 23"/>
          <p:cNvSpPr/>
          <p:nvPr/>
        </p:nvSpPr>
        <p:spPr>
          <a:xfrm>
            <a:off x="4663440" y="3858768"/>
            <a:ext cx="4023360" cy="786384"/>
          </a:xfrm>
          <a:prstGeom prst="roundRect">
            <a:avLst>
              <a:gd name="adj" fmla="val 9302"/>
            </a:avLst>
          </a:prstGeom>
          <a:solidFill>
            <a:srgbClr val="FFFFFF"/>
          </a:solidFill>
          <a:ln w="9525">
            <a:solidFill>
              <a:srgbClr val="ECE1C7"/>
            </a:solidFill>
            <a:prstDash val="solid"/>
          </a:ln>
          <a:effectLst>
            <a:outerShdw sx="100000" sy="100000" kx="0" ky="0" algn="bl" rotWithShape="0" blurRad="76200" dist="25400" dir="5400000">
              <a:srgbClr val="000000">
                <a:alpha val="8000"/>
              </a:srgbClr>
            </a:outerShdw>
          </a:effectLst>
        </p:spPr>
      </p:sp>
      <p:sp>
        <p:nvSpPr>
          <p:cNvPr id="26" name="Text 24"/>
          <p:cNvSpPr txBox="1"/>
          <p:nvPr/>
        </p:nvSpPr>
        <p:spPr>
          <a:xfrm>
            <a:off x="4846320" y="3931920"/>
            <a:ext cx="3657600" cy="256032"/>
          </a:xfrm>
          <a:prstGeom prst="rect">
            <a:avLst/>
          </a:prstGeom>
          <a:noFill/>
          <a:ln/>
        </p:spPr>
        <p:txBody>
          <a:bodyPr wrap="square" lIns="0" tIns="0" rIns="0" bIns="0" rtlCol="0" anchor="t"/>
          <a:lstStyle/>
          <a:p>
            <a:pPr indent="0" marL="0">
              <a:buNone/>
            </a:pPr>
            <a:r>
              <a:rPr lang="en-US" sz="1300" b="1" dirty="0">
                <a:solidFill>
                  <a:srgbClr val="143D28"/>
                </a:solidFill>
                <a:latin typeface="Calibri" pitchFamily="34" charset="0"/>
                <a:ea typeface="Calibri" pitchFamily="34" charset="-122"/>
                <a:cs typeface="Calibri" pitchFamily="34" charset="-120"/>
              </a:rPr>
              <a:t>Pre-seed / SAFE</a:t>
            </a:r>
            <a:endParaRPr lang="en-US" sz="1300" dirty="0"/>
          </a:p>
        </p:txBody>
      </p:sp>
      <p:sp>
        <p:nvSpPr>
          <p:cNvPr id="27" name="Text 25"/>
          <p:cNvSpPr txBox="1"/>
          <p:nvPr/>
        </p:nvSpPr>
        <p:spPr>
          <a:xfrm>
            <a:off x="4846320" y="4197096"/>
            <a:ext cx="3703320" cy="420624"/>
          </a:xfrm>
          <a:prstGeom prst="rect">
            <a:avLst/>
          </a:prstGeom>
          <a:noFill/>
          <a:ln/>
        </p:spPr>
        <p:txBody>
          <a:bodyPr wrap="square" lIns="0" tIns="0" rIns="0" bIns="0" rtlCol="0" anchor="t"/>
          <a:lstStyle/>
          <a:p>
            <a:pPr indent="0" marL="0">
              <a:buNone/>
            </a:pPr>
            <a:r>
              <a:rPr lang="en-US" sz="1150" dirty="0">
                <a:solidFill>
                  <a:srgbClr val="4E5D53"/>
                </a:solidFill>
                <a:latin typeface="Calibri" pitchFamily="34" charset="0"/>
                <a:ea typeface="Calibri" pitchFamily="34" charset="-122"/>
                <a:cs typeface="Calibri" pitchFamily="34" charset="-120"/>
              </a:rPr>
              <a:t>First outside funding round / an agreement that turns into shares later</a:t>
            </a:r>
            <a:endParaRPr lang="en-US" sz="1150" dirty="0"/>
          </a:p>
        </p:txBody>
      </p:sp>
      <p:sp>
        <p:nvSpPr>
          <p:cNvPr id="29" name="Text 26"/>
          <p:cNvSpPr txBox="1"/>
          <p:nvPr/>
        </p:nvSpPr>
        <p:spPr>
          <a:xfrm>
            <a:off x="457200" y="4791456"/>
            <a:ext cx="4572000" cy="228600"/>
          </a:xfrm>
          <a:prstGeom prst="rect">
            <a:avLst/>
          </a:prstGeom>
          <a:noFill/>
          <a:ln/>
        </p:spPr>
        <p:txBody>
          <a:bodyPr wrap="square" lIns="0" tIns="0" rIns="0" bIns="0" rtlCol="0" anchor="ctr"/>
          <a:lstStyle/>
          <a:p>
            <a:pPr indent="0" marL="0">
              <a:buNone/>
            </a:pPr>
            <a:r>
              <a:rPr lang="en-US" sz="900" dirty="0">
                <a:solidFill>
                  <a:srgbClr val="4E5D53"/>
                </a:solidFill>
                <a:latin typeface="Calibri" pitchFamily="34" charset="0"/>
                <a:ea typeface="Calibri" pitchFamily="34" charset="-122"/>
                <a:cs typeface="Calibri" pitchFamily="34" charset="-120"/>
              </a:rPr>
              <a:t>Cedarworks Apps  ·  Confidential</a:t>
            </a:r>
            <a:endParaRPr lang="en-US" sz="900" dirty="0"/>
          </a:p>
        </p:txBody>
      </p:sp>
      <p:sp>
        <p:nvSpPr>
          <p:cNvPr id="30" name="Text 27"/>
          <p:cNvSpPr txBox="1"/>
          <p:nvPr/>
        </p:nvSpPr>
        <p:spPr>
          <a:xfrm>
            <a:off x="7772400" y="4791456"/>
            <a:ext cx="914400" cy="228600"/>
          </a:xfrm>
          <a:prstGeom prst="rect">
            <a:avLst/>
          </a:prstGeom>
          <a:noFill/>
          <a:ln/>
        </p:spPr>
        <p:txBody>
          <a:bodyPr wrap="square" lIns="0" tIns="0" rIns="0" bIns="0" rtlCol="0" anchor="ctr"/>
          <a:lstStyle/>
          <a:p>
            <a:pPr algn="r" indent="0" marL="0">
              <a:buNone/>
            </a:pPr>
            <a:r>
              <a:rPr lang="en-US" sz="900" dirty="0">
                <a:solidFill>
                  <a:srgbClr val="4E5D53"/>
                </a:solidFill>
                <a:latin typeface="Calibri" pitchFamily="34" charset="0"/>
                <a:ea typeface="Calibri" pitchFamily="34" charset="-122"/>
                <a:cs typeface="Calibri" pitchFamily="34" charset="-120"/>
              </a:rPr>
              <a:t>29 / 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Cedarworks Apps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Cedarworks Apps — Investor Pitch Deck</dc:title>
  <dc:subject>Pre-seed pitch deck: executive summary, problem statement, solution &amp; product, AppForge, traction &amp; metrics, market opportunity, business model, competitive landscape, use of funds, financial projections, team, the ask</dc:subject>
  <dc:creator>James Chambers</dc:creator>
  <cp:lastModifiedBy>James Chambers</cp:lastModifiedBy>
  <cp:revision>1</cp:revision>
  <dcterms:created xsi:type="dcterms:W3CDTF">2026-10-21T15:27:05Z</dcterms:created>
  <dcterms:modified xsi:type="dcterms:W3CDTF">2026-10-21T15:27:05Z</dcterms:modified>
</cp:coreProperties>
</file>
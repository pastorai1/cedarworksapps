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B9A67A"/>
              </a:solidFill>
              <a:effectLst/>
            </c:spPr>
          </c:dPt>
          <c:dPt>
            <c:idx val="4"/>
            <c:bubble3D val="0"/>
            <c:spPr>
              <a:solidFill>
                <a:srgbClr val="A9C2A8"/>
              </a:solidFill>
              <a:effectLst/>
            </c:spPr>
          </c:dPt>
          <c:dLbls>
            <c:dLbl>
              <c:idx val="0"/>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Customer acquisition: PastorAI &amp; Ready Room ads</c:v>
                </c:pt>
                <c:pt idx="1">
                  <c:v>Build 8 new apps with AppForge</c:v>
                </c:pt>
                <c:pt idx="2">
                  <c:v>AI compute, hosting &amp; infrastructure</c:v>
                </c:pt>
                <c:pt idx="3">
                  <c:v>Legal, accounting &amp; app-store operations</c:v>
                </c:pt>
                <c:pt idx="4">
                  <c:v>Founder runway &amp; reserve</c:v>
                </c:pt>
              </c:strCache>
            </c:strRef>
          </c:cat>
          <c:val>
            <c:numRef>
              <c:f>Sheet1!$B$2:$B$6</c:f>
              <c:numCache>
                <c:ptCount val="5"/>
                <c:pt idx="0">
                  <c:v>100</c:v>
                </c:pt>
                <c:pt idx="1">
                  <c:v>75</c:v>
                </c:pt>
                <c:pt idx="2">
                  <c:v>25</c:v>
                </c:pt>
                <c:pt idx="3">
                  <c:v>25</c:v>
                </c:pt>
                <c:pt idx="4">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3D28"/>
                </a:solidFill>
                <a:latin typeface="Calibri"/>
              </a:defRPr>
            </a:pPr>
            <a:r>
              <a:rPr sz="1100" b="0" i="0" u="none" strike="noStrike">
                <a:solidFill>
                  <a:srgbClr val="143D28"/>
                </a:solidFill>
                <a:latin typeface="Calibri"/>
              </a:rPr>
              <a:t>Paying subscribers (target)</a:t>
            </a:r>
          </a:p>
        </c:rich>
      </c:tx>
      <c:layout/>
      <c:overlay val="0"/>
    </c:title>
    <c:autoTitleDeleted val="0"/>
    <c:plotArea>
      <c:layout/>
      <c:barChart>
        <c:barDir val="col"/>
        <c:grouping val="clustered"/>
        <c:varyColors val="0"/>
        <c:ser>
          <c:idx val="0"/>
          <c:order val="0"/>
          <c:tx>
            <c:strRef>
              <c:f>Sheet1!$B$1</c:f>
              <c:strCache>
                <c:ptCount val="1"/>
                <c:pt idx="0">
                  <c:v>Paying subscribers (target)</c:v>
                </c:pt>
              </c:strCache>
            </c:strRef>
          </c:tx>
          <c:spPr>
            <a:solidFill>
              <a:srgbClr val="143D28"/>
            </a:solidFill>
            <a:effectLst/>
          </c:spPr>
          <c:invertIfNegative val="0"/>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M3</c:v>
                  </c:pt>
                  <c:pt idx="1">
                    <c:v>M6</c:v>
                  </c:pt>
                  <c:pt idx="2">
                    <c:v>M9</c:v>
                  </c:pt>
                  <c:pt idx="3">
                    <c:v>M12</c:v>
                  </c:pt>
                  <c:pt idx="4">
                    <c:v>M18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43D28"/>
                </a:solidFill>
                <a:latin typeface="Calibri"/>
              </a:defRPr>
            </a:pPr>
            <a:r>
              <a:rPr sz="1000" b="0" i="0" u="none" strike="noStrike">
                <a:solidFill>
                  <a:srgbClr val="143D28"/>
                </a:solidFill>
                <a:latin typeface="Calibri"/>
              </a:rPr>
              <a:t>Revenue vs. expenses ($K)</a:t>
            </a:r>
          </a:p>
        </c:rich>
      </c:tx>
      <c:layout/>
      <c:overlay val="0"/>
    </c:title>
    <c:autoTitleDeleted val="0"/>
    <c:plotArea>
      <c:layout/>
      <c:barChart>
        <c:barDir val="col"/>
        <c:grouping val="clustered"/>
        <c:varyColors val="0"/>
        <c:ser>
          <c:idx val="0"/>
          <c:order val="0"/>
          <c:tx>
            <c:strRef>
              <c:f>Sheet1!$B$1</c:f>
              <c:strCache>
                <c:ptCount val="1"/>
                <c:pt idx="0">
                  <c:v>Revenue</c:v>
                </c:pt>
              </c:strCache>
            </c:strRef>
          </c:tx>
          <c:spPr>
            <a:solidFill>
              <a:srgbClr val="143D2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128</c:v>
                </c:pt>
                <c:pt idx="1">
                  <c:v>604</c:v>
                </c:pt>
                <c:pt idx="2">
                  <c:v>1482</c:v>
                </c:pt>
                <c:pt idx="3">
                  <c:v>2850</c:v>
                </c:pt>
                <c:pt idx="4">
                  <c:v>4788</c:v>
                </c:pt>
              </c:numCache>
            </c:numRef>
          </c:val>
        </c:ser>
        <c:ser>
          <c:idx val="1"/>
          <c:order val="1"/>
          <c:tx>
            <c:strRef>
              <c:f>Sheet1!$C$1</c:f>
              <c:strCache>
                <c:ptCount val="1"/>
                <c:pt idx="0">
                  <c:v>Total expenses</c:v>
                </c:pt>
              </c:strCache>
            </c:strRef>
          </c:tx>
          <c:spPr>
            <a:solidFill>
              <a:srgbClr val="D98B3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Sheet1!$C$2:$C$6</c:f>
              <c:numCache>
                <c:formatCode>General</c:formatCode>
                <c:ptCount val="5"/>
                <c:pt idx="0">
                  <c:v>235</c:v>
                </c:pt>
                <c:pt idx="1">
                  <c:v>723</c:v>
                </c:pt>
                <c:pt idx="2">
                  <c:v>1300</c:v>
                </c:pt>
                <c:pt idx="3">
                  <c:v>2170</c:v>
                </c:pt>
                <c:pt idx="4">
                  <c:v>3293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B6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5C6B61"/>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We're raising a $250K pre-seed round to market them and use our in-house AppForge engine to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summary of the whole deck, in the same order investors score it: problem, solution, traction, market, business model, competition, team and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Sales reps have nowhere safe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build one app for everyone. We build many small apps that each serve one audience extremely well. That keeps each product simple and lets us reuse our technology across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dashboard. Every tool a pastor needs for the week is one click away: Sermon Builder, Series Planner, Bible Study, Social Media, Devotional, Children's Lesson, Translation into 10 languages, and a Rehearsal tool. It's live on iOS, Android and the web at $47 a month after a free trial, with about 15 trial members.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 A rep picks a prospect from 18+ industry scenarios, chooses a discovery or objection drill and a difficulty, then sells out loud to a voice AI prospect that reacts to how they sell. Reps can also score their real calls by recording live, uploading a recording, or pasting a transcript. An AI coach grades every session. It's live on iOS, Android and the web at $29 a month after a free trial, with about 15 trial members.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our proprietary engine, shown here. It covers the whole path from idea to launch. It analyzes the market (Top 100 Apps, Market Analysis, Opportunities), scores ideas by app type with a Viability Scorer, sets up the tech stack and build, then produces the store listing and one-to-many marketing: emails, social posts, ads and presentations. PastorAI and Ready Room prove the build side works. The next eight apps will be chosen from AppForge's market analysis, not guesswork, and each launches faster and cheaper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 billing, and about 30 people are on free trials. We don't have paying customers yet. Our first 90-day goals are 75 paying subscribers, about $2,850 a month in recurring revenue, 20%+ trial-to-paid conversion and monthly churn under 6%. We'll report these metrics to investors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Congregations: roughly 300,000 to 380,000 in the U.S. (Hartford Institute for Religion Research; U.S. Religion Census). Sales reps: about 1.5 million U.S. wholesale and manufacturing sales representatives (Bureau of Labor Statistics), before counting insurance, real estate and other sales roles. SAM assumes about 30% are reachable through self-serve digital channels. SOM is 1% of SAM over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 segments start with pastors and church staff and individual sales reps, expand to group plans, and then to new niches chosen by AppForge.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comes from monthly subscriptions. Apple's Small Business Program and Google Play take 15% on subscriptions. AI and hosting costs are estimates. Lifetime value assumes 5% monthly churn, an average 20-month life, measured as gross profit. We'll hold customer acquisition cost to a third of lifetime value, which pays back in about seven months. Group plans and custom app work add revenue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customer acquisition. We'll run small, measured ad tests on each channel, then double down on the ones with the lowest cost per paying subscriber. Free trials are already built into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can use general chatbots, but they have to do the prompting and still get generic output. Ministry software such as Logos focuses on study and research, and tools like Pulpit AI focus on repurposing sermon content. Sales role-play platforms such as Second Nature and Hyperbound are sold to company sales teams. We sit in between: purpose-built, affordable, self-serve, and quick to launch in new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goes to customer acquisition for PastorAI and Ready Room, the fastest path to revenue. 30% funds building eight new apps with AppForge, including contract development, design and QA. The rest covers AI compute and hosting, legal and operations, and a founder runway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across the portfolio. At a blended price near $38 that's roughly $38K a month in recurring revenue, which positions us for a seed round on proven traction. These are targets,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Five-year projections, built bottom-up from subscribers. Year-end paying subscribers grow from 650 to 13,000 as AppForge adds apps. Revenue uses a blended price of about $38 a month. Cost of revenue is about 27%: the 15% app-store fee plus about 12% for AI and hosting. Operating expenses cover marketing, contractors and later hires. We expect losses in years 1 and 2, funded by this round and a seed round, and to break even during year 3.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spent more than 40 years in sales across different industries, so Ready Room comes from my own experience. I also have a degree in computer science, which is how I built both apps and AppForge myself. PastorAI started when I saw how much my bishop carries every week and wanted to see what I could do. This round adds contract development and part-time marketing help so I can move faster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$250K pre-seed. It lets us scale the two apps already in market and launch eight more that AppForge identifies. Thank you. I'd love to show you a live demo of PastorAI and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500" b="1" dirty="0">
                <a:solidFill>
                  <a:srgbClr val="F4EBD5"/>
                </a:solidFill>
                <a:latin typeface="Calibri" pitchFamily="34" charset="0"/>
                <a:ea typeface="Calibri" pitchFamily="34" charset="-122"/>
                <a:cs typeface="Calibri" pitchFamily="34" charset="-120"/>
              </a:rPr>
              <a:t>CEDARWORKS APPS</a:t>
            </a:r>
            <a:endParaRPr lang="en-US" sz="1500" dirty="0"/>
          </a:p>
        </p:txBody>
      </p:sp>
      <p:sp>
        <p:nvSpPr>
          <p:cNvPr id="5" name="Text 2"/>
          <p:cNvSpPr txBox="1"/>
          <p:nvPr/>
        </p:nvSpPr>
        <p:spPr>
          <a:xfrm>
            <a:off x="457200" y="150876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54680"/>
            <a:ext cx="5669280" cy="685800"/>
          </a:xfrm>
          <a:prstGeom prst="rect">
            <a:avLst/>
          </a:prstGeom>
          <a:noFill/>
          <a:ln/>
        </p:spPr>
        <p:txBody>
          <a:bodyPr wrap="square" lIns="0" tIns="0" rIns="0" bIns="0" rtlCol="0" anchor="t"/>
          <a:lstStyle/>
          <a:p>
            <a:pPr indent="0" marL="0">
              <a:buNone/>
            </a:pPr>
            <a:r>
              <a:rPr lang="en-US" sz="1500" i="1" dirty="0">
                <a:solidFill>
                  <a:srgbClr val="A9C2A8"/>
                </a:solidFill>
                <a:latin typeface="Cambria" pitchFamily="34" charset="0"/>
                <a:ea typeface="Cambria" pitchFamily="34" charset="-122"/>
                <a:cs typeface="Cambria" pitchFamily="34" charset="-120"/>
              </a:rPr>
              <a:t>A small studio shipping focused, subscription AI apps: two live in the app stores today, and AppForge to build the next eight.</a:t>
            </a:r>
            <a:endParaRPr lang="en-US" sz="1500" dirty="0"/>
          </a:p>
        </p:txBody>
      </p:sp>
      <p:sp>
        <p:nvSpPr>
          <p:cNvPr id="7" name="Shape 4"/>
          <p:cNvSpPr/>
          <p:nvPr/>
        </p:nvSpPr>
        <p:spPr>
          <a:xfrm>
            <a:off x="6583680" y="1554480"/>
            <a:ext cx="2103120" cy="1417320"/>
          </a:xfrm>
          <a:prstGeom prst="roundRect">
            <a:avLst>
              <a:gd name="adj" fmla="val 6452"/>
            </a:avLst>
          </a:prstGeom>
          <a:solidFill>
            <a:srgbClr val="1E5238"/>
          </a:solidFill>
          <a:ln w="15875">
            <a:solidFill>
              <a:srgbClr val="D98B3C"/>
            </a:solidFill>
            <a:prstDash val="solid"/>
          </a:ln>
        </p:spPr>
      </p:sp>
      <p:sp>
        <p:nvSpPr>
          <p:cNvPr id="8" name="Text 5"/>
          <p:cNvSpPr txBox="1"/>
          <p:nvPr/>
        </p:nvSpPr>
        <p:spPr>
          <a:xfrm>
            <a:off x="6583680" y="1645920"/>
            <a:ext cx="2103120" cy="1234440"/>
          </a:xfrm>
          <a:prstGeom prst="rect">
            <a:avLst/>
          </a:prstGeom>
          <a:noFill/>
          <a:ln/>
        </p:spPr>
        <p:txBody>
          <a:bodyPr wrap="square" lIns="0" tIns="0" rIns="0" bIns="0" rtlCol="0" anchor="ctr"/>
          <a:lstStyle/>
          <a:p>
            <a:pPr algn="ctr" indent="0" marL="0">
              <a:buNone/>
            </a:pPr>
            <a:r>
              <a:rPr lang="en-US" sz="1000" b="1" dirty="0">
                <a:solidFill>
                  <a:srgbClr val="D98B3C"/>
                </a:solidFill>
                <a:latin typeface="Calibri" pitchFamily="34" charset="0"/>
                <a:ea typeface="Calibri" pitchFamily="34" charset="-122"/>
                <a:cs typeface="Calibri" pitchFamily="34" charset="-120"/>
              </a:rPr>
              <a:t>Pre-seed round</a:t>
            </a:r>
            <a:endParaRPr lang="en-US" sz="1000" dirty="0"/>
          </a:p>
          <a:p>
            <a:pPr algn="ctr" indent="0" marL="0">
              <a:buNone/>
            </a:pPr>
            <a:r>
              <a:rPr lang="en-US" sz="3600" b="1" dirty="0">
                <a:solidFill>
                  <a:srgbClr val="F4EBD5"/>
                </a:solidFill>
                <a:latin typeface="Cambria" pitchFamily="34" charset="0"/>
                <a:ea typeface="Cambria" pitchFamily="34" charset="-122"/>
                <a:cs typeface="Cambria" pitchFamily="34" charset="-120"/>
              </a:rPr>
              <a:t>$250K</a:t>
            </a:r>
            <a:endParaRPr lang="en-US" sz="1000" dirty="0"/>
          </a:p>
          <a:p>
            <a:pPr algn="ctr" indent="0" marL="0">
              <a:buNone/>
            </a:pPr>
            <a:r>
              <a:rPr lang="en-US" sz="1100" dirty="0">
                <a:solidFill>
                  <a:srgbClr val="A9C2A8"/>
                </a:solidFill>
                <a:latin typeface="Calibri" pitchFamily="34" charset="0"/>
                <a:ea typeface="Calibri" pitchFamily="34" charset="-122"/>
                <a:cs typeface="Calibri" pitchFamily="34" charset="-120"/>
              </a:rPr>
              <a:t>Springfield, MO</a:t>
            </a:r>
            <a:endParaRPr lang="en-US" sz="1000" dirty="0"/>
          </a:p>
        </p:txBody>
      </p:sp>
      <p:sp>
        <p:nvSpPr>
          <p:cNvPr id="9" name="Text 6"/>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100" dirty="0"/>
          </a:p>
        </p:txBody>
      </p:sp>
      <p:sp>
        <p:nvSpPr>
          <p:cNvPr id="10" name="Text 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11" name="Text 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 / 18</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at a glance</a:t>
            </a:r>
            <a:endParaRPr lang="en-US" sz="2600" dirty="0"/>
          </a:p>
        </p:txBody>
      </p:sp>
      <p:sp>
        <p:nvSpPr>
          <p:cNvPr id="4" name="Shape 2"/>
          <p:cNvSpPr/>
          <p:nvPr/>
        </p:nvSpPr>
        <p:spPr>
          <a:xfrm>
            <a:off x="45720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6" name="Text 4"/>
          <p:cNvSpPr txBox="1"/>
          <p:nvPr/>
        </p:nvSpPr>
        <p:spPr>
          <a:xfrm>
            <a:off x="64008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Pastors and salespeople lose hours to repetitive prep and unpracticed skills. Generic AI doesn't fit their work.</a:t>
            </a:r>
            <a:endParaRPr lang="en-US" sz="1050" dirty="0"/>
          </a:p>
        </p:txBody>
      </p:sp>
      <p:sp>
        <p:nvSpPr>
          <p:cNvPr id="7" name="Shape 5"/>
          <p:cNvSpPr/>
          <p:nvPr/>
        </p:nvSpPr>
        <p:spPr>
          <a:xfrm>
            <a:off x="466344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9" name="Text 7"/>
          <p:cNvSpPr txBox="1"/>
          <p:nvPr/>
        </p:nvSpPr>
        <p:spPr>
          <a:xfrm>
            <a:off x="484632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Focused AI apps: PastorAI ($47/mo) for ministry and Ready Room ($29/mo) for sales-call practice.</a:t>
            </a:r>
            <a:endParaRPr lang="en-US" sz="1050" dirty="0"/>
          </a:p>
        </p:txBody>
      </p:sp>
      <p:sp>
        <p:nvSpPr>
          <p:cNvPr id="10" name="Shape 8"/>
          <p:cNvSpPr/>
          <p:nvPr/>
        </p:nvSpPr>
        <p:spPr>
          <a:xfrm>
            <a:off x="45720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12" name="Text 10"/>
          <p:cNvSpPr txBox="1"/>
          <p:nvPr/>
        </p:nvSpPr>
        <p:spPr>
          <a:xfrm>
            <a:off x="64008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Both apps live on iOS, Android and web; ~30 trial users; $0 MRR (pre-revenue); team of 1.</a:t>
            </a:r>
            <a:endParaRPr lang="en-US" sz="1050" dirty="0"/>
          </a:p>
        </p:txBody>
      </p:sp>
      <p:sp>
        <p:nvSpPr>
          <p:cNvPr id="13" name="Shape 11"/>
          <p:cNvSpPr/>
          <p:nvPr/>
        </p:nvSpPr>
        <p:spPr>
          <a:xfrm>
            <a:off x="466344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15" name="Text 13"/>
          <p:cNvSpPr txBox="1"/>
          <p:nvPr/>
        </p:nvSpPr>
        <p:spPr>
          <a:xfrm>
            <a:off x="484632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~$690M U.S. TAM across 300K+ churches and ~1.5M B2B sales reps; 8 more apps widen it.</a:t>
            </a:r>
            <a:endParaRPr lang="en-US" sz="1050" dirty="0"/>
          </a:p>
        </p:txBody>
      </p:sp>
      <p:sp>
        <p:nvSpPr>
          <p:cNvPr id="16" name="Shape 14"/>
          <p:cNvSpPr/>
          <p:nvPr/>
        </p:nvSpPr>
        <p:spPr>
          <a:xfrm>
            <a:off x="45720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18" name="Text 16"/>
          <p:cNvSpPr txBox="1"/>
          <p:nvPr/>
        </p:nvSpPr>
        <p:spPr>
          <a:xfrm>
            <a:off x="64008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Monthly subscriptions, ~68–77% estimated gross margin, target LTV:CAC of 3:1 or better.</a:t>
            </a:r>
            <a:endParaRPr lang="en-US" sz="1050" dirty="0"/>
          </a:p>
        </p:txBody>
      </p:sp>
      <p:sp>
        <p:nvSpPr>
          <p:cNvPr id="19" name="Shape 17"/>
          <p:cNvSpPr/>
          <p:nvPr/>
        </p:nvSpPr>
        <p:spPr>
          <a:xfrm>
            <a:off x="466344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21" name="Text 19"/>
          <p:cNvSpPr txBox="1"/>
          <p:nvPr/>
        </p:nvSpPr>
        <p:spPr>
          <a:xfrm>
            <a:off x="484632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Direct: ministry software, sales role-play platforms. Indirect: ChatGPT. We win on focus and price.</a:t>
            </a:r>
            <a:endParaRPr lang="en-US" sz="1050" dirty="0"/>
          </a:p>
        </p:txBody>
      </p:sp>
      <p:sp>
        <p:nvSpPr>
          <p:cNvPr id="22" name="Shape 20"/>
          <p:cNvSpPr/>
          <p:nvPr/>
        </p:nvSpPr>
        <p:spPr>
          <a:xfrm>
            <a:off x="45720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24" name="Text 22"/>
          <p:cNvSpPr txBox="1"/>
          <p:nvPr/>
        </p:nvSpPr>
        <p:spPr>
          <a:xfrm>
            <a:off x="64008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Founder James Chambers: computer science degree, 40+ years in sales, built both apps.</a:t>
            </a:r>
            <a:endParaRPr lang="en-US" sz="1050" dirty="0"/>
          </a:p>
        </p:txBody>
      </p:sp>
      <p:sp>
        <p:nvSpPr>
          <p:cNvPr id="25" name="Shape 23"/>
          <p:cNvSpPr/>
          <p:nvPr/>
        </p:nvSpPr>
        <p:spPr>
          <a:xfrm>
            <a:off x="466344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27" name="Text 25"/>
          <p:cNvSpPr txBox="1"/>
          <p:nvPr/>
        </p:nvSpPr>
        <p:spPr>
          <a:xfrm>
            <a:off x="484632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$250K pre-seed for about 18 months: grow the two apps and launch 8 more with AppForge.</a:t>
            </a:r>
            <a:endParaRPr lang="en-US" sz="1050" dirty="0"/>
          </a:p>
        </p:txBody>
      </p:sp>
      <p:sp>
        <p:nvSpPr>
          <p:cNvPr id="28" name="Text 2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9" name="Text 2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2 / 18</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  ·  Customer pain points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508760"/>
            <a:ext cx="512064" cy="512064"/>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0337" y="1641897"/>
            <a:ext cx="245791" cy="245791"/>
          </a:xfrm>
          <a:prstGeom prst="rect">
            <a:avLst/>
          </a:prstGeom>
        </p:spPr>
      </p:pic>
      <p:sp>
        <p:nvSpPr>
          <p:cNvPr id="6" name="Text 3"/>
          <p:cNvSpPr txBox="1"/>
          <p:nvPr/>
        </p:nvSpPr>
        <p:spPr>
          <a:xfrm>
            <a:off x="1188720" y="1490472"/>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Pastors are overloaded</a:t>
            </a:r>
            <a:endParaRPr lang="en-US" sz="1550" dirty="0"/>
          </a:p>
        </p:txBody>
      </p:sp>
      <p:sp>
        <p:nvSpPr>
          <p:cNvPr id="7" name="Text 4"/>
          <p:cNvSpPr txBox="1"/>
          <p:nvPr/>
        </p:nvSpPr>
        <p:spPr>
          <a:xfrm>
            <a:off x="1188720" y="1783080"/>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Sermons, studies, devotionals, kids' lessons, social posts and translation fill the week, often with little or no staff. 42% of U.S. pastors considered quitting full-time ministry in the past year (Barna Group, 2022).</a:t>
            </a:r>
            <a:endParaRPr lang="en-US" sz="1150" dirty="0"/>
          </a:p>
        </p:txBody>
      </p:sp>
      <p:sp>
        <p:nvSpPr>
          <p:cNvPr id="8" name="Shape 5"/>
          <p:cNvSpPr/>
          <p:nvPr/>
        </p:nvSpPr>
        <p:spPr>
          <a:xfrm>
            <a:off x="457200" y="2276856"/>
            <a:ext cx="512064" cy="512064"/>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0337" y="2409993"/>
            <a:ext cx="245791" cy="245791"/>
          </a:xfrm>
          <a:prstGeom prst="rect">
            <a:avLst/>
          </a:prstGeom>
        </p:spPr>
      </p:pic>
      <p:sp>
        <p:nvSpPr>
          <p:cNvPr id="10" name="Text 6"/>
          <p:cNvSpPr txBox="1"/>
          <p:nvPr/>
        </p:nvSpPr>
        <p:spPr>
          <a:xfrm>
            <a:off x="1188720" y="2258568"/>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Sales reps practice on real prospects</a:t>
            </a:r>
            <a:endParaRPr lang="en-US" sz="1550" dirty="0"/>
          </a:p>
        </p:txBody>
      </p:sp>
      <p:sp>
        <p:nvSpPr>
          <p:cNvPr id="11" name="Text 7"/>
          <p:cNvSpPr txBox="1"/>
          <p:nvPr/>
        </p:nvSpPr>
        <p:spPr>
          <a:xfrm>
            <a:off x="1188720" y="2551176"/>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Discovery and objection-handling are learned live, on the calls that matter. One fumbled objection can cost a deal worth thousands in commission.</a:t>
            </a:r>
            <a:endParaRPr lang="en-US" sz="1150" dirty="0"/>
          </a:p>
        </p:txBody>
      </p:sp>
      <p:sp>
        <p:nvSpPr>
          <p:cNvPr id="12" name="Shape 8"/>
          <p:cNvSpPr/>
          <p:nvPr/>
        </p:nvSpPr>
        <p:spPr>
          <a:xfrm>
            <a:off x="457200" y="3044952"/>
            <a:ext cx="512064" cy="512064"/>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0337" y="3178089"/>
            <a:ext cx="245791" cy="245791"/>
          </a:xfrm>
          <a:prstGeom prst="rect">
            <a:avLst/>
          </a:prstGeom>
        </p:spPr>
      </p:pic>
      <p:sp>
        <p:nvSpPr>
          <p:cNvPr id="14" name="Text 9"/>
          <p:cNvSpPr txBox="1"/>
          <p:nvPr/>
        </p:nvSpPr>
        <p:spPr>
          <a:xfrm>
            <a:off x="1188720" y="3026664"/>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General chatbots don't close the gap</a:t>
            </a:r>
            <a:endParaRPr lang="en-US" sz="1550" dirty="0"/>
          </a:p>
        </p:txBody>
      </p:sp>
      <p:sp>
        <p:nvSpPr>
          <p:cNvPr id="15" name="Text 10"/>
          <p:cNvSpPr txBox="1"/>
          <p:nvPr/>
        </p:nvSpPr>
        <p:spPr>
          <a:xfrm>
            <a:off x="1188720" y="3319272"/>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Existing options fall short: chatbots don't know the workflow or vocabulary, and sales-training platforms are priced and sold for enterprise teams.</a:t>
            </a:r>
            <a:endParaRPr lang="en-US" sz="1150" dirty="0"/>
          </a:p>
        </p:txBody>
      </p:sp>
      <p:sp>
        <p:nvSpPr>
          <p:cNvPr id="16" name="Shape 11"/>
          <p:cNvSpPr/>
          <p:nvPr/>
        </p:nvSpPr>
        <p:spPr>
          <a:xfrm>
            <a:off x="457200" y="3886200"/>
            <a:ext cx="8229600" cy="713232"/>
          </a:xfrm>
          <a:prstGeom prst="roundRect">
            <a:avLst>
              <a:gd name="adj" fmla="val 10256"/>
            </a:avLst>
          </a:prstGeom>
          <a:solidFill>
            <a:srgbClr val="ECE1C7"/>
          </a:solidFill>
          <a:ln w="12700">
            <a:solidFill>
              <a:srgbClr val="ECE1C7"/>
            </a:solidFill>
            <a:prstDash val="solid"/>
          </a:ln>
        </p:spPr>
      </p:sp>
      <p:sp>
        <p:nvSpPr>
          <p:cNvPr id="17" name="Text 12"/>
          <p:cNvSpPr txBox="1"/>
          <p:nvPr/>
        </p:nvSpPr>
        <p:spPr>
          <a:xfrm>
            <a:off x="685800" y="3959352"/>
            <a:ext cx="7772400" cy="566928"/>
          </a:xfrm>
          <a:prstGeom prst="rect">
            <a:avLst/>
          </a:prstGeom>
          <a:noFill/>
          <a:ln/>
        </p:spPr>
        <p:txBody>
          <a:bodyPr wrap="square" lIns="0" tIns="0" rIns="0" bIns="0" rtlCol="0" anchor="ctr"/>
          <a:lstStyle/>
          <a:p>
            <a:pPr indent="0" marL="0">
              <a:buNone/>
            </a:pPr>
            <a:r>
              <a:rPr lang="en-US" sz="1200" b="1" dirty="0">
                <a:solidFill>
                  <a:srgbClr val="143D28"/>
                </a:solidFill>
                <a:latin typeface="Calibri" pitchFamily="34" charset="0"/>
                <a:ea typeface="Calibri" pitchFamily="34" charset="-122"/>
                <a:cs typeface="Calibri" pitchFamily="34" charset="-120"/>
              </a:rPr>
              <a:t>Why we know this problem: </a:t>
            </a:r>
            <a:pPr indent="0" marL="0">
              <a:buNone/>
            </a:pPr>
            <a:r>
              <a:rPr lang="en-US" sz="1200" dirty="0">
                <a:solidFill>
                  <a:srgbClr val="143D28"/>
                </a:solidFill>
                <a:latin typeface="Calibri" pitchFamily="34" charset="0"/>
                <a:ea typeface="Calibri" pitchFamily="34" charset="-122"/>
                <a:cs typeface="Calibri" pitchFamily="34" charset="-120"/>
              </a:rPr>
              <a:t>Founder James Chambers watched the weekly workload his bishop carried, and spent 40+ years in sales watching reps learn objection-handling on live deals.</a:t>
            </a:r>
            <a:endParaRPr lang="en-US" sz="1200" dirty="0"/>
          </a:p>
        </p:txBody>
      </p:sp>
      <p:sp>
        <p:nvSpPr>
          <p:cNvPr id="18"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3 / 18</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What Cedarworks offers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Focused AI apps that each do one job really well</a:t>
            </a:r>
            <a:endParaRPr lang="en-US" sz="2600" dirty="0"/>
          </a:p>
        </p:txBody>
      </p:sp>
      <p:sp>
        <p:nvSpPr>
          <p:cNvPr id="4" name="Text 2"/>
          <p:cNvSpPr txBox="1"/>
          <p:nvPr/>
        </p:nvSpPr>
        <p:spPr>
          <a:xfrm>
            <a:off x="457200" y="1554480"/>
            <a:ext cx="3931920" cy="14630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Cedarworks Apps builds niche, subscription AI apps: one profession, one clear job, a running start in seconds. Each app has its own workflow, prompts and guardrails, so users get results instead of a blank chat box.</a:t>
            </a:r>
            <a:endParaRPr lang="en-US" sz="1400" dirty="0"/>
          </a:p>
        </p:txBody>
      </p:sp>
      <p:sp>
        <p:nvSpPr>
          <p:cNvPr id="5" name="Text 3"/>
          <p:cNvSpPr txBox="1"/>
          <p:nvPr/>
        </p:nvSpPr>
        <p:spPr>
          <a:xfrm>
            <a:off x="457200" y="3154680"/>
            <a:ext cx="3931920" cy="731520"/>
          </a:xfrm>
          <a:prstGeom prst="rect">
            <a:avLst/>
          </a:prstGeom>
          <a:noFill/>
          <a:ln/>
        </p:spPr>
        <p:txBody>
          <a:bodyPr wrap="square" lIns="0" tIns="0" rIns="0" bIns="0" rtlCol="0" anchor="t"/>
          <a:lstStyle/>
          <a:p>
            <a:pPr indent="0" marL="0">
              <a:buNone/>
            </a:pPr>
            <a:r>
              <a:rPr lang="en-US" sz="1400" i="1" dirty="0">
                <a:solidFill>
                  <a:srgbClr val="A9C2A8"/>
                </a:solidFill>
                <a:latin typeface="Cambria" pitchFamily="34" charset="0"/>
                <a:ea typeface="Cambria" pitchFamily="34" charset="-122"/>
                <a:cs typeface="Cambria" pitchFamily="34" charset="-120"/>
              </a:rPr>
              <a:t>One studio, many apps. Shared code, shared infrastructure, one founder-led team.</a:t>
            </a:r>
            <a:endParaRPr lang="en-US" sz="1400" dirty="0"/>
          </a:p>
        </p:txBody>
      </p:sp>
      <p:sp>
        <p:nvSpPr>
          <p:cNvPr id="6" name="Shape 4"/>
          <p:cNvSpPr/>
          <p:nvPr/>
        </p:nvSpPr>
        <p:spPr>
          <a:xfrm>
            <a:off x="4846320" y="1463040"/>
            <a:ext cx="502920" cy="50292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4977079" y="1593799"/>
            <a:ext cx="241402" cy="241402"/>
          </a:xfrm>
          <a:prstGeom prst="rect">
            <a:avLst/>
          </a:prstGeom>
        </p:spPr>
      </p:pic>
      <p:sp>
        <p:nvSpPr>
          <p:cNvPr id="8" name="Text 5"/>
          <p:cNvSpPr txBox="1"/>
          <p:nvPr/>
        </p:nvSpPr>
        <p:spPr>
          <a:xfrm>
            <a:off x="5532120" y="1463040"/>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Built for one job</a:t>
            </a:r>
            <a:endParaRPr lang="en-US" sz="1400" dirty="0"/>
          </a:p>
        </p:txBody>
      </p:sp>
      <p:sp>
        <p:nvSpPr>
          <p:cNvPr id="9" name="Text 6"/>
          <p:cNvSpPr txBox="1"/>
          <p:nvPr/>
        </p:nvSpPr>
        <p:spPr>
          <a:xfrm>
            <a:off x="5532120" y="1719072"/>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Purpose-built workflows, not generic chat</a:t>
            </a:r>
            <a:endParaRPr lang="en-US" sz="1150" dirty="0"/>
          </a:p>
        </p:txBody>
      </p:sp>
      <p:sp>
        <p:nvSpPr>
          <p:cNvPr id="10" name="Shape 7"/>
          <p:cNvSpPr/>
          <p:nvPr/>
        </p:nvSpPr>
        <p:spPr>
          <a:xfrm>
            <a:off x="4846320" y="2249424"/>
            <a:ext cx="502920" cy="50292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4977079" y="2380183"/>
            <a:ext cx="241402" cy="241402"/>
          </a:xfrm>
          <a:prstGeom prst="rect">
            <a:avLst/>
          </a:prstGeom>
        </p:spPr>
      </p:pic>
      <p:sp>
        <p:nvSpPr>
          <p:cNvPr id="12" name="Text 8"/>
          <p:cNvSpPr txBox="1"/>
          <p:nvPr/>
        </p:nvSpPr>
        <p:spPr>
          <a:xfrm>
            <a:off x="5532120" y="2249424"/>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Everywhere users are</a:t>
            </a:r>
            <a:endParaRPr lang="en-US" sz="1400" dirty="0"/>
          </a:p>
        </p:txBody>
      </p:sp>
      <p:sp>
        <p:nvSpPr>
          <p:cNvPr id="13" name="Text 9"/>
          <p:cNvSpPr txBox="1"/>
          <p:nvPr/>
        </p:nvSpPr>
        <p:spPr>
          <a:xfrm>
            <a:off x="5532120" y="2505456"/>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iOS, Android and web</a:t>
            </a:r>
            <a:endParaRPr lang="en-US" sz="1150" dirty="0"/>
          </a:p>
        </p:txBody>
      </p:sp>
      <p:sp>
        <p:nvSpPr>
          <p:cNvPr id="14" name="Shape 10"/>
          <p:cNvSpPr/>
          <p:nvPr/>
        </p:nvSpPr>
        <p:spPr>
          <a:xfrm>
            <a:off x="4846320" y="3035808"/>
            <a:ext cx="502920" cy="502920"/>
          </a:xfrm>
          <a:prstGeom prst="ellipse">
            <a:avLst/>
          </a:prstGeom>
          <a:solidFill>
            <a:srgbClr val="1E5238"/>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4977079" y="3166567"/>
            <a:ext cx="241402" cy="241402"/>
          </a:xfrm>
          <a:prstGeom prst="rect">
            <a:avLst/>
          </a:prstGeom>
        </p:spPr>
      </p:pic>
      <p:sp>
        <p:nvSpPr>
          <p:cNvPr id="16" name="Text 11"/>
          <p:cNvSpPr txBox="1"/>
          <p:nvPr/>
        </p:nvSpPr>
        <p:spPr>
          <a:xfrm>
            <a:off x="5532120" y="3035808"/>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Recurring revenue</a:t>
            </a:r>
            <a:endParaRPr lang="en-US" sz="1400" dirty="0"/>
          </a:p>
        </p:txBody>
      </p:sp>
      <p:sp>
        <p:nvSpPr>
          <p:cNvPr id="17" name="Text 12"/>
          <p:cNvSpPr txBox="1"/>
          <p:nvPr/>
        </p:nvSpPr>
        <p:spPr>
          <a:xfrm>
            <a:off x="5532120" y="3291840"/>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Monthly subscriptions with free trials</a:t>
            </a:r>
            <a:endParaRPr lang="en-US" sz="1150" dirty="0"/>
          </a:p>
        </p:txBody>
      </p:sp>
      <p:sp>
        <p:nvSpPr>
          <p:cNvPr id="18" name="Shape 13"/>
          <p:cNvSpPr/>
          <p:nvPr/>
        </p:nvSpPr>
        <p:spPr>
          <a:xfrm>
            <a:off x="4846320" y="3822192"/>
            <a:ext cx="502920" cy="502920"/>
          </a:xfrm>
          <a:prstGeom prst="ellipse">
            <a:avLst/>
          </a:prstGeom>
          <a:solidFill>
            <a:srgbClr val="1E5238"/>
          </a:solidFill>
          <a:ln w="19050">
            <a:solidFill>
              <a:srgbClr val="D98B3C"/>
            </a:solidFill>
            <a:prstDash val="solid"/>
          </a:ln>
        </p:spPr>
      </p:sp>
      <p:pic>
        <p:nvPicPr>
          <p:cNvPr id="19" name="Image 3" descr="preencoded.png">    </p:cNvPr>
          <p:cNvPicPr>
            <a:picLocks noChangeAspect="1"/>
          </p:cNvPicPr>
          <p:nvPr/>
        </p:nvPicPr>
        <p:blipFill>
          <a:blip r:embed="rId4"/>
          <a:stretch>
            <a:fillRect/>
          </a:stretch>
        </p:blipFill>
        <p:spPr>
          <a:xfrm>
            <a:off x="4977079" y="3952951"/>
            <a:ext cx="241402" cy="241402"/>
          </a:xfrm>
          <a:prstGeom prst="rect">
            <a:avLst/>
          </a:prstGeom>
        </p:spPr>
      </p:pic>
      <p:sp>
        <p:nvSpPr>
          <p:cNvPr id="20" name="Text 14"/>
          <p:cNvSpPr txBox="1"/>
          <p:nvPr/>
        </p:nvSpPr>
        <p:spPr>
          <a:xfrm>
            <a:off x="5532120" y="3822192"/>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A portfolio, not a bet</a:t>
            </a:r>
            <a:endParaRPr lang="en-US" sz="1400" dirty="0"/>
          </a:p>
        </p:txBody>
      </p:sp>
      <p:sp>
        <p:nvSpPr>
          <p:cNvPr id="21" name="Text 15"/>
          <p:cNvSpPr txBox="1"/>
          <p:nvPr/>
        </p:nvSpPr>
        <p:spPr>
          <a:xfrm>
            <a:off x="5532120" y="4078224"/>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Many apps spread the risk and share costs</a:t>
            </a:r>
            <a:endParaRPr lang="en-US" sz="1150" dirty="0"/>
          </a:p>
        </p:txBody>
      </p:sp>
      <p:sp>
        <p:nvSpPr>
          <p:cNvPr id="22"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4 / 18</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PastorAI  ·  pastorai.io</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29768" y="1453896"/>
            <a:ext cx="3346704" cy="3136392"/>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5000"/>
              </a:srgbClr>
            </a:outerShdw>
          </a:effectLst>
        </p:spPr>
      </p:sp>
      <p:pic>
        <p:nvPicPr>
          <p:cNvPr id="5" name="Image 0" descr="preencoded.png">    </p:cNvPr>
          <p:cNvPicPr>
            <a:picLocks noChangeAspect="1"/>
          </p:cNvPicPr>
          <p:nvPr/>
        </p:nvPicPr>
        <p:blipFill>
          <a:blip r:embed="rId1"/>
          <a:stretch>
            <a:fillRect/>
          </a:stretch>
        </p:blipFill>
        <p:spPr>
          <a:xfrm>
            <a:off x="457200" y="1481328"/>
            <a:ext cx="3291840" cy="3081528"/>
          </a:xfrm>
          <a:prstGeom prst="rect">
            <a:avLst/>
          </a:prstGeom>
        </p:spPr>
      </p:pic>
      <p:sp>
        <p:nvSpPr>
          <p:cNvPr id="6" name="Shape 3"/>
          <p:cNvSpPr/>
          <p:nvPr/>
        </p:nvSpPr>
        <p:spPr>
          <a:xfrm>
            <a:off x="3977640" y="1463040"/>
            <a:ext cx="2743200" cy="310896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4187952" y="1600200"/>
            <a:ext cx="237744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Features</a:t>
            </a:r>
            <a:endParaRPr lang="en-US" sz="1100" dirty="0"/>
          </a:p>
        </p:txBody>
      </p:sp>
      <p:sp>
        <p:nvSpPr>
          <p:cNvPr id="8" name="Text 5"/>
          <p:cNvSpPr txBox="1"/>
          <p:nvPr/>
        </p:nvSpPr>
        <p:spPr>
          <a:xfrm>
            <a:off x="4187952" y="1865376"/>
            <a:ext cx="2395728" cy="2011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Sermon Builder: full outlines with scripture</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Series Planner: multi-week series</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Bible Study: small-group guides</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Social media: 7 days of posts per sermon</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Devotionals and children's lessons</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Translation into 10 languages</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Sermon rehearsal</a:t>
            </a:r>
            <a:endParaRPr lang="en-US" sz="1100" dirty="0"/>
          </a:p>
        </p:txBody>
      </p:sp>
      <p:sp>
        <p:nvSpPr>
          <p:cNvPr id="9" name="Text 6"/>
          <p:cNvSpPr txBox="1"/>
          <p:nvPr/>
        </p:nvSpPr>
        <p:spPr>
          <a:xfrm>
            <a:off x="4187952" y="3931920"/>
            <a:ext cx="2395728" cy="548640"/>
          </a:xfrm>
          <a:prstGeom prst="rect">
            <a:avLst/>
          </a:prstGeom>
          <a:noFill/>
          <a:ln/>
        </p:spPr>
        <p:txBody>
          <a:bodyPr wrap="square" lIns="0" tIns="0" rIns="0" bIns="0" rtlCol="0" anchor="t"/>
          <a:lstStyle/>
          <a:p>
            <a:pPr indent="0" marL="0">
              <a:buNone/>
            </a:pPr>
            <a:r>
              <a:rPr lang="en-US" sz="10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050" dirty="0"/>
          </a:p>
        </p:txBody>
      </p:sp>
      <p:sp>
        <p:nvSpPr>
          <p:cNvPr id="10" name="Shape 7"/>
          <p:cNvSpPr/>
          <p:nvPr/>
        </p:nvSpPr>
        <p:spPr>
          <a:xfrm>
            <a:off x="6903720" y="1463040"/>
            <a:ext cx="1783080" cy="960120"/>
          </a:xfrm>
          <a:prstGeom prst="roundRect">
            <a:avLst>
              <a:gd name="adj" fmla="val 7619"/>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8"/>
          <p:cNvSpPr txBox="1"/>
          <p:nvPr/>
        </p:nvSpPr>
        <p:spPr>
          <a:xfrm>
            <a:off x="7104888" y="1554480"/>
            <a:ext cx="1417320" cy="457200"/>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a:t>
            </a:r>
            <a:endParaRPr lang="en-US" sz="2600" dirty="0"/>
          </a:p>
        </p:txBody>
      </p:sp>
      <p:sp>
        <p:nvSpPr>
          <p:cNvPr id="12" name="Text 9"/>
          <p:cNvSpPr txBox="1"/>
          <p:nvPr/>
        </p:nvSpPr>
        <p:spPr>
          <a:xfrm>
            <a:off x="7104888" y="2011680"/>
            <a:ext cx="1417320" cy="36576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free trial first</a:t>
            </a:r>
            <a:endParaRPr lang="en-US" sz="1100" dirty="0"/>
          </a:p>
        </p:txBody>
      </p:sp>
      <p:sp>
        <p:nvSpPr>
          <p:cNvPr id="13" name="Shape 10"/>
          <p:cNvSpPr/>
          <p:nvPr/>
        </p:nvSpPr>
        <p:spPr>
          <a:xfrm>
            <a:off x="6903720" y="2560320"/>
            <a:ext cx="1783080" cy="960120"/>
          </a:xfrm>
          <a:prstGeom prst="roundRect">
            <a:avLst>
              <a:gd name="adj" fmla="val 761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1"/>
          <p:cNvSpPr txBox="1"/>
          <p:nvPr/>
        </p:nvSpPr>
        <p:spPr>
          <a:xfrm>
            <a:off x="7104888" y="2651760"/>
            <a:ext cx="1417320" cy="457200"/>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15" name="Text 12"/>
          <p:cNvSpPr txBox="1"/>
          <p:nvPr/>
        </p:nvSpPr>
        <p:spPr>
          <a:xfrm>
            <a:off x="7104888" y="3108960"/>
            <a:ext cx="1417320" cy="3657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6" name="Shape 13"/>
          <p:cNvSpPr/>
          <p:nvPr/>
        </p:nvSpPr>
        <p:spPr>
          <a:xfrm>
            <a:off x="6903720" y="3657600"/>
            <a:ext cx="1783080" cy="960120"/>
          </a:xfrm>
          <a:prstGeom prst="roundRect">
            <a:avLst>
              <a:gd name="adj" fmla="val 761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4"/>
          <p:cNvSpPr txBox="1"/>
          <p:nvPr/>
        </p:nvSpPr>
        <p:spPr>
          <a:xfrm>
            <a:off x="7104888" y="3749040"/>
            <a:ext cx="1417320" cy="457200"/>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3</a:t>
            </a:r>
            <a:endParaRPr lang="en-US" sz="2600" dirty="0"/>
          </a:p>
        </p:txBody>
      </p:sp>
      <p:sp>
        <p:nvSpPr>
          <p:cNvPr id="18" name="Text 15"/>
          <p:cNvSpPr txBox="1"/>
          <p:nvPr/>
        </p:nvSpPr>
        <p:spPr>
          <a:xfrm>
            <a:off x="7104888" y="4206240"/>
            <a:ext cx="1417320" cy="3657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 Android · web</a:t>
            </a:r>
            <a:endParaRPr lang="en-US" sz="110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5 / 18</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Ready Room  ·  tryreadyroom.com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63040"/>
            <a:ext cx="1783080" cy="960120"/>
          </a:xfrm>
          <a:prstGeom prst="roundRect">
            <a:avLst>
              <a:gd name="adj" fmla="val 7619"/>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1417320" cy="457200"/>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a:t>
            </a:r>
            <a:endParaRPr lang="en-US" sz="2600" dirty="0"/>
          </a:p>
        </p:txBody>
      </p:sp>
      <p:sp>
        <p:nvSpPr>
          <p:cNvPr id="6" name="Text 4"/>
          <p:cNvSpPr txBox="1"/>
          <p:nvPr/>
        </p:nvSpPr>
        <p:spPr>
          <a:xfrm>
            <a:off x="658368" y="2011680"/>
            <a:ext cx="1417320" cy="36576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free trial first</a:t>
            </a:r>
            <a:endParaRPr lang="en-US" sz="1100" dirty="0"/>
          </a:p>
        </p:txBody>
      </p:sp>
      <p:sp>
        <p:nvSpPr>
          <p:cNvPr id="7" name="Shape 5"/>
          <p:cNvSpPr/>
          <p:nvPr/>
        </p:nvSpPr>
        <p:spPr>
          <a:xfrm>
            <a:off x="457200" y="2560320"/>
            <a:ext cx="1783080" cy="960120"/>
          </a:xfrm>
          <a:prstGeom prst="roundRect">
            <a:avLst>
              <a:gd name="adj" fmla="val 761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58368" y="2651760"/>
            <a:ext cx="1417320" cy="457200"/>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9" name="Text 7"/>
          <p:cNvSpPr txBox="1"/>
          <p:nvPr/>
        </p:nvSpPr>
        <p:spPr>
          <a:xfrm>
            <a:off x="658368" y="3108960"/>
            <a:ext cx="1417320" cy="3657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0" name="Shape 8"/>
          <p:cNvSpPr/>
          <p:nvPr/>
        </p:nvSpPr>
        <p:spPr>
          <a:xfrm>
            <a:off x="457200" y="3657600"/>
            <a:ext cx="1783080" cy="960120"/>
          </a:xfrm>
          <a:prstGeom prst="roundRect">
            <a:avLst>
              <a:gd name="adj" fmla="val 761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58368" y="3749040"/>
            <a:ext cx="1417320" cy="457200"/>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3</a:t>
            </a:r>
            <a:endParaRPr lang="en-US" sz="2600" dirty="0"/>
          </a:p>
        </p:txBody>
      </p:sp>
      <p:sp>
        <p:nvSpPr>
          <p:cNvPr id="12" name="Text 10"/>
          <p:cNvSpPr txBox="1"/>
          <p:nvPr/>
        </p:nvSpPr>
        <p:spPr>
          <a:xfrm>
            <a:off x="658368" y="4206240"/>
            <a:ext cx="1417320" cy="3657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 Android · web</a:t>
            </a:r>
            <a:endParaRPr lang="en-US" sz="1100" dirty="0"/>
          </a:p>
        </p:txBody>
      </p:sp>
      <p:sp>
        <p:nvSpPr>
          <p:cNvPr id="13" name="Shape 11"/>
          <p:cNvSpPr/>
          <p:nvPr/>
        </p:nvSpPr>
        <p:spPr>
          <a:xfrm>
            <a:off x="2423160" y="1463040"/>
            <a:ext cx="2743200" cy="310896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2633472" y="1600200"/>
            <a:ext cx="237744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Features</a:t>
            </a:r>
            <a:endParaRPr lang="en-US" sz="1100" dirty="0"/>
          </a:p>
        </p:txBody>
      </p:sp>
      <p:sp>
        <p:nvSpPr>
          <p:cNvPr id="15" name="Text 13"/>
          <p:cNvSpPr txBox="1"/>
          <p:nvPr/>
        </p:nvSpPr>
        <p:spPr>
          <a:xfrm>
            <a:off x="2633472" y="1865376"/>
            <a:ext cx="2395728" cy="21945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Voice AI prospect that talks back and reacts to how you sell</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Discovery and objection drills at easy, medium and hard</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18+ ready-made prospects, from roofing to SaaS</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Score real calls: record live, upload a recording or paste a transcript</a:t>
            </a:r>
            <a:endParaRPr lang="en-US" sz="1100" dirty="0"/>
          </a:p>
          <a:p>
            <a:pPr marL="177800" indent="-177800">
              <a:spcAft>
                <a:spcPts val="300"/>
              </a:spcAft>
              <a:buSzPct val="100000"/>
              <a:buChar char="•"/>
            </a:pPr>
            <a:r>
              <a:rPr lang="en-US" sz="1100" dirty="0">
                <a:solidFill>
                  <a:srgbClr val="1B2A21"/>
                </a:solidFill>
                <a:latin typeface="Calibri" pitchFamily="34" charset="0"/>
                <a:ea typeface="Calibri" pitchFamily="34" charset="-122"/>
                <a:cs typeface="Calibri" pitchFamily="34" charset="-120"/>
              </a:rPr>
              <a:t>AI coach scorecard after every session</a:t>
            </a:r>
            <a:endParaRPr lang="en-US" sz="1100" dirty="0"/>
          </a:p>
        </p:txBody>
      </p:sp>
      <p:sp>
        <p:nvSpPr>
          <p:cNvPr id="16" name="Text 14"/>
          <p:cNvSpPr txBox="1"/>
          <p:nvPr/>
        </p:nvSpPr>
        <p:spPr>
          <a:xfrm>
            <a:off x="2633472" y="4069080"/>
            <a:ext cx="2395728" cy="411480"/>
          </a:xfrm>
          <a:prstGeom prst="rect">
            <a:avLst/>
          </a:prstGeom>
          <a:noFill/>
          <a:ln/>
        </p:spPr>
        <p:txBody>
          <a:bodyPr wrap="square" lIns="0" tIns="0" rIns="0" bIns="0" rtlCol="0" anchor="t"/>
          <a:lstStyle/>
          <a:p>
            <a:pPr indent="0" marL="0">
              <a:buNone/>
            </a:pPr>
            <a:r>
              <a:rPr lang="en-US" sz="1050" i="1" dirty="0">
                <a:solidFill>
                  <a:srgbClr val="143D28"/>
                </a:solidFill>
                <a:latin typeface="Cambria" pitchFamily="34" charset="0"/>
                <a:ea typeface="Cambria" pitchFamily="34" charset="-122"/>
                <a:cs typeface="Cambria" pitchFamily="34" charset="-120"/>
              </a:rPr>
              <a:t>Built on 40+ years of the founder's sales experience.</a:t>
            </a:r>
            <a:endParaRPr lang="en-US" sz="1050" dirty="0"/>
          </a:p>
        </p:txBody>
      </p:sp>
      <p:sp>
        <p:nvSpPr>
          <p:cNvPr id="17" name="Shape 15"/>
          <p:cNvSpPr/>
          <p:nvPr/>
        </p:nvSpPr>
        <p:spPr>
          <a:xfrm>
            <a:off x="5367528" y="1453896"/>
            <a:ext cx="3346704" cy="3136392"/>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5000"/>
              </a:srgbClr>
            </a:outerShdw>
          </a:effectLst>
        </p:spPr>
      </p:sp>
      <p:pic>
        <p:nvPicPr>
          <p:cNvPr id="18" name="Image 0" descr="preencoded.png">    </p:cNvPr>
          <p:cNvPicPr>
            <a:picLocks noChangeAspect="1"/>
          </p:cNvPicPr>
          <p:nvPr/>
        </p:nvPicPr>
        <p:blipFill>
          <a:blip r:embed="rId1"/>
          <a:stretch>
            <a:fillRect/>
          </a:stretch>
        </p:blipFill>
        <p:spPr>
          <a:xfrm>
            <a:off x="5394960" y="1481328"/>
            <a:ext cx="3291840" cy="3081528"/>
          </a:xfrm>
          <a:prstGeom prst="rect">
            <a:avLst/>
          </a:prstGeom>
        </p:spPr>
      </p:pic>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6 / 18</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AppForge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engine for finding and building apps</a:t>
            </a:r>
            <a:endParaRPr lang="en-US" sz="2600" dirty="0"/>
          </a:p>
        </p:txBody>
      </p:sp>
      <p:sp>
        <p:nvSpPr>
          <p:cNvPr id="4" name="Shape 2"/>
          <p:cNvSpPr/>
          <p:nvPr/>
        </p:nvSpPr>
        <p:spPr>
          <a:xfrm>
            <a:off x="429768" y="1453896"/>
            <a:ext cx="3346704" cy="3136392"/>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5000"/>
              </a:srgbClr>
            </a:outerShdw>
          </a:effectLst>
        </p:spPr>
      </p:sp>
      <p:pic>
        <p:nvPicPr>
          <p:cNvPr id="5" name="Image 0" descr="preencoded.png">    </p:cNvPr>
          <p:cNvPicPr>
            <a:picLocks noChangeAspect="1"/>
          </p:cNvPicPr>
          <p:nvPr/>
        </p:nvPicPr>
        <p:blipFill>
          <a:blip r:embed="rId1"/>
          <a:stretch>
            <a:fillRect/>
          </a:stretch>
        </p:blipFill>
        <p:spPr>
          <a:xfrm>
            <a:off x="457200" y="1481328"/>
            <a:ext cx="3291840" cy="3081528"/>
          </a:xfrm>
          <a:prstGeom prst="rect">
            <a:avLst/>
          </a:prstGeom>
        </p:spPr>
      </p:pic>
      <p:sp>
        <p:nvSpPr>
          <p:cNvPr id="6" name="Shape 3"/>
          <p:cNvSpPr/>
          <p:nvPr/>
        </p:nvSpPr>
        <p:spPr>
          <a:xfrm>
            <a:off x="4069080" y="1517904"/>
            <a:ext cx="475488" cy="475488"/>
          </a:xfrm>
          <a:prstGeom prst="ellipse">
            <a:avLst/>
          </a:prstGeom>
          <a:solidFill>
            <a:srgbClr val="1E5238"/>
          </a:solidFill>
          <a:ln w="19050">
            <a:solidFill>
              <a:srgbClr val="D98B3C"/>
            </a:solidFill>
            <a:prstDash val="solid"/>
          </a:ln>
        </p:spPr>
      </p:sp>
      <p:pic>
        <p:nvPicPr>
          <p:cNvPr id="7" name="Image 1" descr="preencoded.png">    </p:cNvPr>
          <p:cNvPicPr>
            <a:picLocks noChangeAspect="1"/>
          </p:cNvPicPr>
          <p:nvPr/>
        </p:nvPicPr>
        <p:blipFill>
          <a:blip r:embed="rId2"/>
          <a:stretch>
            <a:fillRect/>
          </a:stretch>
        </p:blipFill>
        <p:spPr>
          <a:xfrm>
            <a:off x="4192707" y="1641531"/>
            <a:ext cx="228234" cy="228234"/>
          </a:xfrm>
          <a:prstGeom prst="rect">
            <a:avLst/>
          </a:prstGeom>
        </p:spPr>
      </p:pic>
      <p:sp>
        <p:nvSpPr>
          <p:cNvPr id="8" name="Text 4"/>
          <p:cNvSpPr txBox="1"/>
          <p:nvPr/>
        </p:nvSpPr>
        <p:spPr>
          <a:xfrm>
            <a:off x="4709160" y="1481328"/>
            <a:ext cx="397764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1  Analyze</a:t>
            </a:r>
            <a:endParaRPr lang="en-US" sz="1400" dirty="0"/>
          </a:p>
        </p:txBody>
      </p:sp>
      <p:sp>
        <p:nvSpPr>
          <p:cNvPr id="9" name="Text 5"/>
          <p:cNvSpPr txBox="1"/>
          <p:nvPr/>
        </p:nvSpPr>
        <p:spPr>
          <a:xfrm>
            <a:off x="4709160" y="1746504"/>
            <a:ext cx="3977640" cy="45720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Top 100 Apps, Market Analysis and Opportunities find underserved niches with proven demand</a:t>
            </a:r>
            <a:endParaRPr lang="en-US" sz="1100" dirty="0"/>
          </a:p>
        </p:txBody>
      </p:sp>
      <p:sp>
        <p:nvSpPr>
          <p:cNvPr id="10" name="Shape 6"/>
          <p:cNvSpPr/>
          <p:nvPr/>
        </p:nvSpPr>
        <p:spPr>
          <a:xfrm>
            <a:off x="4069080" y="2304288"/>
            <a:ext cx="475488" cy="475488"/>
          </a:xfrm>
          <a:prstGeom prst="ellipse">
            <a:avLst/>
          </a:prstGeom>
          <a:solidFill>
            <a:srgbClr val="1E5238"/>
          </a:solidFill>
          <a:ln w="19050">
            <a:solidFill>
              <a:srgbClr val="D98B3C"/>
            </a:solidFill>
            <a:prstDash val="solid"/>
          </a:ln>
        </p:spPr>
      </p:sp>
      <p:pic>
        <p:nvPicPr>
          <p:cNvPr id="11" name="Image 2" descr="preencoded.png">    </p:cNvPr>
          <p:cNvPicPr>
            <a:picLocks noChangeAspect="1"/>
          </p:cNvPicPr>
          <p:nvPr/>
        </p:nvPicPr>
        <p:blipFill>
          <a:blip r:embed="rId3"/>
          <a:stretch>
            <a:fillRect/>
          </a:stretch>
        </p:blipFill>
        <p:spPr>
          <a:xfrm>
            <a:off x="4192707" y="2427915"/>
            <a:ext cx="228234" cy="228234"/>
          </a:xfrm>
          <a:prstGeom prst="rect">
            <a:avLst/>
          </a:prstGeom>
        </p:spPr>
      </p:pic>
      <p:sp>
        <p:nvSpPr>
          <p:cNvPr id="12" name="Text 7"/>
          <p:cNvSpPr txBox="1"/>
          <p:nvPr/>
        </p:nvSpPr>
        <p:spPr>
          <a:xfrm>
            <a:off x="4709160" y="2267712"/>
            <a:ext cx="397764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2  Score &amp; select</a:t>
            </a:r>
            <a:endParaRPr lang="en-US" sz="1400" dirty="0"/>
          </a:p>
        </p:txBody>
      </p:sp>
      <p:sp>
        <p:nvSpPr>
          <p:cNvPr id="13" name="Text 8"/>
          <p:cNvSpPr txBox="1"/>
          <p:nvPr/>
        </p:nvSpPr>
        <p:spPr>
          <a:xfrm>
            <a:off x="4709160" y="2532888"/>
            <a:ext cx="3977640" cy="45720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App Types and the Viability Scorer rank ideas on demand, competition and fit</a:t>
            </a:r>
            <a:endParaRPr lang="en-US" sz="1100" dirty="0"/>
          </a:p>
        </p:txBody>
      </p:sp>
      <p:sp>
        <p:nvSpPr>
          <p:cNvPr id="14" name="Shape 9"/>
          <p:cNvSpPr/>
          <p:nvPr/>
        </p:nvSpPr>
        <p:spPr>
          <a:xfrm>
            <a:off x="4069080" y="3090672"/>
            <a:ext cx="475488" cy="475488"/>
          </a:xfrm>
          <a:prstGeom prst="ellipse">
            <a:avLst/>
          </a:prstGeom>
          <a:solidFill>
            <a:srgbClr val="1E5238"/>
          </a:solidFill>
          <a:ln w="19050">
            <a:solidFill>
              <a:srgbClr val="D98B3C"/>
            </a:solidFill>
            <a:prstDash val="solid"/>
          </a:ln>
        </p:spPr>
      </p:sp>
      <p:pic>
        <p:nvPicPr>
          <p:cNvPr id="15" name="Image 3" descr="preencoded.png">    </p:cNvPr>
          <p:cNvPicPr>
            <a:picLocks noChangeAspect="1"/>
          </p:cNvPicPr>
          <p:nvPr/>
        </p:nvPicPr>
        <p:blipFill>
          <a:blip r:embed="rId4"/>
          <a:stretch>
            <a:fillRect/>
          </a:stretch>
        </p:blipFill>
        <p:spPr>
          <a:xfrm>
            <a:off x="4192707" y="3214299"/>
            <a:ext cx="228234" cy="228234"/>
          </a:xfrm>
          <a:prstGeom prst="rect">
            <a:avLst/>
          </a:prstGeom>
        </p:spPr>
      </p:pic>
      <p:sp>
        <p:nvSpPr>
          <p:cNvPr id="16" name="Text 10"/>
          <p:cNvSpPr txBox="1"/>
          <p:nvPr/>
        </p:nvSpPr>
        <p:spPr>
          <a:xfrm>
            <a:off x="4709160" y="3054096"/>
            <a:ext cx="397764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3  Build</a:t>
            </a:r>
            <a:endParaRPr lang="en-US" sz="1400" dirty="0"/>
          </a:p>
        </p:txBody>
      </p:sp>
      <p:sp>
        <p:nvSpPr>
          <p:cNvPr id="17" name="Text 11"/>
          <p:cNvSpPr txBox="1"/>
          <p:nvPr/>
        </p:nvSpPr>
        <p:spPr>
          <a:xfrm>
            <a:off x="4709160" y="3319272"/>
            <a:ext cx="3977640" cy="45720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Tech Stack, Projects and Build reuse the Cedarworks stack of AI, voice and billing</a:t>
            </a:r>
            <a:endParaRPr lang="en-US" sz="1100" dirty="0"/>
          </a:p>
        </p:txBody>
      </p:sp>
      <p:sp>
        <p:nvSpPr>
          <p:cNvPr id="18" name="Shape 12"/>
          <p:cNvSpPr/>
          <p:nvPr/>
        </p:nvSpPr>
        <p:spPr>
          <a:xfrm>
            <a:off x="4069080" y="3877056"/>
            <a:ext cx="475488" cy="475488"/>
          </a:xfrm>
          <a:prstGeom prst="ellipse">
            <a:avLst/>
          </a:prstGeom>
          <a:solidFill>
            <a:srgbClr val="1E5238"/>
          </a:solidFill>
          <a:ln w="19050">
            <a:solidFill>
              <a:srgbClr val="D98B3C"/>
            </a:solidFill>
            <a:prstDash val="solid"/>
          </a:ln>
        </p:spPr>
      </p:sp>
      <p:pic>
        <p:nvPicPr>
          <p:cNvPr id="19" name="Image 4" descr="preencoded.png">    </p:cNvPr>
          <p:cNvPicPr>
            <a:picLocks noChangeAspect="1"/>
          </p:cNvPicPr>
          <p:nvPr/>
        </p:nvPicPr>
        <p:blipFill>
          <a:blip r:embed="rId5"/>
          <a:stretch>
            <a:fillRect/>
          </a:stretch>
        </p:blipFill>
        <p:spPr>
          <a:xfrm>
            <a:off x="4192707" y="4000683"/>
            <a:ext cx="228234" cy="228234"/>
          </a:xfrm>
          <a:prstGeom prst="rect">
            <a:avLst/>
          </a:prstGeom>
        </p:spPr>
      </p:pic>
      <p:sp>
        <p:nvSpPr>
          <p:cNvPr id="20" name="Text 13"/>
          <p:cNvSpPr txBox="1"/>
          <p:nvPr/>
        </p:nvSpPr>
        <p:spPr>
          <a:xfrm>
            <a:off x="4709160" y="3840480"/>
            <a:ext cx="397764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4  Launch &amp; market</a:t>
            </a:r>
            <a:endParaRPr lang="en-US" sz="1400" dirty="0"/>
          </a:p>
        </p:txBody>
      </p:sp>
      <p:sp>
        <p:nvSpPr>
          <p:cNvPr id="21" name="Text 14"/>
          <p:cNvSpPr txBox="1"/>
          <p:nvPr/>
        </p:nvSpPr>
        <p:spPr>
          <a:xfrm>
            <a:off x="4709160" y="4105656"/>
            <a:ext cx="3977640" cy="45720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Store Listing, plus one-to-many emails, social posts, ads and presentations</a:t>
            </a:r>
            <a:endParaRPr lang="en-US" sz="1100" dirty="0"/>
          </a:p>
        </p:txBody>
      </p:sp>
      <p:sp>
        <p:nvSpPr>
          <p:cNvPr id="22"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7 / 18</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5836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AI apps live and selling</a:t>
            </a:r>
            <a:endParaRPr lang="en-US" sz="1100" dirty="0"/>
          </a:p>
        </p:txBody>
      </p:sp>
      <p:sp>
        <p:nvSpPr>
          <p:cNvPr id="7" name="Shape 5"/>
          <p:cNvSpPr/>
          <p:nvPr/>
        </p:nvSpPr>
        <p:spPr>
          <a:xfrm>
            <a:off x="256032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6148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6148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 Android · web</a:t>
            </a:r>
            <a:endParaRPr lang="en-US" sz="1100" dirty="0"/>
          </a:p>
        </p:txBody>
      </p:sp>
      <p:sp>
        <p:nvSpPr>
          <p:cNvPr id="10" name="Shape 8"/>
          <p:cNvSpPr/>
          <p:nvPr/>
        </p:nvSpPr>
        <p:spPr>
          <a:xfrm>
            <a:off x="466344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6460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6460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across both apps</a:t>
            </a:r>
            <a:endParaRPr lang="en-US" sz="1100" dirty="0"/>
          </a:p>
        </p:txBody>
      </p:sp>
      <p:sp>
        <p:nvSpPr>
          <p:cNvPr id="13" name="Shape 11"/>
          <p:cNvSpPr/>
          <p:nvPr/>
        </p:nvSpPr>
        <p:spPr>
          <a:xfrm>
            <a:off x="6766560" y="1463040"/>
            <a:ext cx="1874520" cy="1024128"/>
          </a:xfrm>
          <a:prstGeom prst="roundRect">
            <a:avLst>
              <a:gd name="adj" fmla="val 714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67728" y="1554480"/>
            <a:ext cx="1508760" cy="457200"/>
          </a:xfrm>
          <a:prstGeom prst="rect">
            <a:avLst/>
          </a:prstGeom>
          <a:noFill/>
          <a:ln/>
        </p:spPr>
        <p:txBody>
          <a:bodyPr wrap="square" lIns="0" tIns="0" rIns="0" bIns="0" rtlCol="0" anchor="ctr"/>
          <a:lstStyle/>
          <a:p>
            <a:pPr indent="0" marL="0">
              <a:buNone/>
            </a:pPr>
            <a:r>
              <a:rPr lang="en-US" sz="1900" b="1" dirty="0">
                <a:solidFill>
                  <a:srgbClr val="F4EBD5"/>
                </a:solidFill>
                <a:latin typeface="Cambria" pitchFamily="34" charset="0"/>
                <a:ea typeface="Cambria" pitchFamily="34" charset="-122"/>
                <a:cs typeface="Cambria" pitchFamily="34" charset="-120"/>
              </a:rPr>
              <a:t>Pre-revenue</a:t>
            </a:r>
            <a:endParaRPr lang="en-US" sz="1900" dirty="0"/>
          </a:p>
        </p:txBody>
      </p:sp>
      <p:sp>
        <p:nvSpPr>
          <p:cNvPr id="15" name="Text 13"/>
          <p:cNvSpPr txBox="1"/>
          <p:nvPr/>
        </p:nvSpPr>
        <p:spPr>
          <a:xfrm>
            <a:off x="6967728" y="2011680"/>
            <a:ext cx="1508760" cy="429768"/>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$0 MRR today · team of 1 · launched 2026</a:t>
            </a:r>
            <a:endParaRPr lang="en-US" sz="1100" dirty="0"/>
          </a:p>
        </p:txBody>
      </p:sp>
      <p:sp>
        <p:nvSpPr>
          <p:cNvPr id="16" name="Shape 14"/>
          <p:cNvSpPr/>
          <p:nvPr/>
        </p:nvSpPr>
        <p:spPr>
          <a:xfrm>
            <a:off x="45720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Milestones achieved</a:t>
            </a:r>
            <a:endParaRPr lang="en-US" sz="1100" dirty="0"/>
          </a:p>
        </p:txBody>
      </p:sp>
      <p:sp>
        <p:nvSpPr>
          <p:cNvPr id="18" name="Text 16"/>
          <p:cNvSpPr txBox="1"/>
          <p:nvPr/>
        </p:nvSpPr>
        <p:spPr>
          <a:xfrm>
            <a:off x="685800" y="3090672"/>
            <a:ext cx="3611880" cy="137160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Cedarworks Apps LLC formed (2026)</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PastorAI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Ready Room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Subscription billing and free trials live</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First trial users and first testimonial</a:t>
            </a:r>
            <a:endParaRPr lang="en-US" sz="1100" dirty="0"/>
          </a:p>
        </p:txBody>
      </p:sp>
      <p:sp>
        <p:nvSpPr>
          <p:cNvPr id="19" name="Shape 17"/>
          <p:cNvSpPr/>
          <p:nvPr/>
        </p:nvSpPr>
        <p:spPr>
          <a:xfrm>
            <a:off x="470916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93776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90-day KPI targets</a:t>
            </a:r>
            <a:endParaRPr lang="en-US" sz="1100" dirty="0"/>
          </a:p>
        </p:txBody>
      </p:sp>
      <p:sp>
        <p:nvSpPr>
          <p:cNvPr id="21" name="Text 19"/>
          <p:cNvSpPr txBox="1"/>
          <p:nvPr/>
        </p:nvSpPr>
        <p:spPr>
          <a:xfrm>
            <a:off x="4937760" y="310896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Paying subscribers</a:t>
            </a:r>
            <a:endParaRPr lang="en-US" sz="1100" dirty="0"/>
          </a:p>
        </p:txBody>
      </p:sp>
      <p:sp>
        <p:nvSpPr>
          <p:cNvPr id="22" name="Text 20"/>
          <p:cNvSpPr txBox="1"/>
          <p:nvPr/>
        </p:nvSpPr>
        <p:spPr>
          <a:xfrm>
            <a:off x="7315200" y="310896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75</a:t>
            </a:r>
            <a:endParaRPr lang="en-US" sz="1100" dirty="0"/>
          </a:p>
        </p:txBody>
      </p:sp>
      <p:sp>
        <p:nvSpPr>
          <p:cNvPr id="23" name="Text 21"/>
          <p:cNvSpPr txBox="1"/>
          <p:nvPr/>
        </p:nvSpPr>
        <p:spPr>
          <a:xfrm>
            <a:off x="4937760" y="338328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recurring revenue</a:t>
            </a:r>
            <a:endParaRPr lang="en-US" sz="1100" dirty="0"/>
          </a:p>
        </p:txBody>
      </p:sp>
      <p:sp>
        <p:nvSpPr>
          <p:cNvPr id="24" name="Text 22"/>
          <p:cNvSpPr txBox="1"/>
          <p:nvPr/>
        </p:nvSpPr>
        <p:spPr>
          <a:xfrm>
            <a:off x="7315200" y="338328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~$2,850</a:t>
            </a:r>
            <a:endParaRPr lang="en-US" sz="1100" dirty="0"/>
          </a:p>
        </p:txBody>
      </p:sp>
      <p:sp>
        <p:nvSpPr>
          <p:cNvPr id="25" name="Text 23"/>
          <p:cNvSpPr txBox="1"/>
          <p:nvPr/>
        </p:nvSpPr>
        <p:spPr>
          <a:xfrm>
            <a:off x="4937760" y="365760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Trial-to-paid conversion</a:t>
            </a:r>
            <a:endParaRPr lang="en-US" sz="1100" dirty="0"/>
          </a:p>
        </p:txBody>
      </p:sp>
      <p:sp>
        <p:nvSpPr>
          <p:cNvPr id="26" name="Text 24"/>
          <p:cNvSpPr txBox="1"/>
          <p:nvPr/>
        </p:nvSpPr>
        <p:spPr>
          <a:xfrm>
            <a:off x="7315200" y="365760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20%+</a:t>
            </a:r>
            <a:endParaRPr lang="en-US" sz="1100" dirty="0"/>
          </a:p>
        </p:txBody>
      </p:sp>
      <p:sp>
        <p:nvSpPr>
          <p:cNvPr id="27" name="Text 25"/>
          <p:cNvSpPr txBox="1"/>
          <p:nvPr/>
        </p:nvSpPr>
        <p:spPr>
          <a:xfrm>
            <a:off x="4937760" y="393192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churn</a:t>
            </a:r>
            <a:endParaRPr lang="en-US" sz="1100" dirty="0"/>
          </a:p>
        </p:txBody>
      </p:sp>
      <p:sp>
        <p:nvSpPr>
          <p:cNvPr id="28" name="Text 26"/>
          <p:cNvSpPr txBox="1"/>
          <p:nvPr/>
        </p:nvSpPr>
        <p:spPr>
          <a:xfrm>
            <a:off x="7315200" y="393192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under 6%</a:t>
            </a:r>
            <a:endParaRPr lang="en-US" sz="1100" dirty="0"/>
          </a:p>
        </p:txBody>
      </p:sp>
      <p:sp>
        <p:nvSpPr>
          <p:cNvPr id="29" name="Text 27"/>
          <p:cNvSpPr txBox="1"/>
          <p:nvPr/>
        </p:nvSpPr>
        <p:spPr>
          <a:xfrm>
            <a:off x="4937760" y="420624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CAC tracked per channel</a:t>
            </a:r>
            <a:endParaRPr lang="en-US" sz="1100" dirty="0"/>
          </a:p>
        </p:txBody>
      </p:sp>
      <p:sp>
        <p:nvSpPr>
          <p:cNvPr id="30" name="Text 28"/>
          <p:cNvSpPr txBox="1"/>
          <p:nvPr/>
        </p:nvSpPr>
        <p:spPr>
          <a:xfrm>
            <a:off x="7315200" y="420624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weekly</a:t>
            </a:r>
            <a:endParaRPr lang="en-US" sz="1100" dirty="0"/>
          </a:p>
        </p:txBody>
      </p:sp>
      <p:sp>
        <p:nvSpPr>
          <p:cNvPr id="31" name="Text 29"/>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32" name="Text 30"/>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8 / 18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417320"/>
            <a:ext cx="2834640" cy="2834640"/>
          </a:xfrm>
          <a:prstGeom prst="ellipse">
            <a:avLst/>
          </a:prstGeom>
          <a:solidFill>
            <a:srgbClr val="ECE1C7"/>
          </a:solidFill>
          <a:ln w="12700">
            <a:solidFill>
              <a:srgbClr val="ECE1C7"/>
            </a:solidFill>
            <a:prstDash val="solid"/>
          </a:ln>
        </p:spPr>
      </p:sp>
      <p:sp>
        <p:nvSpPr>
          <p:cNvPr id="5" name="Shape 3"/>
          <p:cNvSpPr/>
          <p:nvPr/>
        </p:nvSpPr>
        <p:spPr>
          <a:xfrm>
            <a:off x="1074420" y="2331720"/>
            <a:ext cx="1783080" cy="1783080"/>
          </a:xfrm>
          <a:prstGeom prst="ellipse">
            <a:avLst/>
          </a:prstGeom>
          <a:solidFill>
            <a:srgbClr val="A9C2A8"/>
          </a:solidFill>
          <a:ln w="12700">
            <a:solidFill>
              <a:srgbClr val="A9C2A8"/>
            </a:solidFill>
            <a:prstDash val="solid"/>
          </a:ln>
        </p:spPr>
      </p:sp>
      <p:sp>
        <p:nvSpPr>
          <p:cNvPr id="6" name="Shape 4"/>
          <p:cNvSpPr/>
          <p:nvPr/>
        </p:nvSpPr>
        <p:spPr>
          <a:xfrm>
            <a:off x="1531620" y="315468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45920"/>
            <a:ext cx="283464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TAM ~$690M</a:t>
            </a:r>
            <a:endParaRPr lang="en-US" sz="1300" dirty="0"/>
          </a:p>
        </p:txBody>
      </p:sp>
      <p:sp>
        <p:nvSpPr>
          <p:cNvPr id="8" name="Text 6"/>
          <p:cNvSpPr txBox="1"/>
          <p:nvPr/>
        </p:nvSpPr>
        <p:spPr>
          <a:xfrm>
            <a:off x="1074420" y="2560320"/>
            <a:ext cx="1783080" cy="274320"/>
          </a:xfrm>
          <a:prstGeom prst="rect">
            <a:avLst/>
          </a:prstGeom>
          <a:noFill/>
          <a:ln/>
        </p:spPr>
        <p:txBody>
          <a:bodyPr wrap="square" lIns="0" tIns="0" rIns="0" bIns="0" rtlCol="0" anchor="t"/>
          <a:lstStyle/>
          <a:p>
            <a:pPr algn="ctr" indent="0" marL="0">
              <a:buNone/>
            </a:pPr>
            <a:r>
              <a:rPr lang="en-US" sz="1200" b="1" dirty="0">
                <a:solidFill>
                  <a:srgbClr val="143D28"/>
                </a:solidFill>
                <a:latin typeface="Calibri" pitchFamily="34" charset="0"/>
                <a:ea typeface="Calibri" pitchFamily="34" charset="-122"/>
                <a:cs typeface="Calibri" pitchFamily="34" charset="-120"/>
              </a:rPr>
              <a:t>SAM ~$207M</a:t>
            </a:r>
            <a:endParaRPr lang="en-US" sz="1200" dirty="0"/>
          </a:p>
        </p:txBody>
      </p:sp>
      <p:sp>
        <p:nvSpPr>
          <p:cNvPr id="9" name="Text 7"/>
          <p:cNvSpPr txBox="1"/>
          <p:nvPr/>
        </p:nvSpPr>
        <p:spPr>
          <a:xfrm>
            <a:off x="1531620" y="3319272"/>
            <a:ext cx="868680" cy="548640"/>
          </a:xfrm>
          <a:prstGeom prst="rect">
            <a:avLst/>
          </a:prstGeom>
          <a:noFill/>
          <a:ln/>
        </p:spPr>
        <p:txBody>
          <a:bodyPr wrap="square" lIns="0" tIns="0" rIns="0" bIns="0" rtlCol="0" anchor="t"/>
          <a:lstStyle/>
          <a:p>
            <a:pPr algn="ctr" indent="0" marL="0">
              <a:buNone/>
            </a:pPr>
            <a:r>
              <a:rPr lang="en-US" sz="1050" b="1" dirty="0">
                <a:solidFill>
                  <a:srgbClr val="F4EBD5"/>
                </a:solidFill>
                <a:latin typeface="Calibri" pitchFamily="34" charset="0"/>
                <a:ea typeface="Calibri" pitchFamily="34" charset="-122"/>
                <a:cs typeface="Calibri" pitchFamily="34" charset="-120"/>
              </a:rPr>
              <a:t>SOM</a:t>
            </a:r>
            <a:endParaRPr lang="en-US" sz="1050" dirty="0"/>
          </a:p>
          <a:p>
            <a:pPr algn="ctr" indent="0" marL="0">
              <a:buNone/>
            </a:pPr>
            <a:r>
              <a:rPr lang="en-US" sz="1050" b="1" dirty="0">
                <a:solidFill>
                  <a:srgbClr val="F4EBD5"/>
                </a:solidFill>
                <a:latin typeface="Calibri" pitchFamily="34" charset="0"/>
                <a:ea typeface="Calibri" pitchFamily="34" charset="-122"/>
                <a:cs typeface="Calibri" pitchFamily="34" charset="-120"/>
              </a:rPr>
              <a:t>~$2M</a:t>
            </a:r>
            <a:endParaRPr lang="en-US" sz="1050" dirty="0"/>
          </a:p>
        </p:txBody>
      </p:sp>
      <p:sp>
        <p:nvSpPr>
          <p:cNvPr id="10" name="Text 8"/>
          <p:cNvSpPr txBox="1"/>
          <p:nvPr/>
        </p:nvSpPr>
        <p:spPr>
          <a:xfrm>
            <a:off x="3931920" y="141732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total addressable</a:t>
            </a:r>
            <a:endParaRPr lang="en-US" sz="1300" dirty="0"/>
          </a:p>
        </p:txBody>
      </p:sp>
      <p:sp>
        <p:nvSpPr>
          <p:cNvPr id="11" name="Text 9"/>
          <p:cNvSpPr txBox="1"/>
          <p:nvPr/>
        </p:nvSpPr>
        <p:spPr>
          <a:xfrm>
            <a:off x="3931920" y="167335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300K+ U.S. congregations × $564/yr (≈ $169M), plus ~1.5M U.S. B2B sales reps × $348/yr (≈ $522M).</a:t>
            </a:r>
            <a:endParaRPr lang="en-US" sz="1100" dirty="0"/>
          </a:p>
        </p:txBody>
      </p:sp>
      <p:sp>
        <p:nvSpPr>
          <p:cNvPr id="12" name="Text 10"/>
          <p:cNvSpPr txBox="1"/>
          <p:nvPr/>
        </p:nvSpPr>
        <p:spPr>
          <a:xfrm>
            <a:off x="3931920" y="214884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SAM: serviceable</a:t>
            </a:r>
            <a:endParaRPr lang="en-US" sz="1300" dirty="0"/>
          </a:p>
        </p:txBody>
      </p:sp>
      <p:sp>
        <p:nvSpPr>
          <p:cNvPr id="13" name="Text 11"/>
          <p:cNvSpPr txBox="1"/>
          <p:nvPr/>
        </p:nvSpPr>
        <p:spPr>
          <a:xfrm>
            <a:off x="3931920" y="240487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The ~30% we can reach with digital, self-serve sales: small and mid-size churches, and individual reps and small teams.</a:t>
            </a:r>
            <a:endParaRPr lang="en-US" sz="1100" dirty="0"/>
          </a:p>
        </p:txBody>
      </p:sp>
      <p:sp>
        <p:nvSpPr>
          <p:cNvPr id="14" name="Text 12"/>
          <p:cNvSpPr txBox="1"/>
          <p:nvPr/>
        </p:nvSpPr>
        <p:spPr>
          <a:xfrm>
            <a:off x="3931920" y="288036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SOM: 3-year target</a:t>
            </a:r>
            <a:endParaRPr lang="en-US" sz="1300" dirty="0"/>
          </a:p>
        </p:txBody>
      </p:sp>
      <p:sp>
        <p:nvSpPr>
          <p:cNvPr id="15" name="Text 13"/>
          <p:cNvSpPr txBox="1"/>
          <p:nvPr/>
        </p:nvSpPr>
        <p:spPr>
          <a:xfrm>
            <a:off x="3931920" y="313639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1% of SAM, or about 4,500 subscribers and ~$2M in annual recurring revenue.</a:t>
            </a:r>
            <a:endParaRPr lang="en-US" sz="1100" dirty="0"/>
          </a:p>
        </p:txBody>
      </p:sp>
      <p:sp>
        <p:nvSpPr>
          <p:cNvPr id="16" name="Text 14"/>
          <p:cNvSpPr txBox="1"/>
          <p:nvPr/>
        </p:nvSpPr>
        <p:spPr>
          <a:xfrm>
            <a:off x="3931920" y="361188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Expansion</a:t>
            </a:r>
            <a:endParaRPr lang="en-US" sz="1300" dirty="0"/>
          </a:p>
        </p:txBody>
      </p:sp>
      <p:sp>
        <p:nvSpPr>
          <p:cNvPr id="17" name="Text 15"/>
          <p:cNvSpPr txBox="1"/>
          <p:nvPr/>
        </p:nvSpPr>
        <p:spPr>
          <a:xfrm>
            <a:off x="3931920" y="386791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Each of the 8 AppForge apps adds a new market on top of these two.</a:t>
            </a:r>
            <a:endParaRPr lang="en-US" sz="1100" dirty="0"/>
          </a:p>
        </p:txBody>
      </p:sp>
      <p:sp>
        <p:nvSpPr>
          <p:cNvPr id="18" name="Text 16"/>
          <p:cNvSpPr txBox="1"/>
          <p:nvPr/>
        </p:nvSpPr>
        <p:spPr>
          <a:xfrm>
            <a:off x="457200" y="4389120"/>
            <a:ext cx="8229600" cy="329184"/>
          </a:xfrm>
          <a:prstGeom prst="rect">
            <a:avLst/>
          </a:prstGeom>
          <a:noFill/>
          <a:ln/>
        </p:spPr>
        <p:txBody>
          <a:bodyPr wrap="square" lIns="0" tIns="0" rIns="0" bIns="0" rtlCol="0" anchor="t"/>
          <a:lstStyle/>
          <a:p>
            <a:pPr indent="0" marL="0">
              <a:buNone/>
            </a:pPr>
            <a:r>
              <a:rPr lang="en-US" sz="850" i="1" dirty="0">
                <a:solidFill>
                  <a:srgbClr val="5C6B61"/>
                </a:solidFill>
                <a:latin typeface="Calibri" pitchFamily="34" charset="0"/>
                <a:ea typeface="Calibri" pitchFamily="34" charset="-122"/>
                <a:cs typeface="Calibri" pitchFamily="34" charset="-120"/>
              </a:rPr>
              <a:t>Sources: Hartford Institute for Religion Research &amp; U.S. Religion Census (congregations); U.S. Bureau of Labor Statistics, Occupational Employment &amp; Wage Statistics (sales representatives, wholesale &amp; manufacturing). Prices: current PastorAI and Ready Room plans.</a:t>
            </a:r>
            <a:endParaRPr lang="en-US" sz="850" dirty="0"/>
          </a:p>
        </p:txBody>
      </p:sp>
      <p:sp>
        <p:nvSpPr>
          <p:cNvPr id="19"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9 / 18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  ·  Why now &amp; customer segments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463040"/>
            <a:ext cx="260604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194560" cy="274320"/>
          </a:xfrm>
          <a:prstGeom prst="rect">
            <a:avLst/>
          </a:prstGeom>
          <a:noFill/>
          <a:ln/>
        </p:spPr>
        <p:txBody>
          <a:bodyPr wrap="square" lIns="0" tIns="0" rIns="0" bIns="0" rtlCol="0" anchor="t"/>
          <a:lstStyle/>
          <a:p>
            <a:pPr indent="0" marL="0">
              <a:buNone/>
            </a:pPr>
            <a:r>
              <a:rPr lang="en-US" sz="1450" b="1" dirty="0">
                <a:solidFill>
                  <a:srgbClr val="143D28"/>
                </a:solidFill>
                <a:latin typeface="Cambria" pitchFamily="34" charset="0"/>
                <a:ea typeface="Cambria" pitchFamily="34" charset="-122"/>
                <a:cs typeface="Cambria" pitchFamily="34" charset="-120"/>
              </a:rPr>
              <a:t>AI got affordable</a:t>
            </a:r>
            <a:endParaRPr lang="en-US" sz="1450" dirty="0"/>
          </a:p>
        </p:txBody>
      </p:sp>
      <p:sp>
        <p:nvSpPr>
          <p:cNvPr id="8" name="Text 5"/>
          <p:cNvSpPr txBox="1"/>
          <p:nvPr/>
        </p:nvSpPr>
        <p:spPr>
          <a:xfrm>
            <a:off x="685800" y="2606040"/>
            <a:ext cx="2194560" cy="8229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100" dirty="0"/>
          </a:p>
        </p:txBody>
      </p:sp>
      <p:sp>
        <p:nvSpPr>
          <p:cNvPr id="9" name="Shape 6"/>
          <p:cNvSpPr/>
          <p:nvPr/>
        </p:nvSpPr>
        <p:spPr>
          <a:xfrm>
            <a:off x="3264408" y="1463040"/>
            <a:ext cx="260604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645920"/>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776679"/>
            <a:ext cx="241402" cy="241402"/>
          </a:xfrm>
          <a:prstGeom prst="rect">
            <a:avLst/>
          </a:prstGeom>
        </p:spPr>
      </p:pic>
      <p:sp>
        <p:nvSpPr>
          <p:cNvPr id="12" name="Text 8"/>
          <p:cNvSpPr txBox="1"/>
          <p:nvPr/>
        </p:nvSpPr>
        <p:spPr>
          <a:xfrm>
            <a:off x="3493008" y="2286000"/>
            <a:ext cx="2194560" cy="274320"/>
          </a:xfrm>
          <a:prstGeom prst="rect">
            <a:avLst/>
          </a:prstGeom>
          <a:noFill/>
          <a:ln/>
        </p:spPr>
        <p:txBody>
          <a:bodyPr wrap="square" lIns="0" tIns="0" rIns="0" bIns="0" rtlCol="0" anchor="t"/>
          <a:lstStyle/>
          <a:p>
            <a:pPr indent="0" marL="0">
              <a:buNone/>
            </a:pPr>
            <a:r>
              <a:rPr lang="en-US" sz="1450" b="1" dirty="0">
                <a:solidFill>
                  <a:srgbClr val="143D28"/>
                </a:solidFill>
                <a:latin typeface="Cambria" pitchFamily="34" charset="0"/>
                <a:ea typeface="Cambria" pitchFamily="34" charset="-122"/>
                <a:cs typeface="Cambria" pitchFamily="34" charset="-120"/>
              </a:rPr>
              <a:t>People expect AI help</a:t>
            </a:r>
            <a:endParaRPr lang="en-US" sz="1450" dirty="0"/>
          </a:p>
        </p:txBody>
      </p:sp>
      <p:sp>
        <p:nvSpPr>
          <p:cNvPr id="13" name="Text 9"/>
          <p:cNvSpPr txBox="1"/>
          <p:nvPr/>
        </p:nvSpPr>
        <p:spPr>
          <a:xfrm>
            <a:off x="3493008" y="2606040"/>
            <a:ext cx="2194560" cy="8229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Most professionals have now tried AI chat, and found it doesn't fit their daily work. That gap is where focused apps win.</a:t>
            </a:r>
            <a:endParaRPr lang="en-US" sz="1100" dirty="0"/>
          </a:p>
        </p:txBody>
      </p:sp>
      <p:sp>
        <p:nvSpPr>
          <p:cNvPr id="14" name="Shape 10"/>
          <p:cNvSpPr/>
          <p:nvPr/>
        </p:nvSpPr>
        <p:spPr>
          <a:xfrm>
            <a:off x="6071616" y="1463040"/>
            <a:ext cx="260604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645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776679"/>
            <a:ext cx="241402" cy="241402"/>
          </a:xfrm>
          <a:prstGeom prst="rect">
            <a:avLst/>
          </a:prstGeom>
        </p:spPr>
      </p:pic>
      <p:sp>
        <p:nvSpPr>
          <p:cNvPr id="17" name="Text 12"/>
          <p:cNvSpPr txBox="1"/>
          <p:nvPr/>
        </p:nvSpPr>
        <p:spPr>
          <a:xfrm>
            <a:off x="6300216" y="2286000"/>
            <a:ext cx="2194560" cy="274320"/>
          </a:xfrm>
          <a:prstGeom prst="rect">
            <a:avLst/>
          </a:prstGeom>
          <a:noFill/>
          <a:ln/>
        </p:spPr>
        <p:txBody>
          <a:bodyPr wrap="square" lIns="0" tIns="0" rIns="0" bIns="0" rtlCol="0" anchor="t"/>
          <a:lstStyle/>
          <a:p>
            <a:pPr indent="0" marL="0">
              <a:buNone/>
            </a:pPr>
            <a:r>
              <a:rPr lang="en-US" sz="1450" b="1" dirty="0">
                <a:solidFill>
                  <a:srgbClr val="143D28"/>
                </a:solidFill>
                <a:latin typeface="Cambria" pitchFamily="34" charset="0"/>
                <a:ea typeface="Cambria" pitchFamily="34" charset="-122"/>
                <a:cs typeface="Cambria" pitchFamily="34" charset="-120"/>
              </a:rPr>
              <a:t>Small studios can ship fast</a:t>
            </a:r>
            <a:endParaRPr lang="en-US" sz="1450" dirty="0"/>
          </a:p>
        </p:txBody>
      </p:sp>
      <p:sp>
        <p:nvSpPr>
          <p:cNvPr id="18" name="Text 13"/>
          <p:cNvSpPr txBox="1"/>
          <p:nvPr/>
        </p:nvSpPr>
        <p:spPr>
          <a:xfrm>
            <a:off x="6300216" y="2606040"/>
            <a:ext cx="2194560" cy="82296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App stores give global distribution and billing on day one, and AppForge lets one team launch app after app.</a:t>
            </a:r>
            <a:endParaRPr lang="en-US" sz="1100" dirty="0"/>
          </a:p>
        </p:txBody>
      </p:sp>
      <p:sp>
        <p:nvSpPr>
          <p:cNvPr id="19" name="Shape 14"/>
          <p:cNvSpPr/>
          <p:nvPr/>
        </p:nvSpPr>
        <p:spPr>
          <a:xfrm>
            <a:off x="457200" y="3657600"/>
            <a:ext cx="8229600" cy="914400"/>
          </a:xfrm>
          <a:prstGeom prst="roundRect">
            <a:avLst>
              <a:gd name="adj" fmla="val 8000"/>
            </a:avLst>
          </a:prstGeom>
          <a:solidFill>
            <a:srgbClr val="ECE1C7"/>
          </a:solidFill>
          <a:ln w="12700">
            <a:solidFill>
              <a:srgbClr val="ECE1C7"/>
            </a:solidFill>
            <a:prstDash val="solid"/>
          </a:ln>
        </p:spPr>
      </p:sp>
      <p:sp>
        <p:nvSpPr>
          <p:cNvPr id="20" name="Text 15"/>
          <p:cNvSpPr txBox="1"/>
          <p:nvPr/>
        </p:nvSpPr>
        <p:spPr>
          <a:xfrm>
            <a:off x="685800" y="3730752"/>
            <a:ext cx="7772400" cy="768096"/>
          </a:xfrm>
          <a:prstGeom prst="rect">
            <a:avLst/>
          </a:prstGeom>
          <a:noFill/>
          <a:ln/>
        </p:spPr>
        <p:txBody>
          <a:bodyPr wrap="square" lIns="0" tIns="0" rIns="0" bIns="0" rtlCol="0" anchor="ctr"/>
          <a:lstStyle/>
          <a:p>
            <a:pPr indent="0" marL="0">
              <a:buNone/>
            </a:pPr>
            <a:r>
              <a:rPr lang="en-US" sz="1200" b="1" dirty="0">
                <a:solidFill>
                  <a:srgbClr val="143D28"/>
                </a:solidFill>
                <a:latin typeface="Calibri" pitchFamily="34" charset="0"/>
                <a:ea typeface="Calibri" pitchFamily="34" charset="-122"/>
                <a:cs typeface="Calibri" pitchFamily="34" charset="-120"/>
              </a:rPr>
              <a:t>Customer segments: </a:t>
            </a:r>
            <a:pPr indent="0" marL="0">
              <a:buNone/>
            </a:pPr>
            <a:r>
              <a:rPr lang="en-US" sz="1200" dirty="0">
                <a:solidFill>
                  <a:srgbClr val="143D28"/>
                </a:solidFill>
                <a:latin typeface="Calibri" pitchFamily="34" charset="0"/>
                <a:ea typeface="Calibri" pitchFamily="34" charset="-122"/>
                <a:cs typeface="Calibri" pitchFamily="34" charset="-120"/>
              </a:rPr>
              <a:t>(1) pastors and staff at small and mid-size churches; (2) individual B2B sales reps and small sales teams; (3) sales managers and church networks buying group plans; (4) new niches chosen by AppForge.</a:t>
            </a:r>
            <a:endParaRPr lang="en-US" sz="1200" dirty="0"/>
          </a:p>
        </p:txBody>
      </p:sp>
      <p:sp>
        <p:nvSpPr>
          <p:cNvPr id="21"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10 / 18</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Business Model  ·  Revenue streams &amp; unit economics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with healthy unit economics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4937760" cy="914400"/>
        </p:xfrm>
        <a:graphic>
          <a:graphicData uri="http://schemas.openxmlformats.org/drawingml/2006/table">
            <a:tbl>
              <a:tblPr/>
              <a:tblGrid>
                <a:gridCol w="2651760"/>
                <a:gridCol w="1143000"/>
                <a:gridCol w="1143000"/>
              </a:tblGrid>
              <a:tr h="365760">
                <a:tc>
                  <a:txBody>
                    <a:bodyPr/>
                    <a:lstStyle/>
                    <a:p>
                      <a:pPr algn="l" indent="0" marL="0">
                        <a:buNone/>
                      </a:pPr>
                      <a:r>
                        <a:rPr lang="en-US" sz="1100" b="1" dirty="0">
                          <a:solidFill>
                            <a:srgbClr val="143D28"/>
                          </a:solidFill>
                          <a:latin typeface="Calibri" pitchFamily="34" charset="0"/>
                          <a:ea typeface="Calibri" pitchFamily="34" charset="-122"/>
                          <a:cs typeface="Calibri" pitchFamily="34" charset="-120"/>
                        </a:rPr>
                        <a:t>Unit economics (per subscriber)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PastorAI</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Ready Room</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Monthly price</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Net after app-store fee (15%)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$39.95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$24.65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Est. AI + hosting cost / user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Gross margin</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Lifetime value (5% churn, 20 mo)</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Target CAC (LTV:CAC ≥ 3:1)</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$240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$130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CAC payback</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0" y="1463040"/>
            <a:ext cx="301752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Revenue streams</a:t>
            </a:r>
            <a:endParaRPr lang="en-US" sz="1100" dirty="0"/>
          </a:p>
        </p:txBody>
      </p:sp>
      <p:sp>
        <p:nvSpPr>
          <p:cNvPr id="6" name="Shape 3"/>
          <p:cNvSpPr/>
          <p:nvPr/>
        </p:nvSpPr>
        <p:spPr>
          <a:xfrm>
            <a:off x="5669280" y="1783080"/>
            <a:ext cx="457200" cy="457200"/>
          </a:xfrm>
          <a:prstGeom prst="ellipse">
            <a:avLst/>
          </a:prstGeom>
          <a:solidFill>
            <a:srgbClr val="FFFFFF"/>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5788152" y="1901952"/>
            <a:ext cx="219456" cy="219456"/>
          </a:xfrm>
          <a:prstGeom prst="rect">
            <a:avLst/>
          </a:prstGeom>
        </p:spPr>
      </p:pic>
      <p:sp>
        <p:nvSpPr>
          <p:cNvPr id="8" name="Text 4"/>
          <p:cNvSpPr txBox="1"/>
          <p:nvPr/>
        </p:nvSpPr>
        <p:spPr>
          <a:xfrm>
            <a:off x="6263640" y="178308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App subscriptions</a:t>
            </a:r>
            <a:endParaRPr lang="en-US" sz="1300" dirty="0"/>
          </a:p>
        </p:txBody>
      </p:sp>
      <p:sp>
        <p:nvSpPr>
          <p:cNvPr id="9" name="Text 5"/>
          <p:cNvSpPr txBox="1"/>
          <p:nvPr/>
        </p:nvSpPr>
        <p:spPr>
          <a:xfrm>
            <a:off x="6263640" y="203911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Monthly plans with free trials on App Store, Google Play and web</a:t>
            </a:r>
            <a:endParaRPr lang="en-US" sz="1050" dirty="0"/>
          </a:p>
        </p:txBody>
      </p:sp>
      <p:sp>
        <p:nvSpPr>
          <p:cNvPr id="10" name="Shape 6"/>
          <p:cNvSpPr/>
          <p:nvPr/>
        </p:nvSpPr>
        <p:spPr>
          <a:xfrm>
            <a:off x="5669280" y="265176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788152" y="2770632"/>
            <a:ext cx="219456" cy="219456"/>
          </a:xfrm>
          <a:prstGeom prst="rect">
            <a:avLst/>
          </a:prstGeom>
        </p:spPr>
      </p:pic>
      <p:sp>
        <p:nvSpPr>
          <p:cNvPr id="12" name="Text 7"/>
          <p:cNvSpPr txBox="1"/>
          <p:nvPr/>
        </p:nvSpPr>
        <p:spPr>
          <a:xfrm>
            <a:off x="6263640" y="265176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Group plans</a:t>
            </a:r>
            <a:endParaRPr lang="en-US" sz="1300" dirty="0"/>
          </a:p>
        </p:txBody>
      </p:sp>
      <p:sp>
        <p:nvSpPr>
          <p:cNvPr id="13" name="Text 8"/>
          <p:cNvSpPr txBox="1"/>
          <p:nvPr/>
        </p:nvSpPr>
        <p:spPr>
          <a:xfrm>
            <a:off x="6263640" y="290779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Multi-seat plans for sales teams and church staffs</a:t>
            </a:r>
            <a:endParaRPr lang="en-US" sz="1050" dirty="0"/>
          </a:p>
        </p:txBody>
      </p:sp>
      <p:sp>
        <p:nvSpPr>
          <p:cNvPr id="14" name="Shape 9"/>
          <p:cNvSpPr/>
          <p:nvPr/>
        </p:nvSpPr>
        <p:spPr>
          <a:xfrm>
            <a:off x="5669280" y="3520440"/>
            <a:ext cx="457200" cy="457200"/>
          </a:xfrm>
          <a:prstGeom prst="ellipse">
            <a:avLst/>
          </a:prstGeom>
          <a:solidFill>
            <a:srgbClr val="FFFFFF"/>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5788152" y="3639312"/>
            <a:ext cx="219456" cy="219456"/>
          </a:xfrm>
          <a:prstGeom prst="rect">
            <a:avLst/>
          </a:prstGeom>
        </p:spPr>
      </p:pic>
      <p:sp>
        <p:nvSpPr>
          <p:cNvPr id="16" name="Text 10"/>
          <p:cNvSpPr txBox="1"/>
          <p:nvPr/>
        </p:nvSpPr>
        <p:spPr>
          <a:xfrm>
            <a:off x="6263640" y="352044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Custom AI apps</a:t>
            </a:r>
            <a:endParaRPr lang="en-US" sz="1300" dirty="0"/>
          </a:p>
        </p:txBody>
      </p:sp>
      <p:sp>
        <p:nvSpPr>
          <p:cNvPr id="17" name="Text 11"/>
          <p:cNvSpPr txBox="1"/>
          <p:nvPr/>
        </p:nvSpPr>
        <p:spPr>
          <a:xfrm>
            <a:off x="6263640" y="377647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Custom builds for local businesses: service revenue and new app ideas</a:t>
            </a:r>
            <a:endParaRPr lang="en-US" sz="1050" dirty="0"/>
          </a:p>
        </p:txBody>
      </p:sp>
      <p:sp>
        <p:nvSpPr>
          <p:cNvPr id="18" name="Text 12"/>
          <p:cNvSpPr txBox="1"/>
          <p:nvPr/>
        </p:nvSpPr>
        <p:spPr>
          <a:xfrm>
            <a:off x="457200" y="4434840"/>
            <a:ext cx="4937760" cy="228600"/>
          </a:xfrm>
          <a:prstGeom prst="rect">
            <a:avLst/>
          </a:prstGeom>
          <a:noFill/>
          <a:ln/>
        </p:spPr>
        <p:txBody>
          <a:bodyPr wrap="square" lIns="0" tIns="0" rIns="0" bIns="0" rtlCol="0" anchor="t"/>
          <a:lstStyle/>
          <a:p>
            <a:pPr indent="0" marL="0">
              <a:buNone/>
            </a:pPr>
            <a:r>
              <a:rPr lang="en-US" sz="900" i="1" dirty="0">
                <a:solidFill>
                  <a:srgbClr val="5C6B61"/>
                </a:solidFill>
                <a:latin typeface="Calibri" pitchFamily="34" charset="0"/>
                <a:ea typeface="Calibri" pitchFamily="34" charset="-122"/>
                <a:cs typeface="Calibri" pitchFamily="34" charset="-120"/>
              </a:rPr>
              <a:t>Figures after the price rows are planning assumptions, not results.</a:t>
            </a:r>
            <a:endParaRPr lang="en-US" sz="900" dirty="0"/>
          </a:p>
        </p:txBody>
      </p:sp>
      <p:sp>
        <p:nvSpPr>
          <p:cNvPr id="19"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11 / 18</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Go-to-Market Strategy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764792"/>
            <a:ext cx="219456" cy="219456"/>
          </a:xfrm>
          <a:prstGeom prst="rect">
            <a:avLst/>
          </a:prstGeom>
        </p:spPr>
      </p:pic>
      <p:sp>
        <p:nvSpPr>
          <p:cNvPr id="7" name="Text 4"/>
          <p:cNvSpPr txBox="1"/>
          <p:nvPr/>
        </p:nvSpPr>
        <p:spPr>
          <a:xfrm>
            <a:off x="128016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Targeted Facebook &amp; YouTube ads to pastors and church staff</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&amp; seminaries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Pastor conferences, webinars and free sermon-prep resources</a:t>
            </a:r>
            <a:endParaRPr lang="en-US" sz="1250" dirty="0"/>
          </a:p>
        </p:txBody>
      </p:sp>
      <p:sp>
        <p:nvSpPr>
          <p:cNvPr id="9" name="Shape 6"/>
          <p:cNvSpPr/>
          <p:nvPr/>
        </p:nvSpPr>
        <p:spPr>
          <a:xfrm>
            <a:off x="470916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937760" y="164592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56632" y="1764792"/>
            <a:ext cx="219456" cy="219456"/>
          </a:xfrm>
          <a:prstGeom prst="rect">
            <a:avLst/>
          </a:prstGeom>
        </p:spPr>
      </p:pic>
      <p:sp>
        <p:nvSpPr>
          <p:cNvPr id="12" name="Text 8"/>
          <p:cNvSpPr txBox="1"/>
          <p:nvPr/>
        </p:nvSpPr>
        <p:spPr>
          <a:xfrm>
            <a:off x="553212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93776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short-form video ads showing live AI role-plays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 drawing on 40 years of sales contacts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Sales-trainer, coach and bootcamp affiliate partners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optimization and referral rewards</a:t>
            </a:r>
            <a:endParaRPr lang="en-US" sz="1250" dirty="0"/>
          </a:p>
        </p:txBody>
      </p:sp>
      <p:sp>
        <p:nvSpPr>
          <p:cNvPr id="14" name="Text 10"/>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5" name="Text 11"/>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12 / 18</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  ·  Direct &amp; indirect competitors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286000"/>
                <a:gridCol w="1417320"/>
                <a:gridCol w="1600200"/>
                <a:gridCol w="1691640"/>
                <a:gridCol w="1234440"/>
              </a:tblGrid>
              <a:tr h="658368">
                <a:tc>
                  <a:txBody>
                    <a:bodyPr/>
                    <a:lstStyle/>
                    <a:p>
                      <a:pPr algn="l" indent="0" marL="0">
                        <a:buNone/>
                      </a:pP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Indirect: generic AI chat (e.g. ChatGPT)</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Direct: ministry software (e.g. Logos, Pulpit AI)</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Direct: sales role-play (e.g. Second Nature, Hyperbound)</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F4EBD5"/>
                          </a:solidFill>
                          <a:latin typeface="Calibri" pitchFamily="34" charset="0"/>
                          <a:ea typeface="Calibri" pitchFamily="34" charset="-122"/>
                          <a:cs typeface="Calibri" pitchFamily="34" charset="-120"/>
                        </a:rPr>
                        <a:t>Cedarworks apps</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one profession</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Ready to use with no prompting</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small churches &amp; individual reps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 (enterprise)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Self-serve monthly price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Sales-led</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$29–$47</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Launches new niche products quickly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AppForge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150" b="1" dirty="0">
                <a:solidFill>
                  <a:srgbClr val="143D28"/>
                </a:solidFill>
                <a:latin typeface="Calibri" pitchFamily="34" charset="0"/>
                <a:ea typeface="Calibri" pitchFamily="34" charset="-122"/>
                <a:cs typeface="Calibri" pitchFamily="34" charset="-120"/>
              </a:rPr>
              <a:t>Our advantages: </a:t>
            </a:r>
            <a:pPr indent="0" marL="0">
              <a:buNone/>
            </a:pPr>
            <a:r>
              <a:rPr lang="en-US" sz="1150" dirty="0">
                <a:solidFill>
                  <a:srgbClr val="143D28"/>
                </a:solidFill>
                <a:latin typeface="Calibri" pitchFamily="34" charset="0"/>
                <a:ea typeface="Calibri" pitchFamily="34" charset="-122"/>
                <a:cs typeface="Calibri" pitchFamily="34" charset="-120"/>
              </a:rPr>
              <a:t>focus on niches big platforms ignore · self-serve pricing individuals can afford · AppForge speed to new markets · a shared platform that lowers each app's cost · a founder with both the technical and sales background.</a:t>
            </a:r>
            <a:endParaRPr lang="en-US" sz="1150" dirty="0"/>
          </a:p>
        </p:txBody>
      </p:sp>
      <p:sp>
        <p:nvSpPr>
          <p:cNvPr id="6" name="Text 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7" name="Text 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13 / 18</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Use of Funds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$250K to scale two apps and launch eight more</a:t>
            </a:r>
            <a:endParaRPr lang="en-US" sz="2600" dirty="0"/>
          </a:p>
        </p:txBody>
      </p:sp>
      <p:graphicFrame>
        <p:nvGraphicFramePr>
          <p:cNvPr id="4" name="Chart 0" descr=""/>
          <p:cNvGraphicFramePr/>
          <p:nvPr/>
        </p:nvGraphicFramePr>
        <p:xfrm>
          <a:off x="365760" y="132588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545336"/>
            <a:ext cx="182880" cy="182880"/>
          </a:xfrm>
          <a:prstGeom prst="ellipse">
            <a:avLst/>
          </a:prstGeom>
          <a:solidFill>
            <a:srgbClr val="143D28"/>
          </a:solidFill>
          <a:ln w="12700">
            <a:solidFill>
              <a:srgbClr val="143D28"/>
            </a:solidFill>
            <a:prstDash val="solid"/>
          </a:ln>
        </p:spPr>
      </p:sp>
      <p:sp>
        <p:nvSpPr>
          <p:cNvPr id="6" name="Text 3"/>
          <p:cNvSpPr txBox="1"/>
          <p:nvPr/>
        </p:nvSpPr>
        <p:spPr>
          <a:xfrm>
            <a:off x="4434840" y="1463040"/>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$100K</a:t>
            </a:r>
            <a:endParaRPr lang="en-US" sz="1700" dirty="0"/>
          </a:p>
        </p:txBody>
      </p:sp>
      <p:sp>
        <p:nvSpPr>
          <p:cNvPr id="7" name="Text 4"/>
          <p:cNvSpPr txBox="1"/>
          <p:nvPr/>
        </p:nvSpPr>
        <p:spPr>
          <a:xfrm>
            <a:off x="5303520" y="1463040"/>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Customer acquisition: PastorAI &amp; Ready Room ads</a:t>
            </a:r>
            <a:endParaRPr lang="en-US" sz="1250" dirty="0"/>
          </a:p>
        </p:txBody>
      </p:sp>
      <p:sp>
        <p:nvSpPr>
          <p:cNvPr id="8" name="Shape 5"/>
          <p:cNvSpPr/>
          <p:nvPr/>
        </p:nvSpPr>
        <p:spPr>
          <a:xfrm>
            <a:off x="4114800" y="2148840"/>
            <a:ext cx="182880" cy="182880"/>
          </a:xfrm>
          <a:prstGeom prst="ellipse">
            <a:avLst/>
          </a:prstGeom>
          <a:solidFill>
            <a:srgbClr val="D98B3C"/>
          </a:solidFill>
          <a:ln w="12700">
            <a:solidFill>
              <a:srgbClr val="D98B3C"/>
            </a:solidFill>
            <a:prstDash val="solid"/>
          </a:ln>
        </p:spPr>
      </p:sp>
      <p:sp>
        <p:nvSpPr>
          <p:cNvPr id="9" name="Text 6"/>
          <p:cNvSpPr txBox="1"/>
          <p:nvPr/>
        </p:nvSpPr>
        <p:spPr>
          <a:xfrm>
            <a:off x="4434840" y="2066544"/>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$75K</a:t>
            </a:r>
            <a:endParaRPr lang="en-US" sz="1700" dirty="0"/>
          </a:p>
        </p:txBody>
      </p:sp>
      <p:sp>
        <p:nvSpPr>
          <p:cNvPr id="10" name="Text 7"/>
          <p:cNvSpPr txBox="1"/>
          <p:nvPr/>
        </p:nvSpPr>
        <p:spPr>
          <a:xfrm>
            <a:off x="5303520" y="2066544"/>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Build 8 new apps with AppForge</a:t>
            </a:r>
            <a:endParaRPr lang="en-US" sz="1250" dirty="0"/>
          </a:p>
        </p:txBody>
      </p:sp>
      <p:sp>
        <p:nvSpPr>
          <p:cNvPr id="11" name="Shape 8"/>
          <p:cNvSpPr/>
          <p:nvPr/>
        </p:nvSpPr>
        <p:spPr>
          <a:xfrm>
            <a:off x="4114800" y="2752344"/>
            <a:ext cx="182880" cy="182880"/>
          </a:xfrm>
          <a:prstGeom prst="ellipse">
            <a:avLst/>
          </a:prstGeom>
          <a:solidFill>
            <a:srgbClr val="4F7F63"/>
          </a:solidFill>
          <a:ln w="12700">
            <a:solidFill>
              <a:srgbClr val="4F7F63"/>
            </a:solidFill>
            <a:prstDash val="solid"/>
          </a:ln>
        </p:spPr>
      </p:sp>
      <p:sp>
        <p:nvSpPr>
          <p:cNvPr id="12" name="Text 9"/>
          <p:cNvSpPr txBox="1"/>
          <p:nvPr/>
        </p:nvSpPr>
        <p:spPr>
          <a:xfrm>
            <a:off x="4434840" y="2670048"/>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3" name="Text 10"/>
          <p:cNvSpPr txBox="1"/>
          <p:nvPr/>
        </p:nvSpPr>
        <p:spPr>
          <a:xfrm>
            <a:off x="5303520" y="2670048"/>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AI compute, hosting &amp; infrastructure</a:t>
            </a:r>
            <a:endParaRPr lang="en-US" sz="1250" dirty="0"/>
          </a:p>
        </p:txBody>
      </p:sp>
      <p:sp>
        <p:nvSpPr>
          <p:cNvPr id="14" name="Shape 11"/>
          <p:cNvSpPr/>
          <p:nvPr/>
        </p:nvSpPr>
        <p:spPr>
          <a:xfrm>
            <a:off x="4114800" y="3355848"/>
            <a:ext cx="182880" cy="182880"/>
          </a:xfrm>
          <a:prstGeom prst="ellipse">
            <a:avLst/>
          </a:prstGeom>
          <a:solidFill>
            <a:srgbClr val="B9A67A"/>
          </a:solidFill>
          <a:ln w="12700">
            <a:solidFill>
              <a:srgbClr val="B9A67A"/>
            </a:solidFill>
            <a:prstDash val="solid"/>
          </a:ln>
        </p:spPr>
      </p:sp>
      <p:sp>
        <p:nvSpPr>
          <p:cNvPr id="15" name="Text 12"/>
          <p:cNvSpPr txBox="1"/>
          <p:nvPr/>
        </p:nvSpPr>
        <p:spPr>
          <a:xfrm>
            <a:off x="4434840" y="3273552"/>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6" name="Text 13"/>
          <p:cNvSpPr txBox="1"/>
          <p:nvPr/>
        </p:nvSpPr>
        <p:spPr>
          <a:xfrm>
            <a:off x="5303520" y="3273552"/>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Legal, accounting &amp; app-store operations</a:t>
            </a:r>
            <a:endParaRPr lang="en-US" sz="1250" dirty="0"/>
          </a:p>
        </p:txBody>
      </p:sp>
      <p:sp>
        <p:nvSpPr>
          <p:cNvPr id="17" name="Shape 14"/>
          <p:cNvSpPr/>
          <p:nvPr/>
        </p:nvSpPr>
        <p:spPr>
          <a:xfrm>
            <a:off x="4114800" y="3959352"/>
            <a:ext cx="182880" cy="182880"/>
          </a:xfrm>
          <a:prstGeom prst="ellipse">
            <a:avLst/>
          </a:prstGeom>
          <a:solidFill>
            <a:srgbClr val="A9C2A8"/>
          </a:solidFill>
          <a:ln w="12700">
            <a:solidFill>
              <a:srgbClr val="A9C2A8"/>
            </a:solidFill>
            <a:prstDash val="solid"/>
          </a:ln>
        </p:spPr>
      </p:sp>
      <p:sp>
        <p:nvSpPr>
          <p:cNvPr id="18" name="Text 15"/>
          <p:cNvSpPr txBox="1"/>
          <p:nvPr/>
        </p:nvSpPr>
        <p:spPr>
          <a:xfrm>
            <a:off x="4434840" y="3877056"/>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9" name="Text 16"/>
          <p:cNvSpPr txBox="1"/>
          <p:nvPr/>
        </p:nvSpPr>
        <p:spPr>
          <a:xfrm>
            <a:off x="5303520" y="3877056"/>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Founder runway &amp; reserve</a:t>
            </a:r>
            <a:endParaRPr lang="en-US" sz="1250" dirty="0"/>
          </a:p>
        </p:txBody>
      </p:sp>
      <p:sp>
        <p:nvSpPr>
          <p:cNvPr id="20" name="Text 17"/>
          <p:cNvSpPr txBox="1"/>
          <p:nvPr/>
        </p:nvSpPr>
        <p:spPr>
          <a:xfrm>
            <a:off x="4114800" y="4297680"/>
            <a:ext cx="4572000" cy="274320"/>
          </a:xfrm>
          <a:prstGeom prst="rect">
            <a:avLst/>
          </a:prstGeom>
          <a:noFill/>
          <a:ln/>
        </p:spPr>
        <p:txBody>
          <a:bodyPr wrap="square" lIns="0" tIns="0" rIns="0" bIns="0" rtlCol="0" anchor="t"/>
          <a:lstStyle/>
          <a:p>
            <a:pPr indent="0" marL="0">
              <a:buNone/>
            </a:pPr>
            <a:r>
              <a:rPr lang="en-US" sz="1100" i="1" dirty="0">
                <a:solidFill>
                  <a:srgbClr val="5C6B61"/>
                </a:solidFill>
                <a:latin typeface="Calibri" pitchFamily="34" charset="0"/>
                <a:ea typeface="Calibri" pitchFamily="34" charset="-122"/>
                <a:cs typeface="Calibri" pitchFamily="34" charset="-120"/>
              </a:rPr>
              <a:t>About 18 months of runway on a lean, founder-led cost base.</a:t>
            </a:r>
            <a:endParaRPr lang="en-US" sz="1100" dirty="0"/>
          </a:p>
        </p:txBody>
      </p:sp>
      <p:sp>
        <p:nvSpPr>
          <p:cNvPr id="21" name="Text 18"/>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9"/>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14 / 18</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Roadmap &amp; Milestones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milestones this round unlocks</a:t>
            </a:r>
            <a:endParaRPr lang="en-US" sz="2600" dirty="0"/>
          </a:p>
        </p:txBody>
      </p:sp>
      <p:sp>
        <p:nvSpPr>
          <p:cNvPr id="4" name="Shape 2"/>
          <p:cNvSpPr/>
          <p:nvPr/>
        </p:nvSpPr>
        <p:spPr>
          <a:xfrm>
            <a:off x="731520" y="1691640"/>
            <a:ext cx="0" cy="2743200"/>
          </a:xfrm>
          <a:prstGeom prst="line">
            <a:avLst/>
          </a:prstGeom>
          <a:noFill/>
          <a:ln w="25400">
            <a:solidFill>
              <a:srgbClr val="ECE1C7"/>
            </a:solidFill>
            <a:prstDash val="solid"/>
          </a:ln>
        </p:spPr>
      </p:sp>
      <p:sp>
        <p:nvSpPr>
          <p:cNvPr id="5" name="Shape 3"/>
          <p:cNvSpPr/>
          <p:nvPr/>
        </p:nvSpPr>
        <p:spPr>
          <a:xfrm>
            <a:off x="566928" y="1527048"/>
            <a:ext cx="329184" cy="329184"/>
          </a:xfrm>
          <a:prstGeom prst="ellipse">
            <a:avLst/>
          </a:prstGeom>
          <a:solidFill>
            <a:srgbClr val="D98B3C"/>
          </a:solidFill>
          <a:ln w="19050">
            <a:solidFill>
              <a:srgbClr val="D98B3C"/>
            </a:solidFill>
            <a:prstDash val="solid"/>
          </a:ln>
        </p:spPr>
      </p:sp>
      <p:sp>
        <p:nvSpPr>
          <p:cNvPr id="6" name="Text 4"/>
          <p:cNvSpPr txBox="1"/>
          <p:nvPr/>
        </p:nvSpPr>
        <p:spPr>
          <a:xfrm>
            <a:off x="1097280" y="1481328"/>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0–3</a:t>
            </a:r>
            <a:endParaRPr lang="en-US" sz="1300" dirty="0"/>
          </a:p>
        </p:txBody>
      </p:sp>
      <p:sp>
        <p:nvSpPr>
          <p:cNvPr id="7" name="Text 5"/>
          <p:cNvSpPr txBox="1"/>
          <p:nvPr/>
        </p:nvSpPr>
        <p:spPr>
          <a:xfrm>
            <a:off x="2560320" y="1481328"/>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Convert trials to paid; launch measured ad tests; add team and church plans</a:t>
            </a:r>
            <a:endParaRPr lang="en-US" sz="1150" dirty="0"/>
          </a:p>
        </p:txBody>
      </p:sp>
      <p:sp>
        <p:nvSpPr>
          <p:cNvPr id="8" name="Shape 6"/>
          <p:cNvSpPr/>
          <p:nvPr/>
        </p:nvSpPr>
        <p:spPr>
          <a:xfrm>
            <a:off x="566928" y="2286000"/>
            <a:ext cx="329184" cy="329184"/>
          </a:xfrm>
          <a:prstGeom prst="ellipse">
            <a:avLst/>
          </a:prstGeom>
          <a:solidFill>
            <a:srgbClr val="FFFFFF"/>
          </a:solidFill>
          <a:ln w="19050">
            <a:solidFill>
              <a:srgbClr val="D98B3C"/>
            </a:solidFill>
            <a:prstDash val="solid"/>
          </a:ln>
        </p:spPr>
      </p:sp>
      <p:sp>
        <p:nvSpPr>
          <p:cNvPr id="9" name="Text 7"/>
          <p:cNvSpPr txBox="1"/>
          <p:nvPr/>
        </p:nvSpPr>
        <p:spPr>
          <a:xfrm>
            <a:off x="1097280" y="2240280"/>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4–6</a:t>
            </a:r>
            <a:endParaRPr lang="en-US" sz="1300" dirty="0"/>
          </a:p>
        </p:txBody>
      </p:sp>
      <p:sp>
        <p:nvSpPr>
          <p:cNvPr id="10" name="Text 8"/>
          <p:cNvSpPr txBox="1"/>
          <p:nvPr/>
        </p:nvSpPr>
        <p:spPr>
          <a:xfrm>
            <a:off x="2560320" y="2240280"/>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Scale winning ad channels; AppForge picks and launches apps #3 and #4</a:t>
            </a:r>
            <a:endParaRPr lang="en-US" sz="1150" dirty="0"/>
          </a:p>
        </p:txBody>
      </p:sp>
      <p:sp>
        <p:nvSpPr>
          <p:cNvPr id="11" name="Shape 9"/>
          <p:cNvSpPr/>
          <p:nvPr/>
        </p:nvSpPr>
        <p:spPr>
          <a:xfrm>
            <a:off x="566928" y="3044952"/>
            <a:ext cx="329184" cy="329184"/>
          </a:xfrm>
          <a:prstGeom prst="ellipse">
            <a:avLst/>
          </a:prstGeom>
          <a:solidFill>
            <a:srgbClr val="FFFFFF"/>
          </a:solidFill>
          <a:ln w="19050">
            <a:solidFill>
              <a:srgbClr val="D98B3C"/>
            </a:solidFill>
            <a:prstDash val="solid"/>
          </a:ln>
        </p:spPr>
      </p:sp>
      <p:sp>
        <p:nvSpPr>
          <p:cNvPr id="12" name="Text 10"/>
          <p:cNvSpPr txBox="1"/>
          <p:nvPr/>
        </p:nvSpPr>
        <p:spPr>
          <a:xfrm>
            <a:off x="1097280" y="2999232"/>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7–12</a:t>
            </a:r>
            <a:endParaRPr lang="en-US" sz="1300" dirty="0"/>
          </a:p>
        </p:txBody>
      </p:sp>
      <p:sp>
        <p:nvSpPr>
          <p:cNvPr id="13" name="Text 11"/>
          <p:cNvSpPr txBox="1"/>
          <p:nvPr/>
        </p:nvSpPr>
        <p:spPr>
          <a:xfrm>
            <a:off x="2560320" y="2999232"/>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#5 to #7; cross-promote across the portfolio</a:t>
            </a:r>
            <a:endParaRPr lang="en-US" sz="1150" dirty="0"/>
          </a:p>
        </p:txBody>
      </p:sp>
      <p:sp>
        <p:nvSpPr>
          <p:cNvPr id="14" name="Shape 12"/>
          <p:cNvSpPr/>
          <p:nvPr/>
        </p:nvSpPr>
        <p:spPr>
          <a:xfrm>
            <a:off x="566928" y="3803904"/>
            <a:ext cx="329184" cy="329184"/>
          </a:xfrm>
          <a:prstGeom prst="ellipse">
            <a:avLst/>
          </a:prstGeom>
          <a:solidFill>
            <a:srgbClr val="FFFFFF"/>
          </a:solidFill>
          <a:ln w="19050">
            <a:solidFill>
              <a:srgbClr val="D98B3C"/>
            </a:solidFill>
            <a:prstDash val="solid"/>
          </a:ln>
        </p:spPr>
      </p:sp>
      <p:sp>
        <p:nvSpPr>
          <p:cNvPr id="15" name="Text 13"/>
          <p:cNvSpPr txBox="1"/>
          <p:nvPr/>
        </p:nvSpPr>
        <p:spPr>
          <a:xfrm>
            <a:off x="1097280" y="3758184"/>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13–18</a:t>
            </a:r>
            <a:endParaRPr lang="en-US" sz="1300" dirty="0"/>
          </a:p>
        </p:txBody>
      </p:sp>
      <p:sp>
        <p:nvSpPr>
          <p:cNvPr id="16" name="Text 14"/>
          <p:cNvSpPr txBox="1"/>
          <p:nvPr/>
        </p:nvSpPr>
        <p:spPr>
          <a:xfrm>
            <a:off x="2560320" y="3758184"/>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#8 to #10; position for a seed round on proven revenue</a:t>
            </a:r>
            <a:endParaRPr lang="en-US" sz="1150" dirty="0"/>
          </a:p>
        </p:txBody>
      </p:sp>
      <p:graphicFrame>
        <p:nvGraphicFramePr>
          <p:cNvPr id="17" name="Chart 0" descr=""/>
          <p:cNvGraphicFramePr/>
          <p:nvPr/>
        </p:nvGraphicFramePr>
        <p:xfrm>
          <a:off x="5303520" y="1371600"/>
          <a:ext cx="3383280" cy="3063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303520" y="4434840"/>
            <a:ext cx="3383280" cy="320040"/>
          </a:xfrm>
          <a:prstGeom prst="rect">
            <a:avLst/>
          </a:prstGeom>
          <a:noFill/>
          <a:ln/>
        </p:spPr>
        <p:txBody>
          <a:bodyPr wrap="square" lIns="0" tIns="0" rIns="0" bIns="0" rtlCol="0" anchor="t"/>
          <a:lstStyle/>
          <a:p>
            <a:pPr indent="0" marL="0">
              <a:buNone/>
            </a:pPr>
            <a:r>
              <a:rPr lang="en-US" sz="950" i="1" dirty="0">
                <a:solidFill>
                  <a:srgbClr val="5C6B61"/>
                </a:solidFill>
                <a:latin typeface="Calibri" pitchFamily="34" charset="0"/>
                <a:ea typeface="Calibri" pitchFamily="34" charset="-122"/>
                <a:cs typeface="Calibri" pitchFamily="34" charset="-120"/>
              </a:rPr>
              <a:t>Targets, not forecasts: 1,000 subscribers at a ~$38 blended price ≈ $38K MRR (~$450K ARR).</a:t>
            </a:r>
            <a:endParaRPr lang="en-US" sz="9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15 / 18</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Financial Projections  ·  5-year plan</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Profitable in year 3, ~$4.8M revenue by year 5</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120640" cy="914400"/>
        </p:xfrm>
        <a:graphic>
          <a:graphicData uri="http://schemas.openxmlformats.org/drawingml/2006/table">
            <a:tbl>
              <a:tblPr/>
              <a:tblGrid>
                <a:gridCol w="1783080"/>
                <a:gridCol w="667512"/>
                <a:gridCol w="667512"/>
                <a:gridCol w="667512"/>
                <a:gridCol w="667512"/>
                <a:gridCol w="667512"/>
              </a:tblGrid>
              <a:tr h="347472">
                <a:tc>
                  <a:txBody>
                    <a:bodyPr/>
                    <a:lstStyle/>
                    <a:p>
                      <a:pPr algn="l" indent="0" marL="0">
                        <a:buNone/>
                      </a:pPr>
                      <a:r>
                        <a:rPr lang="en-US" sz="1050" b="1" dirty="0">
                          <a:solidFill>
                            <a:srgbClr val="143D28"/>
                          </a:solidFill>
                          <a:latin typeface="Calibri" pitchFamily="34" charset="0"/>
                          <a:ea typeface="Calibri" pitchFamily="34" charset="-122"/>
                          <a:cs typeface="Calibri" pitchFamily="34" charset="-120"/>
                        </a:rPr>
                        <a:t>($, per year)</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50" b="1" dirty="0">
                          <a:solidFill>
                            <a:srgbClr val="F4EBD5"/>
                          </a:solidFill>
                          <a:latin typeface="Calibri" pitchFamily="34" charset="0"/>
                          <a:ea typeface="Calibri" pitchFamily="34" charset="-122"/>
                          <a:cs typeface="Calibri" pitchFamily="34" charset="-120"/>
                        </a:rPr>
                        <a:t>Year 1</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050" b="1" dirty="0">
                          <a:solidFill>
                            <a:srgbClr val="F4EBD5"/>
                          </a:solidFill>
                          <a:latin typeface="Calibri" pitchFamily="34" charset="0"/>
                          <a:ea typeface="Calibri" pitchFamily="34" charset="-122"/>
                          <a:cs typeface="Calibri" pitchFamily="34" charset="-120"/>
                        </a:rPr>
                        <a:t>Year 2</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050" b="1" dirty="0">
                          <a:solidFill>
                            <a:srgbClr val="F4EBD5"/>
                          </a:solidFill>
                          <a:latin typeface="Calibri" pitchFamily="34" charset="0"/>
                          <a:ea typeface="Calibri" pitchFamily="34" charset="-122"/>
                          <a:cs typeface="Calibri" pitchFamily="34" charset="-120"/>
                        </a:rPr>
                        <a:t>Year 3</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050" b="1" dirty="0">
                          <a:solidFill>
                            <a:srgbClr val="F4EBD5"/>
                          </a:solidFill>
                          <a:latin typeface="Calibri" pitchFamily="34" charset="0"/>
                          <a:ea typeface="Calibri" pitchFamily="34" charset="-122"/>
                          <a:cs typeface="Calibri" pitchFamily="34" charset="-120"/>
                        </a:rPr>
                        <a:t>Year 4</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050" b="1" dirty="0">
                          <a:solidFill>
                            <a:srgbClr val="F4EBD5"/>
                          </a:solidFill>
                          <a:latin typeface="Calibri" pitchFamily="34" charset="0"/>
                          <a:ea typeface="Calibri" pitchFamily="34" charset="-122"/>
                          <a:cs typeface="Calibri" pitchFamily="34" charset="-120"/>
                        </a:rPr>
                        <a:t>Year 5</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47472">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Paying subscribers (year-end)</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650</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4,500</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8,000</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13,000</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$128K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$604K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$1.48M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$2.85M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$4.79M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Cost of revenue (~27%)</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$35K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$163K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$400K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$770K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$1.29M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Operating expenses</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$200K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$560K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$900K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$1.40M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$2.00M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21"/>
                          </a:solidFill>
                          <a:latin typeface="Calibri" pitchFamily="34" charset="0"/>
                          <a:ea typeface="Calibri" pitchFamily="34" charset="-122"/>
                          <a:cs typeface="Calibri" pitchFamily="34" charset="-120"/>
                        </a:rPr>
                        <a:t>Net income</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−$107K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−$119K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$182K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$680K</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$1.50M</a:t>
                      </a:r>
                      <a:endParaRPr lang="en-US" sz="1050" dirty="0">
                        <a:latin typeface="Calibri" charset="0"/>
                        <a:ea typeface="Calibri" charset="0"/>
                        <a:cs typeface="Calibri" charset="0"/>
                      </a:endParaRPr>
                    </a:p>
                  </a:txBody>
                  <a:tcPr marL="54864" marR="54864"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graphicFrame>
        <p:nvGraphicFramePr>
          <p:cNvPr id="5" name="Chart 0" descr=""/>
          <p:cNvGraphicFramePr/>
          <p:nvPr/>
        </p:nvGraphicFramePr>
        <p:xfrm>
          <a:off x="5760720" y="1325880"/>
          <a:ext cx="2971800" cy="23317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57200" y="3657600"/>
            <a:ext cx="5120640" cy="22860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Key assumptions</a:t>
            </a:r>
            <a:endParaRPr lang="en-US" sz="1100" dirty="0"/>
          </a:p>
        </p:txBody>
      </p:sp>
      <p:sp>
        <p:nvSpPr>
          <p:cNvPr id="7" name="Text 3"/>
          <p:cNvSpPr txBox="1"/>
          <p:nvPr/>
        </p:nvSpPr>
        <p:spPr>
          <a:xfrm>
            <a:off x="457200" y="3904488"/>
            <a:ext cx="822960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Blended price ~$38/month · 15% app-store fee + ~12% AI &amp; hosting · ~5% monthly churn · new apps launch per the roadmap · $250K pre-seed now, seed round around month 18 to fund year-2 growth · break-even during year 3.</a:t>
            </a:r>
            <a:endParaRPr lang="en-US" sz="1050" dirty="0"/>
          </a:p>
        </p:txBody>
      </p:sp>
      <p:sp>
        <p:nvSpPr>
          <p:cNvPr id="8" name="Text 4"/>
          <p:cNvSpPr txBox="1"/>
          <p:nvPr/>
        </p:nvSpPr>
        <p:spPr>
          <a:xfrm>
            <a:off x="5760720" y="3675888"/>
            <a:ext cx="2971800" cy="201168"/>
          </a:xfrm>
          <a:prstGeom prst="rect">
            <a:avLst/>
          </a:prstGeom>
          <a:noFill/>
          <a:ln/>
        </p:spPr>
        <p:txBody>
          <a:bodyPr wrap="square" lIns="0" tIns="0" rIns="0" bIns="0" rtlCol="0" anchor="t"/>
          <a:lstStyle/>
          <a:p>
            <a:pPr algn="r" indent="0" marL="0">
              <a:buNone/>
            </a:pPr>
            <a:r>
              <a:rPr lang="en-US" sz="900" i="1" dirty="0">
                <a:solidFill>
                  <a:srgbClr val="5C6B61"/>
                </a:solidFill>
                <a:latin typeface="Calibri" pitchFamily="34" charset="0"/>
                <a:ea typeface="Calibri" pitchFamily="34" charset="-122"/>
                <a:cs typeface="Calibri" pitchFamily="34" charset="-120"/>
              </a:rPr>
              <a:t>Projections, not guarantees.</a:t>
            </a:r>
            <a:endParaRPr lang="en-US" sz="900" dirty="0"/>
          </a:p>
        </p:txBody>
      </p:sp>
      <p:sp>
        <p:nvSpPr>
          <p:cNvPr id="9" name="Text 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0" name="Text 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16 / 18</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Team &amp; Founders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knows these customers first-hand</a:t>
            </a:r>
            <a:endParaRPr lang="en-US" sz="2600" dirty="0"/>
          </a:p>
        </p:txBody>
      </p:sp>
      <p:sp>
        <p:nvSpPr>
          <p:cNvPr id="4" name="Shape 2"/>
          <p:cNvSpPr/>
          <p:nvPr/>
        </p:nvSpPr>
        <p:spPr>
          <a:xfrm>
            <a:off x="457200" y="1463040"/>
            <a:ext cx="402336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31520" y="166420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21715" y="1854403"/>
            <a:ext cx="351130" cy="351130"/>
          </a:xfrm>
          <a:prstGeom prst="rect">
            <a:avLst/>
          </a:prstGeom>
        </p:spPr>
      </p:pic>
      <p:sp>
        <p:nvSpPr>
          <p:cNvPr id="7" name="Text 4"/>
          <p:cNvSpPr txBox="1"/>
          <p:nvPr/>
        </p:nvSpPr>
        <p:spPr>
          <a:xfrm>
            <a:off x="1645920" y="1737360"/>
            <a:ext cx="274320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45920" y="2084832"/>
            <a:ext cx="2743200" cy="274320"/>
          </a:xfrm>
          <a:prstGeom prst="rect">
            <a:avLst/>
          </a:prstGeom>
          <a:noFill/>
          <a:ln/>
        </p:spPr>
        <p:txBody>
          <a:bodyPr wrap="square" lIns="0" tIns="0" rIns="0" bIns="0" rtlCol="0" anchor="t"/>
          <a:lstStyle/>
          <a:p>
            <a:pPr indent="0" marL="0">
              <a:buNone/>
            </a:pPr>
            <a:r>
              <a:rPr lang="en-US" sz="1200" b="1" dirty="0">
                <a:solidFill>
                  <a:srgbClr val="D98B3C"/>
                </a:solidFill>
                <a:latin typeface="Calibri" pitchFamily="34" charset="0"/>
                <a:ea typeface="Calibri" pitchFamily="34" charset="-122"/>
                <a:cs typeface="Calibri" pitchFamily="34" charset="-120"/>
              </a:rPr>
              <a:t>Founder &amp; CEO</a:t>
            </a:r>
            <a:endParaRPr lang="en-US" sz="1200" dirty="0"/>
          </a:p>
        </p:txBody>
      </p:sp>
      <p:sp>
        <p:nvSpPr>
          <p:cNvPr id="9" name="Text 6"/>
          <p:cNvSpPr txBox="1"/>
          <p:nvPr/>
        </p:nvSpPr>
        <p:spPr>
          <a:xfrm>
            <a:off x="731520" y="2514600"/>
            <a:ext cx="3611880" cy="19659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Degree in computer science: builds the products himself</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40+ years in sales across multiple industries: the customer Ready Room is built for</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Started Cedarworks after seeing the workload his bishop carried, which led to PastorAI</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Built and launched both apps, plus AppForge, the studio's market-analysis and build engine</a:t>
            </a:r>
            <a:endParaRPr lang="en-US" sz="1150" dirty="0"/>
          </a:p>
        </p:txBody>
      </p:sp>
      <p:sp>
        <p:nvSpPr>
          <p:cNvPr id="10" name="Text 7"/>
          <p:cNvSpPr txBox="1"/>
          <p:nvPr/>
        </p:nvSpPr>
        <p:spPr>
          <a:xfrm>
            <a:off x="4800600" y="1508760"/>
            <a:ext cx="384048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Hiring with this round</a:t>
            </a:r>
            <a:endParaRPr lang="en-US" sz="1100" dirty="0"/>
          </a:p>
        </p:txBody>
      </p:sp>
      <p:sp>
        <p:nvSpPr>
          <p:cNvPr id="11" name="Shape 8"/>
          <p:cNvSpPr/>
          <p:nvPr/>
        </p:nvSpPr>
        <p:spPr>
          <a:xfrm>
            <a:off x="4800600" y="192024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4931359" y="2050999"/>
            <a:ext cx="241402" cy="241402"/>
          </a:xfrm>
          <a:prstGeom prst="rect">
            <a:avLst/>
          </a:prstGeom>
        </p:spPr>
      </p:pic>
      <p:sp>
        <p:nvSpPr>
          <p:cNvPr id="13" name="Text 9"/>
          <p:cNvSpPr txBox="1"/>
          <p:nvPr/>
        </p:nvSpPr>
        <p:spPr>
          <a:xfrm>
            <a:off x="5486400" y="192024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486400" y="218541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Speeds up launches of the next eight apps</a:t>
            </a:r>
            <a:endParaRPr lang="en-US" sz="1150" dirty="0"/>
          </a:p>
        </p:txBody>
      </p:sp>
      <p:sp>
        <p:nvSpPr>
          <p:cNvPr id="15" name="Shape 11"/>
          <p:cNvSpPr/>
          <p:nvPr/>
        </p:nvSpPr>
        <p:spPr>
          <a:xfrm>
            <a:off x="4800600" y="2788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4931359" y="2919679"/>
            <a:ext cx="241402" cy="241402"/>
          </a:xfrm>
          <a:prstGeom prst="rect">
            <a:avLst/>
          </a:prstGeom>
        </p:spPr>
      </p:pic>
      <p:sp>
        <p:nvSpPr>
          <p:cNvPr id="17" name="Text 12"/>
          <p:cNvSpPr txBox="1"/>
          <p:nvPr/>
        </p:nvSpPr>
        <p:spPr>
          <a:xfrm>
            <a:off x="5486400" y="278892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Runs paid acquisition and partnerships</a:t>
            </a:r>
            <a:endParaRPr lang="en-US" sz="1150" dirty="0"/>
          </a:p>
        </p:txBody>
      </p:sp>
      <p:sp>
        <p:nvSpPr>
          <p:cNvPr id="19" name="Shape 14"/>
          <p:cNvSpPr/>
          <p:nvPr/>
        </p:nvSpPr>
        <p:spPr>
          <a:xfrm>
            <a:off x="4800600" y="3657600"/>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4931359" y="3788359"/>
            <a:ext cx="241402" cy="241402"/>
          </a:xfrm>
          <a:prstGeom prst="rect">
            <a:avLst/>
          </a:prstGeom>
        </p:spPr>
      </p:pic>
      <p:sp>
        <p:nvSpPr>
          <p:cNvPr id="21" name="Text 15"/>
          <p:cNvSpPr txBox="1"/>
          <p:nvPr/>
        </p:nvSpPr>
        <p:spPr>
          <a:xfrm>
            <a:off x="5486400" y="365760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a:t>
            </a:r>
            <a:endParaRPr lang="en-US" sz="1400" dirty="0"/>
          </a:p>
        </p:txBody>
      </p:sp>
      <p:sp>
        <p:nvSpPr>
          <p:cNvPr id="22" name="Text 16"/>
          <p:cNvSpPr txBox="1"/>
          <p:nvPr/>
        </p:nvSpPr>
        <p:spPr>
          <a:xfrm>
            <a:off x="5486400" y="392277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Ministry, sales-training and SaaS mentors</a:t>
            </a:r>
            <a:endParaRPr lang="en-US" sz="1150" dirty="0"/>
          </a:p>
        </p:txBody>
      </p:sp>
      <p:sp>
        <p:nvSpPr>
          <p:cNvPr id="23"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4"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17 / 18</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57200"/>
            <a:ext cx="640080" cy="64008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98018" y="598018"/>
            <a:ext cx="358445" cy="358445"/>
          </a:xfrm>
          <a:prstGeom prst="rect">
            <a:avLst/>
          </a:prstGeom>
        </p:spPr>
      </p:pic>
      <p:sp>
        <p:nvSpPr>
          <p:cNvPr id="4" name="Text 1"/>
          <p:cNvSpPr txBox="1"/>
          <p:nvPr/>
        </p:nvSpPr>
        <p:spPr>
          <a:xfrm>
            <a:off x="457200" y="1325880"/>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5" name="Text 2"/>
          <p:cNvSpPr txBox="1"/>
          <p:nvPr/>
        </p:nvSpPr>
        <p:spPr>
          <a:xfrm>
            <a:off x="457200" y="1600200"/>
            <a:ext cx="5120640" cy="1188720"/>
          </a:xfrm>
          <a:prstGeom prst="rect">
            <a:avLst/>
          </a:prstGeom>
          <a:noFill/>
          <a:ln/>
        </p:spPr>
        <p:txBody>
          <a:bodyPr wrap="square" lIns="0" tIns="0" rIns="0" bIns="0" rtlCol="0" anchor="t"/>
          <a:lstStyle/>
          <a:p>
            <a:pPr indent="0" marL="0">
              <a:buNone/>
            </a:pPr>
            <a:r>
              <a:rPr lang="en-US" sz="2800" b="1" dirty="0">
                <a:solidFill>
                  <a:srgbClr val="F4EBD5"/>
                </a:solidFill>
                <a:latin typeface="Cambria" pitchFamily="34" charset="0"/>
                <a:ea typeface="Cambria" pitchFamily="34" charset="-122"/>
                <a:cs typeface="Cambria" pitchFamily="34" charset="-120"/>
              </a:rPr>
              <a:t>Raising $250K to take Cedarworks from 2 apps to 10</a:t>
            </a:r>
            <a:endParaRPr lang="en-US" sz="2800" dirty="0"/>
          </a:p>
        </p:txBody>
      </p:sp>
      <p:sp>
        <p:nvSpPr>
          <p:cNvPr id="6" name="Text 3"/>
          <p:cNvSpPr txBox="1"/>
          <p:nvPr/>
        </p:nvSpPr>
        <p:spPr>
          <a:xfrm>
            <a:off x="457200" y="2880360"/>
            <a:ext cx="512064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Scale PastorAI and Ready Room with paid acquisition</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Launch 8 new market-picked apps with AppForge</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Reach ~1,000 paying subscribers in 18 months</a:t>
            </a:r>
            <a:endParaRPr lang="en-US" sz="1400" dirty="0"/>
          </a:p>
        </p:txBody>
      </p:sp>
      <p:sp>
        <p:nvSpPr>
          <p:cNvPr id="7" name="Shape 4"/>
          <p:cNvSpPr/>
          <p:nvPr/>
        </p:nvSpPr>
        <p:spPr>
          <a:xfrm>
            <a:off x="5943600" y="1371600"/>
            <a:ext cx="2743200" cy="2926080"/>
          </a:xfrm>
          <a:prstGeom prst="roundRect">
            <a:avLst>
              <a:gd name="adj" fmla="val 3333"/>
            </a:avLst>
          </a:prstGeom>
          <a:solidFill>
            <a:srgbClr val="1E5238"/>
          </a:solidFill>
          <a:ln w="15875">
            <a:solidFill>
              <a:srgbClr val="D98B3C"/>
            </a:solidFill>
            <a:prstDash val="solid"/>
          </a:ln>
        </p:spPr>
      </p:sp>
      <p:sp>
        <p:nvSpPr>
          <p:cNvPr id="8" name="Text 5"/>
          <p:cNvSpPr txBox="1"/>
          <p:nvPr/>
        </p:nvSpPr>
        <p:spPr>
          <a:xfrm>
            <a:off x="6172200" y="1554480"/>
            <a:ext cx="228600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Let's talk</a:t>
            </a:r>
            <a:endParaRPr lang="en-US" sz="1100" dirty="0"/>
          </a:p>
        </p:txBody>
      </p:sp>
      <p:sp>
        <p:nvSpPr>
          <p:cNvPr id="9" name="Text 6"/>
          <p:cNvSpPr txBox="1"/>
          <p:nvPr/>
        </p:nvSpPr>
        <p:spPr>
          <a:xfrm>
            <a:off x="6172200" y="1874520"/>
            <a:ext cx="2286000" cy="365760"/>
          </a:xfrm>
          <a:prstGeom prst="rect">
            <a:avLst/>
          </a:prstGeom>
          <a:noFill/>
          <a:ln/>
        </p:spPr>
        <p:txBody>
          <a:bodyPr wrap="square" lIns="0" tIns="0" rIns="0" bIns="0" rtlCol="0" anchor="t"/>
          <a:lstStyle/>
          <a:p>
            <a:pPr indent="0" marL="0">
              <a:buNone/>
            </a:pPr>
            <a:r>
              <a:rPr lang="en-US" sz="1800" b="1" dirty="0">
                <a:solidFill>
                  <a:srgbClr val="F4EBD5"/>
                </a:solidFill>
                <a:latin typeface="Cambria" pitchFamily="34" charset="0"/>
                <a:ea typeface="Cambria" pitchFamily="34" charset="-122"/>
                <a:cs typeface="Cambria" pitchFamily="34" charset="-120"/>
              </a:rPr>
              <a:t>James Chambers</a:t>
            </a:r>
            <a:endParaRPr lang="en-US" sz="1800" dirty="0"/>
          </a:p>
        </p:txBody>
      </p:sp>
      <p:pic>
        <p:nvPicPr>
          <p:cNvPr id="10" name="Image 1" descr="preencoded.png">    </p:cNvPr>
          <p:cNvPicPr>
            <a:picLocks noChangeAspect="1"/>
          </p:cNvPicPr>
          <p:nvPr/>
        </p:nvPicPr>
        <p:blipFill>
          <a:blip r:embed="rId2"/>
          <a:stretch>
            <a:fillRect/>
          </a:stretch>
        </p:blipFill>
        <p:spPr>
          <a:xfrm>
            <a:off x="6172200" y="2459736"/>
            <a:ext cx="219456" cy="219456"/>
          </a:xfrm>
          <a:prstGeom prst="rect">
            <a:avLst/>
          </a:prstGeom>
        </p:spPr>
      </p:pic>
      <p:sp>
        <p:nvSpPr>
          <p:cNvPr id="11" name="Text 7"/>
          <p:cNvSpPr txBox="1"/>
          <p:nvPr/>
        </p:nvSpPr>
        <p:spPr>
          <a:xfrm>
            <a:off x="6492240" y="2423160"/>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james@cedarworksapps.com</a:t>
            </a:r>
            <a:endParaRPr lang="en-US" sz="1100" dirty="0"/>
          </a:p>
        </p:txBody>
      </p:sp>
      <p:pic>
        <p:nvPicPr>
          <p:cNvPr id="12" name="Image 2" descr="preencoded.png">    </p:cNvPr>
          <p:cNvPicPr>
            <a:picLocks noChangeAspect="1"/>
          </p:cNvPicPr>
          <p:nvPr/>
        </p:nvPicPr>
        <p:blipFill>
          <a:blip r:embed="rId3"/>
          <a:stretch>
            <a:fillRect/>
          </a:stretch>
        </p:blipFill>
        <p:spPr>
          <a:xfrm>
            <a:off x="6172200" y="2889504"/>
            <a:ext cx="219456" cy="219456"/>
          </a:xfrm>
          <a:prstGeom prst="rect">
            <a:avLst/>
          </a:prstGeom>
        </p:spPr>
      </p:pic>
      <p:sp>
        <p:nvSpPr>
          <p:cNvPr id="13" name="Text 8"/>
          <p:cNvSpPr txBox="1"/>
          <p:nvPr/>
        </p:nvSpPr>
        <p:spPr>
          <a:xfrm>
            <a:off x="6492240" y="2852928"/>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417-370-2084</a:t>
            </a:r>
            <a:endParaRPr lang="en-US" sz="1100" dirty="0"/>
          </a:p>
        </p:txBody>
      </p:sp>
      <p:pic>
        <p:nvPicPr>
          <p:cNvPr id="14" name="Image 3" descr="preencoded.png">    </p:cNvPr>
          <p:cNvPicPr>
            <a:picLocks noChangeAspect="1"/>
          </p:cNvPicPr>
          <p:nvPr/>
        </p:nvPicPr>
        <p:blipFill>
          <a:blip r:embed="rId4"/>
          <a:stretch>
            <a:fillRect/>
          </a:stretch>
        </p:blipFill>
        <p:spPr>
          <a:xfrm>
            <a:off x="6172200" y="3319272"/>
            <a:ext cx="219456" cy="219456"/>
          </a:xfrm>
          <a:prstGeom prst="rect">
            <a:avLst/>
          </a:prstGeom>
        </p:spPr>
      </p:pic>
      <p:sp>
        <p:nvSpPr>
          <p:cNvPr id="15" name="Text 9"/>
          <p:cNvSpPr txBox="1"/>
          <p:nvPr/>
        </p:nvSpPr>
        <p:spPr>
          <a:xfrm>
            <a:off x="6492240" y="3282696"/>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cedarworksapps.com</a:t>
            </a:r>
            <a:endParaRPr lang="en-US" sz="1100" dirty="0"/>
          </a:p>
        </p:txBody>
      </p:sp>
      <p:pic>
        <p:nvPicPr>
          <p:cNvPr id="16" name="Image 4" descr="preencoded.png">    </p:cNvPr>
          <p:cNvPicPr>
            <a:picLocks noChangeAspect="1"/>
          </p:cNvPicPr>
          <p:nvPr/>
        </p:nvPicPr>
        <p:blipFill>
          <a:blip r:embed="rId5"/>
          <a:stretch>
            <a:fillRect/>
          </a:stretch>
        </p:blipFill>
        <p:spPr>
          <a:xfrm>
            <a:off x="6172200" y="3749040"/>
            <a:ext cx="219456" cy="219456"/>
          </a:xfrm>
          <a:prstGeom prst="rect">
            <a:avLst/>
          </a:prstGeom>
        </p:spPr>
      </p:pic>
      <p:sp>
        <p:nvSpPr>
          <p:cNvPr id="17" name="Text 10"/>
          <p:cNvSpPr txBox="1"/>
          <p:nvPr/>
        </p:nvSpPr>
        <p:spPr>
          <a:xfrm>
            <a:off x="6492240" y="3712464"/>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pastorai.io · tryreadyroom.com</a:t>
            </a:r>
            <a:endParaRPr lang="en-US" sz="1100" dirty="0"/>
          </a:p>
        </p:txBody>
      </p:sp>
      <p:sp>
        <p:nvSpPr>
          <p:cNvPr id="18" name="Text 11"/>
          <p:cNvSpPr txBox="1"/>
          <p:nvPr/>
        </p:nvSpPr>
        <p:spPr>
          <a:xfrm>
            <a:off x="457200" y="3840480"/>
            <a:ext cx="5120640" cy="411480"/>
          </a:xfrm>
          <a:prstGeom prst="rect">
            <a:avLst/>
          </a:prstGeom>
          <a:noFill/>
          <a:ln/>
        </p:spPr>
        <p:txBody>
          <a:bodyPr wrap="square" lIns="0" tIns="0" rIns="0" bIns="0" rtlCol="0" anchor="t"/>
          <a:lstStyle/>
          <a:p>
            <a:pPr indent="0" marL="0">
              <a:buNone/>
            </a:pPr>
            <a:r>
              <a:rPr lang="en-US" sz="1100" dirty="0">
                <a:solidFill>
                  <a:srgbClr val="F4EBD5"/>
                </a:solidFill>
                <a:latin typeface="Calibri" pitchFamily="34" charset="0"/>
                <a:ea typeface="Calibri" pitchFamily="34" charset="-122"/>
                <a:cs typeface="Calibri" pitchFamily="34" charset="-120"/>
              </a:rPr>
              <a:t>Use of funds: 40% marketing · 30% building 8 new apps · 10% AI infrastructure · 10% operations · 10% runway</a:t>
            </a:r>
            <a:endParaRPr lang="en-US" sz="1100" dirty="0"/>
          </a:p>
        </p:txBody>
      </p:sp>
      <p:sp>
        <p:nvSpPr>
          <p:cNvPr id="19" name="Text 12"/>
          <p:cNvSpPr txBox="1"/>
          <p:nvPr/>
        </p:nvSpPr>
        <p:spPr>
          <a:xfrm>
            <a:off x="457200" y="4297680"/>
            <a:ext cx="5120640" cy="274320"/>
          </a:xfrm>
          <a:prstGeom prst="rect">
            <a:avLst/>
          </a:prstGeom>
          <a:noFill/>
          <a:ln/>
        </p:spPr>
        <p:txBody>
          <a:bodyPr wrap="square" lIns="0" tIns="0" rIns="0" bIns="0" rtlCol="0" anchor="t"/>
          <a:lstStyle/>
          <a:p>
            <a:pPr indent="0" marL="0">
              <a:buNone/>
            </a:pPr>
            <a:r>
              <a:rPr lang="en-US" sz="1100" i="1" dirty="0">
                <a:solidFill>
                  <a:srgbClr val="A9C2A8"/>
                </a:solidFill>
                <a:latin typeface="Calibri" pitchFamily="34" charset="0"/>
                <a:ea typeface="Calibri" pitchFamily="34" charset="-122"/>
                <a:cs typeface="Calibri" pitchFamily="34" charset="-120"/>
              </a:rPr>
              <a:t>Pre-seed · $250,000 · Terms open to discussion (SAFE or priced)</a:t>
            </a:r>
            <a:endParaRPr lang="en-US" sz="1100" dirty="0"/>
          </a:p>
        </p:txBody>
      </p:sp>
      <p:sp>
        <p:nvSpPr>
          <p:cNvPr id="20"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1"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18 / 18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problem statement, solution &amp; product, traction &amp; metrics, market opportunity, business model, competitive landscape, team, use of funds</dc:subject>
  <dc:creator>James Chambers</dc:creator>
  <cp:lastModifiedBy>James Chambers</cp:lastModifiedBy>
  <cp:revision>1</cp:revision>
  <dcterms:created xsi:type="dcterms:W3CDTF">2026-09-26T22:04:57Z</dcterms:created>
  <dcterms:modified xsi:type="dcterms:W3CDTF">2026-09-26T22:04:57Z</dcterms:modified>
</cp:coreProperties>
</file>